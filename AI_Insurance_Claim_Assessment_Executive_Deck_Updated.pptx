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 files: Claim Agent.py, training.py, inference.py, api.py and schemas.py.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 Agent.py: end-to-end orchestration.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EDA_Capstone.py and dataset analysis: row counts and preprocessing findings.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training.py: TF-IDF character n-grams, Logistic Regression and GroupShuffleSplit.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inference.py and Claims Prototype with Intelligence Engine completed.py: cosine retrieval and peer benchmark.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inference.py: classifier, retrieval, agreement, benchmark and risk outputs.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 Agent.py and Claims Single agent.py: conditional orchestration.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Claim Agent.py: Ollama explanation layer and fallback.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training.py, inference.py, api.py, schemas.py and TEST_RESULTS.txt.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EDA_Capstone.py: duplicate records, target selection and class imbalance findings.
- Claim Agent.py and OCR dashboard implementation: extraction and routing limitations.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 implementation across training.py, inference.py, Claim Agent.py, api.py and Streamlit dashboard.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Future scope items are recommended enhancements and are not presented as current production capabilities.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C93"/>
                </a:solidFill>
              </a:rPr>
              <a:t>AI-Powered Insurance Claim Assessment System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601200" y="65288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C93"/>
                </a:solidFill>
              </a:rPr>
              <a:t>Capstone | AI &amp; Data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28816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28816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73B64"/>
          </a:solidFill>
          <a:ln w="12700">
            <a:solidFill>
              <a:srgbClr val="173B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960120" cy="1"/>
          </a:xfrm>
          <a:prstGeom prst="line">
            <a:avLst/>
          </a:prstGeom>
          <a:noFill/>
          <a:ln w="635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170432"/>
            <a:ext cx="6492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AI-Powered Insurance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Claim Assessment System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2926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6E3EF"/>
                </a:solidFill>
              </a:rPr>
              <a:t>Explainable AI • Retrieval Intelligence • Agentic Automation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3767328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173B64"/>
          </a:solidFill>
          <a:ln w="12700">
            <a:solidFill>
              <a:srgbClr val="173B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3813048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E5D8"/>
                </a:solidFill>
              </a:rPr>
              <a:t>COVERAGE AI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59152" y="3767328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173B64"/>
          </a:solidFill>
          <a:ln w="12700">
            <a:solidFill>
              <a:srgbClr val="173B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14016" y="3813048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EE8F4"/>
                </a:solidFill>
              </a:rPr>
              <a:t>SIMILAR CLAIMS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24528" y="3767328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173B64"/>
          </a:solidFill>
          <a:ln w="12700">
            <a:solidFill>
              <a:srgbClr val="173B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9392" y="3813048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C9FF"/>
                </a:solidFill>
              </a:rPr>
              <a:t>HUMAN-IN-LOOP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48920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E5D8"/>
                </a:solidFill>
              </a:rPr>
              <a:t>AI &amp; Data Post-Joining Capstone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52669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Presented by Satyajit Das &amp; Team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458200" y="1965960"/>
            <a:ext cx="2697480" cy="2697480"/>
          </a:xfrm>
          <a:prstGeom prst="roundRect">
            <a:avLst>
              <a:gd name="adj" fmla="val 4746"/>
            </a:avLst>
          </a:prstGeom>
          <a:solidFill>
            <a:srgbClr val="0D1F35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23960" y="242316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CLAIM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→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INTELLIGENCE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→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DECISION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Claims assessment is manual, fragmented and difficult to scale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24712"/>
            <a:ext cx="10972800" cy="1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44752"/>
            <a:ext cx="34015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444752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59105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Manual review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59536" y="1947672"/>
            <a:ext cx="305409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High effort and repeated lookup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438144" y="16184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53128" y="1444752"/>
            <a:ext cx="34015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11" name="Shape 9"/>
          <p:cNvSpPr/>
          <p:nvPr/>
        </p:nvSpPr>
        <p:spPr>
          <a:xfrm>
            <a:off x="4453128" y="1444752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159105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Inconsistent coverage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54296" y="1947672"/>
            <a:ext cx="305409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Reviewer outcomes can vary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7232904" y="16184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47888" y="1444752"/>
            <a:ext cx="34015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16" name="Shape 14"/>
          <p:cNvSpPr/>
          <p:nvPr/>
        </p:nvSpPr>
        <p:spPr>
          <a:xfrm>
            <a:off x="8247888" y="1444752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49056" y="159105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Limited historical context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49056" y="1947672"/>
            <a:ext cx="305409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Similar cases are hard to surface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11027664" y="16184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" y="3072384"/>
            <a:ext cx="34015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21" name="Shape 19"/>
          <p:cNvSpPr/>
          <p:nvPr/>
        </p:nvSpPr>
        <p:spPr>
          <a:xfrm>
            <a:off x="658368" y="3072384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321868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Weak explainability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59536" y="3575304"/>
            <a:ext cx="305409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Technical signals are not review-ready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3438144" y="324612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04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53128" y="3072384"/>
            <a:ext cx="34015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26" name="Shape 24"/>
          <p:cNvSpPr/>
          <p:nvPr/>
        </p:nvSpPr>
        <p:spPr>
          <a:xfrm>
            <a:off x="4453128" y="3072384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54296" y="321868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Slow routing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54296" y="3575304"/>
            <a:ext cx="305409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Priority cases can wait in queues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7232904" y="324612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05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0456" y="3072384"/>
            <a:ext cx="3401568" cy="1234440"/>
          </a:xfrm>
          <a:prstGeom prst="roundRect">
            <a:avLst>
              <a:gd name="adj" fmla="val 5926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  <a:effectLst> </a:effectLst>
        </p:spPr>
      </p:sp>
      <p:sp>
        <p:nvSpPr>
          <p:cNvPr id="31" name="Text 29"/>
          <p:cNvSpPr/>
          <p:nvPr/>
        </p:nvSpPr>
        <p:spPr>
          <a:xfrm>
            <a:off x="8549640" y="33467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E5D8"/>
                </a:solidFill>
              </a:rPr>
              <a:t>CORE BOTTLENECK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49640" y="3703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Operationalizing intelligence at the point of review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143000" y="5961888"/>
            <a:ext cx="9893808" cy="347472"/>
          </a:xfrm>
          <a:prstGeom prst="roundRect">
            <a:avLst>
              <a:gd name="adj" fmla="val 2105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53312" y="6053328"/>
            <a:ext cx="9464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The opportunity is to convert existing data into consistent, explainable assessor support.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28816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</a:rPr>
              <a:t>BUSINESS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Operational friction compounds across effort, speed and decision quality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24712"/>
            <a:ext cx="10972800" cy="1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6" name="Shape 4"/>
          <p:cNvSpPr/>
          <p:nvPr/>
        </p:nvSpPr>
        <p:spPr>
          <a:xfrm>
            <a:off x="777240" y="150876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655064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Manual intake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78408" y="2011680"/>
            <a:ext cx="198424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Documents and text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209544" y="1901952"/>
            <a:ext cx="256032" cy="301752"/>
          </a:xfrm>
          <a:prstGeom prst="chevron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150876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11" name="Shape 9"/>
          <p:cNvSpPr/>
          <p:nvPr/>
        </p:nvSpPr>
        <p:spPr>
          <a:xfrm>
            <a:off x="3611880" y="1508760"/>
            <a:ext cx="73152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13048" y="1655064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Repeated lookup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813048" y="2011680"/>
            <a:ext cx="198424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Historical search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044184" y="1901952"/>
            <a:ext cx="256032" cy="301752"/>
          </a:xfrm>
          <a:prstGeom prst="chevron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50876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16" name="Shape 14"/>
          <p:cNvSpPr/>
          <p:nvPr/>
        </p:nvSpPr>
        <p:spPr>
          <a:xfrm>
            <a:off x="6446520" y="1508760"/>
            <a:ext cx="73152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1655064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Subjective decision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47688" y="2011680"/>
            <a:ext cx="198424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Coverage and severity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878824" y="1901952"/>
            <a:ext cx="256032" cy="301752"/>
          </a:xfrm>
          <a:prstGeom prst="chevron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1160" y="150876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21" name="Shape 19"/>
          <p:cNvSpPr/>
          <p:nvPr/>
        </p:nvSpPr>
        <p:spPr>
          <a:xfrm>
            <a:off x="9281160" y="150876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82328" y="1655064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Queue delay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482328" y="2011680"/>
            <a:ext cx="198424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Routing and escalation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77240" y="333756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EEF5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36027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43E"/>
                </a:solidFill>
              </a:rPr>
              <a:t>Higher review effort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409651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More checks and rework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11880" y="333756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EAF6F4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76472" y="36027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43E"/>
                </a:solidFill>
              </a:rPr>
              <a:t>Longer cycle time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794760" y="409651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Claims remain in queues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46520" y="333756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2ED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1112" y="36027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43E"/>
                </a:solidFill>
              </a:rPr>
              <a:t>Decision variance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29400" y="409651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Inconsistent review outcomes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281160" y="333756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5E8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45752" y="36027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43E"/>
                </a:solidFill>
              </a:rPr>
              <a:t>Lower productivity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464040" y="409651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Less focus on complex cases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143000" y="5961888"/>
            <a:ext cx="9893808" cy="347472"/>
          </a:xfrm>
          <a:prstGeom prst="roundRect">
            <a:avLst>
              <a:gd name="adj" fmla="val 2105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53312" y="6053328"/>
            <a:ext cx="9464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Business need: faster decisions with consistent evidence and clear reasons.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28816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</a:rPr>
              <a:t>PROJECT OBJECTIVE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One platform augments assessors across the complete claim journey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24712"/>
            <a:ext cx="10972800" cy="1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44752"/>
            <a:ext cx="34015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6" name="Shape 4"/>
          <p:cNvSpPr/>
          <p:nvPr/>
        </p:nvSpPr>
        <p:spPr>
          <a:xfrm>
            <a:off x="685800" y="1444752"/>
            <a:ext cx="73152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9105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Predict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86968" y="1947672"/>
            <a:ext cx="305409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Coverage classification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489704" y="1444752"/>
            <a:ext cx="34015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10" name="Shape 8"/>
          <p:cNvSpPr/>
          <p:nvPr/>
        </p:nvSpPr>
        <p:spPr>
          <a:xfrm>
            <a:off x="4489704" y="1444752"/>
            <a:ext cx="73152" cy="137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59105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Retrieve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90872" y="1947672"/>
            <a:ext cx="305409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Similar historical claims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293608" y="1444752"/>
            <a:ext cx="34015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14" name="Shape 12"/>
          <p:cNvSpPr/>
          <p:nvPr/>
        </p:nvSpPr>
        <p:spPr>
          <a:xfrm>
            <a:off x="8293608" y="1444752"/>
            <a:ext cx="73152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94776" y="159105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Benchmark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94776" y="1947672"/>
            <a:ext cx="305409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Amount vs historical peers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85800" y="3273552"/>
            <a:ext cx="34015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18" name="Shape 16"/>
          <p:cNvSpPr/>
          <p:nvPr/>
        </p:nvSpPr>
        <p:spPr>
          <a:xfrm>
            <a:off x="685800" y="3273552"/>
            <a:ext cx="73152" cy="1371600"/>
          </a:xfrm>
          <a:prstGeom prst="rect">
            <a:avLst/>
          </a:prstGeom>
          <a:solidFill>
            <a:srgbClr val="16B6C8"/>
          </a:solidFill>
          <a:ln w="12700">
            <a:solidFill>
              <a:srgbClr val="16B6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41985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Explain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86968" y="3776472"/>
            <a:ext cx="305409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Plain-language reasons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4489704" y="3273552"/>
            <a:ext cx="34015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22" name="Shape 20"/>
          <p:cNvSpPr/>
          <p:nvPr/>
        </p:nvSpPr>
        <p:spPr>
          <a:xfrm>
            <a:off x="4489704" y="3273552"/>
            <a:ext cx="73152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341985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Prioritize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690872" y="3776472"/>
            <a:ext cx="305409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Review priority score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293608" y="3273552"/>
            <a:ext cx="34015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26" name="Shape 24"/>
          <p:cNvSpPr/>
          <p:nvPr/>
        </p:nvSpPr>
        <p:spPr>
          <a:xfrm>
            <a:off x="8293608" y="3273552"/>
            <a:ext cx="73152" cy="1371600"/>
          </a:xfrm>
          <a:prstGeom prst="rect">
            <a:avLst/>
          </a:prstGeom>
          <a:solidFill>
            <a:srgbClr val="16A373"/>
          </a:solidFill>
          <a:ln w="12700">
            <a:solidFill>
              <a:srgbClr val="16A3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94776" y="341985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Route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494776" y="3776472"/>
            <a:ext cx="305409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Proceed or human review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1143000" y="5961888"/>
            <a:ext cx="9893808" cy="347472"/>
          </a:xfrm>
          <a:prstGeom prst="roundRect">
            <a:avLst>
              <a:gd name="adj" fmla="val 2105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53312" y="6053328"/>
            <a:ext cx="9464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Design principle: augment assessors, preserve human accountability.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28816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</a:rPr>
              <a:t>END-TO-END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The solution converts claim documents into explainable review decisions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24712"/>
            <a:ext cx="10972800" cy="1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874520"/>
            <a:ext cx="1439527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 </a:effectLst>
        </p:spPr>
      </p:sp>
      <p:sp>
        <p:nvSpPr>
          <p:cNvPr id="6" name="Shape 4"/>
          <p:cNvSpPr/>
          <p:nvPr/>
        </p:nvSpPr>
        <p:spPr>
          <a:xfrm>
            <a:off x="704088" y="203911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12140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4088" y="2505456"/>
            <a:ext cx="1165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</a:rPr>
              <a:t>Claim intake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2788920"/>
            <a:ext cx="116520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Text or PDF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015599" y="2322576"/>
            <a:ext cx="146304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71047" y="1874520"/>
            <a:ext cx="1439527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 </a:effectLst>
        </p:spPr>
      </p:sp>
      <p:sp>
        <p:nvSpPr>
          <p:cNvPr id="12" name="Shape 10"/>
          <p:cNvSpPr/>
          <p:nvPr/>
        </p:nvSpPr>
        <p:spPr>
          <a:xfrm>
            <a:off x="2308207" y="2039112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08207" y="212140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08207" y="2505456"/>
            <a:ext cx="1165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</a:rPr>
              <a:t>OCR / extract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08207" y="2788920"/>
            <a:ext cx="116520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Editable text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619718" y="2322576"/>
            <a:ext cx="146304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75166" y="1874520"/>
            <a:ext cx="1439527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 </a:effectLst>
        </p:spPr>
      </p:sp>
      <p:sp>
        <p:nvSpPr>
          <p:cNvPr id="18" name="Shape 16"/>
          <p:cNvSpPr/>
          <p:nvPr/>
        </p:nvSpPr>
        <p:spPr>
          <a:xfrm>
            <a:off x="3912326" y="2039112"/>
            <a:ext cx="384048" cy="384048"/>
          </a:xfrm>
          <a:prstGeom prst="ellipse">
            <a:avLst/>
          </a:prstGeom>
          <a:solidFill>
            <a:srgbClr val="16B6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12326" y="212140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12326" y="2505456"/>
            <a:ext cx="1165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</a:rPr>
              <a:t>Coverage model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912326" y="2788920"/>
            <a:ext cx="116520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TF-IDF + LR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5223837" y="2322576"/>
            <a:ext cx="146304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9285" y="1874520"/>
            <a:ext cx="1439527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 </a:effectLst>
        </p:spPr>
      </p:sp>
      <p:sp>
        <p:nvSpPr>
          <p:cNvPr id="24" name="Shape 22"/>
          <p:cNvSpPr/>
          <p:nvPr/>
        </p:nvSpPr>
        <p:spPr>
          <a:xfrm>
            <a:off x="5516445" y="203911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6445" y="212140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6445" y="2505456"/>
            <a:ext cx="1165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</a:rPr>
              <a:t>Retrieve peers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516445" y="2788920"/>
            <a:ext cx="116520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Cosine similarity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827955" y="2322576"/>
            <a:ext cx="146304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83403" y="1874520"/>
            <a:ext cx="1439527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 </a:effectLst>
        </p:spPr>
      </p:sp>
      <p:sp>
        <p:nvSpPr>
          <p:cNvPr id="30" name="Shape 28"/>
          <p:cNvSpPr/>
          <p:nvPr/>
        </p:nvSpPr>
        <p:spPr>
          <a:xfrm>
            <a:off x="7120563" y="203911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20563" y="212140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20563" y="2505456"/>
            <a:ext cx="1165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</a:rPr>
              <a:t>Claim intelligence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120563" y="2788920"/>
            <a:ext cx="116520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Agreement + benchmark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8432074" y="2322576"/>
            <a:ext cx="146304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87522" y="1874520"/>
            <a:ext cx="1439527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 </a:effectLst>
        </p:spPr>
      </p:sp>
      <p:sp>
        <p:nvSpPr>
          <p:cNvPr id="36" name="Shape 34"/>
          <p:cNvSpPr/>
          <p:nvPr/>
        </p:nvSpPr>
        <p:spPr>
          <a:xfrm>
            <a:off x="8724682" y="2039112"/>
            <a:ext cx="384048" cy="384048"/>
          </a:xfrm>
          <a:prstGeom prst="ellipse">
            <a:avLst/>
          </a:prstGeom>
          <a:solidFill>
            <a:srgbClr val="16A3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24682" y="212140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724682" y="2505456"/>
            <a:ext cx="1165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</a:rPr>
              <a:t>Risk &amp; route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724682" y="2788920"/>
            <a:ext cx="116520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Priority decision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10036193" y="2322576"/>
            <a:ext cx="146304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91641" y="1874520"/>
            <a:ext cx="1439527" cy="1207008"/>
          </a:xfrm>
          <a:prstGeom prst="roundRect">
            <a:avLst>
              <a:gd name="adj" fmla="val 530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  <a:effectLst> </a:effectLst>
        </p:spPr>
      </p:sp>
      <p:sp>
        <p:nvSpPr>
          <p:cNvPr id="42" name="Shape 40"/>
          <p:cNvSpPr/>
          <p:nvPr/>
        </p:nvSpPr>
        <p:spPr>
          <a:xfrm>
            <a:off x="10328801" y="2039112"/>
            <a:ext cx="384048" cy="384048"/>
          </a:xfrm>
          <a:prstGeom prst="ellipse">
            <a:avLst/>
          </a:prstGeom>
          <a:solidFill>
            <a:srgbClr val="173B6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28801" y="212140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328801" y="2505456"/>
            <a:ext cx="1165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Human reviewer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0328801" y="2788920"/>
            <a:ext cx="116520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DCE7F2"/>
                </a:solidFill>
              </a:rPr>
              <a:t>Final accountability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1005840" y="3977640"/>
            <a:ext cx="10195560" cy="932688"/>
          </a:xfrm>
          <a:prstGeom prst="roundRect">
            <a:avLst>
              <a:gd name="adj" fmla="val 784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0" y="427939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Deterministic intelligence drives the decision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080760" y="4160520"/>
            <a:ext cx="1" cy="566928"/>
          </a:xfrm>
          <a:prstGeom prst="line">
            <a:avLst/>
          </a:prstGeom>
          <a:noFill/>
          <a:ln w="19050">
            <a:solidFill>
              <a:srgbClr val="4B6A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42793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E5D8"/>
                </a:solidFill>
              </a:rPr>
              <a:t>Generative AI translates the decision into plain language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1143000" y="5961888"/>
            <a:ext cx="9893808" cy="347472"/>
          </a:xfrm>
          <a:prstGeom prst="roundRect">
            <a:avLst>
              <a:gd name="adj" fmla="val 2105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53312" y="6053328"/>
            <a:ext cx="9464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A single workflow links intake, intelligence, prioritization and human review.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28816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</a:rPr>
              <a:t>DATASETS &amp; EDA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Two complementary datasets separate claim intelligence from portfolio context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24712"/>
            <a:ext cx="10972800" cy="1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89888"/>
            <a:ext cx="53949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6" name="Shape 4"/>
          <p:cNvSpPr/>
          <p:nvPr/>
        </p:nvSpPr>
        <p:spPr>
          <a:xfrm>
            <a:off x="685800" y="1389888"/>
            <a:ext cx="73152" cy="3611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36192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CLAIMLEVEL.csv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86968" y="1892808"/>
            <a:ext cx="5047488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6,258 raw claim records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Description is the primary NLP field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CoverageCode is the prediction target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834 exact duplicates identified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ClaimNum is not a reliable unique key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Rare classes grouped into Other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291072" y="1389888"/>
            <a:ext cx="52120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10" name="Shape 8"/>
          <p:cNvSpPr/>
          <p:nvPr/>
        </p:nvSpPr>
        <p:spPr>
          <a:xfrm>
            <a:off x="6291072" y="1389888"/>
            <a:ext cx="73152" cy="3611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536192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WiscPropFund.csv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92240" y="1892808"/>
            <a:ext cx="4864608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5,639 policy-year records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Premium and coverage exposure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Claim frequency and historical claim totals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Deductible and policy attributes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Composite key: PolicyNum + Year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Used for executive portfolio analytics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2542032" y="5294376"/>
            <a:ext cx="7114032" cy="384048"/>
          </a:xfrm>
          <a:prstGeom prst="roundRect">
            <a:avLst>
              <a:gd name="adj" fmla="val 19048"/>
            </a:avLst>
          </a:prstGeom>
          <a:solidFill>
            <a:srgbClr val="EAF6F4"/>
          </a:solidFill>
          <a:ln w="12700">
            <a:solidFill>
              <a:srgbClr val="CDE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5394960"/>
            <a:ext cx="6629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</a:rPr>
              <a:t>Claim-level data powers AI | Policy-level data powers business analytics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28816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</a:rPr>
              <a:t>MACHINE LEARNING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A leakage-safe, explainable model provides the coverage baseline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24712"/>
            <a:ext cx="10972800" cy="1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00200"/>
            <a:ext cx="208117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 </a:effectLst>
        </p:spPr>
      </p:sp>
      <p:sp>
        <p:nvSpPr>
          <p:cNvPr id="6" name="Shape 4"/>
          <p:cNvSpPr/>
          <p:nvPr/>
        </p:nvSpPr>
        <p:spPr>
          <a:xfrm>
            <a:off x="704088" y="176479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84708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4088" y="2231136"/>
            <a:ext cx="1806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</a:rPr>
              <a:t>Raw text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2514600"/>
            <a:ext cx="18068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Claim description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657246" y="2048256"/>
            <a:ext cx="146304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12694" y="1600200"/>
            <a:ext cx="208117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 </a:effectLst>
        </p:spPr>
      </p:sp>
      <p:sp>
        <p:nvSpPr>
          <p:cNvPr id="12" name="Shape 10"/>
          <p:cNvSpPr/>
          <p:nvPr/>
        </p:nvSpPr>
        <p:spPr>
          <a:xfrm>
            <a:off x="2949854" y="1764792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9854" y="184708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49854" y="2231136"/>
            <a:ext cx="1806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</a:rPr>
              <a:t>Normalize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49854" y="2514600"/>
            <a:ext cx="18068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Clean compact text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903013" y="2048256"/>
            <a:ext cx="146304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58461" y="1600200"/>
            <a:ext cx="208117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 </a:effectLst>
        </p:spPr>
      </p:sp>
      <p:sp>
        <p:nvSpPr>
          <p:cNvPr id="18" name="Shape 16"/>
          <p:cNvSpPr/>
          <p:nvPr/>
        </p:nvSpPr>
        <p:spPr>
          <a:xfrm>
            <a:off x="5195621" y="1764792"/>
            <a:ext cx="384048" cy="384048"/>
          </a:xfrm>
          <a:prstGeom prst="ellipse">
            <a:avLst/>
          </a:prstGeom>
          <a:solidFill>
            <a:srgbClr val="16B6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95621" y="184708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95621" y="2231136"/>
            <a:ext cx="1806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</a:rPr>
              <a:t>Vectorize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195621" y="2514600"/>
            <a:ext cx="18068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Character n-grams 3–5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148779" y="2048256"/>
            <a:ext cx="146304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04227" y="1600200"/>
            <a:ext cx="2081174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 </a:effectLst>
        </p:spPr>
      </p:sp>
      <p:sp>
        <p:nvSpPr>
          <p:cNvPr id="24" name="Shape 22"/>
          <p:cNvSpPr/>
          <p:nvPr/>
        </p:nvSpPr>
        <p:spPr>
          <a:xfrm>
            <a:off x="7441387" y="176479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41387" y="184708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41387" y="2231136"/>
            <a:ext cx="1806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</a:rPr>
              <a:t>Classify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441387" y="2514600"/>
            <a:ext cx="18068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Balanced Logistic Regression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9394546" y="2048256"/>
            <a:ext cx="146304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49994" y="1600200"/>
            <a:ext cx="2081174" cy="1207008"/>
          </a:xfrm>
          <a:prstGeom prst="roundRect">
            <a:avLst>
              <a:gd name="adj" fmla="val 530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  <a:effectLst> </a:effectLst>
        </p:spPr>
      </p:sp>
      <p:sp>
        <p:nvSpPr>
          <p:cNvPr id="30" name="Shape 28"/>
          <p:cNvSpPr/>
          <p:nvPr/>
        </p:nvSpPr>
        <p:spPr>
          <a:xfrm>
            <a:off x="9687154" y="1764792"/>
            <a:ext cx="384048" cy="384048"/>
          </a:xfrm>
          <a:prstGeom prst="ellipse">
            <a:avLst/>
          </a:prstGeom>
          <a:solidFill>
            <a:srgbClr val="16A3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87154" y="184708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87154" y="2231136"/>
            <a:ext cx="1806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Output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687154" y="2514600"/>
            <a:ext cx="18068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DCE7F2"/>
                </a:solidFill>
              </a:rPr>
              <a:t>Coverage + confidence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777240" y="3364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Leakage-safe validation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85800" y="3675888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36" name="Shape 34"/>
          <p:cNvSpPr/>
          <p:nvPr/>
        </p:nvSpPr>
        <p:spPr>
          <a:xfrm>
            <a:off x="685800" y="3675888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6968" y="382219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GroupShuffleSplit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86968" y="4178808"/>
            <a:ext cx="308152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Records are grouped by Description so identical descriptions do not cross train and test.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4343400" y="3675888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40" name="Shape 38"/>
          <p:cNvSpPr/>
          <p:nvPr/>
        </p:nvSpPr>
        <p:spPr>
          <a:xfrm>
            <a:off x="4343400" y="3675888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44568" y="382219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Class handling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4544568" y="4178808"/>
            <a:ext cx="308152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High-frequency coverage classes are retained; rare categories become Other.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8001000" y="3675888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44" name="Shape 42"/>
          <p:cNvSpPr/>
          <p:nvPr/>
        </p:nvSpPr>
        <p:spPr>
          <a:xfrm>
            <a:off x="8001000" y="3675888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02168" y="382219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Why this model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8202168" y="4178808"/>
            <a:ext cx="308152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Fast to train, interpretable, robust to compact descriptions and suitable as a production baseline.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1143000" y="5961888"/>
            <a:ext cx="9893808" cy="347472"/>
          </a:xfrm>
          <a:prstGeom prst="roundRect">
            <a:avLst>
              <a:gd name="adj" fmla="val 2105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53312" y="6053328"/>
            <a:ext cx="9464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Outcome: transparent coverage prediction designed to generalize to unseen descriptions.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28816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</a:rPr>
              <a:t>RETRIEVAL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Historical retrieval adds evidence that classification alone cannot provide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24712"/>
            <a:ext cx="10972800" cy="1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50876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6" name="Shape 4"/>
          <p:cNvSpPr/>
          <p:nvPr/>
        </p:nvSpPr>
        <p:spPr>
          <a:xfrm>
            <a:off x="566928" y="150876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655064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New claim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68096" y="2011680"/>
            <a:ext cx="161848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Water damage from burst pipe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596896" y="1938528"/>
            <a:ext cx="219456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9504" y="150876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11" name="Shape 9"/>
          <p:cNvSpPr/>
          <p:nvPr/>
        </p:nvSpPr>
        <p:spPr>
          <a:xfrm>
            <a:off x="2889504" y="1508760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1655064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Vectorize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090672" y="2011680"/>
            <a:ext cx="161848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TF-IDF representation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919472" y="1938528"/>
            <a:ext cx="219456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150876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16" name="Shape 14"/>
          <p:cNvSpPr/>
          <p:nvPr/>
        </p:nvSpPr>
        <p:spPr>
          <a:xfrm>
            <a:off x="5212080" y="1508760"/>
            <a:ext cx="73152" cy="1234440"/>
          </a:xfrm>
          <a:prstGeom prst="rect">
            <a:avLst/>
          </a:prstGeom>
          <a:solidFill>
            <a:srgbClr val="16B6C8"/>
          </a:solidFill>
          <a:ln w="12700">
            <a:solidFill>
              <a:srgbClr val="16B6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13248" y="1655064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Compare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13248" y="2011680"/>
            <a:ext cx="161848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Cosine similarity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242048" y="1938528"/>
            <a:ext cx="219456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34656" y="150876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21" name="Shape 19"/>
          <p:cNvSpPr/>
          <p:nvPr/>
        </p:nvSpPr>
        <p:spPr>
          <a:xfrm>
            <a:off x="7534656" y="150876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35824" y="1655064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Rank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35824" y="2011680"/>
            <a:ext cx="161848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Top-K distinct claims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9564624" y="1938528"/>
            <a:ext cx="219456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57232" y="150876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26" name="Shape 24"/>
          <p:cNvSpPr/>
          <p:nvPr/>
        </p:nvSpPr>
        <p:spPr>
          <a:xfrm>
            <a:off x="9857232" y="1508760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0" y="1655064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Recommend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0058400" y="2011680"/>
            <a:ext cx="161848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Coverage vote + benchmark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713232" y="33101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RETRIEVAL OUTPUT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85800" y="3675888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31" name="Shape 29"/>
          <p:cNvSpPr/>
          <p:nvPr/>
        </p:nvSpPr>
        <p:spPr>
          <a:xfrm>
            <a:off x="685800" y="3675888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968" y="382219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Similar claims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86968" y="4178808"/>
            <a:ext cx="207568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Top-K distinct descriptions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3520440" y="3675888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35" name="Shape 33"/>
          <p:cNvSpPr/>
          <p:nvPr/>
        </p:nvSpPr>
        <p:spPr>
          <a:xfrm>
            <a:off x="3520440" y="3675888"/>
            <a:ext cx="73152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21608" y="382219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Coverage vote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3721608" y="4178808"/>
            <a:ext cx="207568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Dominant neighbor category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6355080" y="3675888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39" name="Shape 37"/>
          <p:cNvSpPr/>
          <p:nvPr/>
        </p:nvSpPr>
        <p:spPr>
          <a:xfrm>
            <a:off x="6355080" y="3675888"/>
            <a:ext cx="73152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56248" y="382219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Similarity strength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6556248" y="4178808"/>
            <a:ext cx="207568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Average cosine score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9189720" y="3675888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43" name="Shape 41"/>
          <p:cNvSpPr/>
          <p:nvPr/>
        </p:nvSpPr>
        <p:spPr>
          <a:xfrm>
            <a:off x="9189720" y="3675888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90888" y="382219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Peer benchmark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9390888" y="4178808"/>
            <a:ext cx="207568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Median and average amount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1143000" y="5961888"/>
            <a:ext cx="9893808" cy="347472"/>
          </a:xfrm>
          <a:prstGeom prst="roundRect">
            <a:avLst>
              <a:gd name="adj" fmla="val 2105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53312" y="6053328"/>
            <a:ext cx="9464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Retrieval provides historical context for consistent, data-driven assessment.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28816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</a:rPr>
              <a:t>CLAIM INTELLIGENCE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Multiple signals converge into one transparent assessment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24712"/>
            <a:ext cx="10972800" cy="1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353312"/>
            <a:ext cx="65836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 </a:effectLst>
        </p:spPr>
      </p:sp>
      <p:sp>
        <p:nvSpPr>
          <p:cNvPr id="6" name="Shape 4"/>
          <p:cNvSpPr/>
          <p:nvPr/>
        </p:nvSpPr>
        <p:spPr>
          <a:xfrm>
            <a:off x="932688" y="1481328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563624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63040" y="152704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</a:rPr>
              <a:t>Classifier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527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Coverage + probability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" y="2203704"/>
            <a:ext cx="65836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 </a:effectLst>
        </p:spPr>
      </p:sp>
      <p:sp>
        <p:nvSpPr>
          <p:cNvPr id="11" name="Shape 9"/>
          <p:cNvSpPr/>
          <p:nvPr/>
        </p:nvSpPr>
        <p:spPr>
          <a:xfrm>
            <a:off x="932688" y="2331720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414016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63040" y="237744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</a:rPr>
              <a:t>Retrieval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23774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Historical evidence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9808" y="3054096"/>
            <a:ext cx="65836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 </a:effectLst>
        </p:spPr>
      </p:sp>
      <p:sp>
        <p:nvSpPr>
          <p:cNvPr id="16" name="Shape 14"/>
          <p:cNvSpPr/>
          <p:nvPr/>
        </p:nvSpPr>
        <p:spPr>
          <a:xfrm>
            <a:off x="932688" y="3182112"/>
            <a:ext cx="347472" cy="347472"/>
          </a:xfrm>
          <a:prstGeom prst="ellipse">
            <a:avLst/>
          </a:prstGeom>
          <a:solidFill>
            <a:srgbClr val="16B6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264408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63040" y="322783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</a:rPr>
              <a:t>Recommendation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32278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Classifier + neighbor vote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" y="3904488"/>
            <a:ext cx="65836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 </a:effectLst>
        </p:spPr>
      </p:sp>
      <p:sp>
        <p:nvSpPr>
          <p:cNvPr id="21" name="Shape 19"/>
          <p:cNvSpPr/>
          <p:nvPr/>
        </p:nvSpPr>
        <p:spPr>
          <a:xfrm>
            <a:off x="932688" y="4032504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114800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63040" y="407822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</a:rPr>
              <a:t>Benchmarking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0" y="40782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Amount vs peer median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9808" y="4754880"/>
            <a:ext cx="65836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 </a:effectLst>
        </p:spPr>
      </p:sp>
      <p:sp>
        <p:nvSpPr>
          <p:cNvPr id="26" name="Shape 24"/>
          <p:cNvSpPr/>
          <p:nvPr/>
        </p:nvSpPr>
        <p:spPr>
          <a:xfrm>
            <a:off x="932688" y="4882896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4965192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63040" y="492861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</a:rPr>
              <a:t>Agreement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0400" y="4928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Strong / Medium / Weak / Conflict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589520" y="2743200"/>
            <a:ext cx="594360" cy="594360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58200" y="1536192"/>
            <a:ext cx="2926080" cy="3566160"/>
          </a:xfrm>
          <a:prstGeom prst="roundRect">
            <a:avLst>
              <a:gd name="adj" fmla="val 3125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  <a:effectLst> </a:effectLst>
        </p:spPr>
      </p:sp>
      <p:sp>
        <p:nvSpPr>
          <p:cNvPr id="32" name="Text 30"/>
          <p:cNvSpPr/>
          <p:nvPr/>
        </p:nvSpPr>
        <p:spPr>
          <a:xfrm>
            <a:off x="8796528" y="18745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E5D8"/>
                </a:solidFill>
              </a:rPr>
              <a:t>FINAL CLAIM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8FE5D8"/>
                </a:solidFill>
              </a:rPr>
              <a:t>INTELLIGENCE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887968" y="274320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Recommended coverage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Confidence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Comparable claims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Peer benchmark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Review priority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Recommended action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143000" y="5961888"/>
            <a:ext cx="9893808" cy="347472"/>
          </a:xfrm>
          <a:prstGeom prst="roundRect">
            <a:avLst>
              <a:gd name="adj" fmla="val 2105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53312" y="6053328"/>
            <a:ext cx="9464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The reviewer receives one coherent assessment, not disconnected model outputs.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28816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</a:rPr>
              <a:t>RISK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Review priority turns model signals into an operational routing decision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24712"/>
            <a:ext cx="10972800" cy="1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389888"/>
            <a:ext cx="248716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6" name="Shape 4"/>
          <p:cNvSpPr/>
          <p:nvPr/>
        </p:nvSpPr>
        <p:spPr>
          <a:xfrm>
            <a:off x="676656" y="1389888"/>
            <a:ext cx="73152" cy="14447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3619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Amount anomaly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77824" y="1892808"/>
            <a:ext cx="213969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Claim amount vs predicted-coverage peers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1316736" y="2395728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441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</a:rPr>
              <a:t>40% weight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29584" y="1389888"/>
            <a:ext cx="248716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12" name="Shape 10"/>
          <p:cNvSpPr/>
          <p:nvPr/>
        </p:nvSpPr>
        <p:spPr>
          <a:xfrm>
            <a:off x="3529584" y="1389888"/>
            <a:ext cx="73152" cy="14447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153619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Coverage mismatch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730752" y="1892808"/>
            <a:ext cx="213969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Description vs recorded coverage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169664" y="2395728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4528" y="2441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20% weight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82512" y="1389888"/>
            <a:ext cx="248716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18" name="Shape 16"/>
          <p:cNvSpPr/>
          <p:nvPr/>
        </p:nvSpPr>
        <p:spPr>
          <a:xfrm>
            <a:off x="6382512" y="1389888"/>
            <a:ext cx="73152" cy="1444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53619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Low confidence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83680" y="1892808"/>
            <a:ext cx="213969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Uncertainty in classifier output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022592" y="2395728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77456" y="2441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20% weight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235440" y="1389888"/>
            <a:ext cx="248716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24" name="Shape 22"/>
          <p:cNvSpPr/>
          <p:nvPr/>
        </p:nvSpPr>
        <p:spPr>
          <a:xfrm>
            <a:off x="9235440" y="1389888"/>
            <a:ext cx="73152" cy="14447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36608" y="153619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Signal conflict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436608" y="1892808"/>
            <a:ext cx="213969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Classifier vs retrieval disagreement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9875520" y="2395728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30384" y="2441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20% weight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9808" y="33284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REVIEW PRIORITY SCORE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49808" y="3794760"/>
            <a:ext cx="3063240" cy="475488"/>
          </a:xfrm>
          <a:prstGeom prst="rect">
            <a:avLst/>
          </a:prstGeom>
          <a:solidFill>
            <a:srgbClr val="D8F3E9"/>
          </a:solidFill>
          <a:ln w="12700">
            <a:solidFill>
              <a:srgbClr val="D8F3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13048" y="3794760"/>
            <a:ext cx="3063240" cy="475488"/>
          </a:xfrm>
          <a:prstGeom prst="rect">
            <a:avLst/>
          </a:prstGeom>
          <a:solidFill>
            <a:srgbClr val="FFE9B5"/>
          </a:solidFill>
          <a:ln w="12700">
            <a:solidFill>
              <a:srgbClr val="FFE9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6288" y="3794760"/>
            <a:ext cx="4544568" cy="475488"/>
          </a:xfrm>
          <a:prstGeom prst="rect">
            <a:avLst/>
          </a:prstGeom>
          <a:solidFill>
            <a:srgbClr val="FFD7D7"/>
          </a:solidFill>
          <a:ln w="12700">
            <a:solidFill>
              <a:srgbClr val="FFD7D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72768" y="394106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73"/>
                </a:solidFill>
              </a:rPr>
              <a:t>LOW  0–29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53712" y="394106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MEDIUM  30–59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39328" y="3941064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HIGH  60–100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8096" y="4599432"/>
            <a:ext cx="3401568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9050">
            <a:solidFill>
              <a:srgbClr val="16A37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5256" y="473659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A373"/>
                </a:solidFill>
              </a:rPr>
              <a:t>PROCEED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32688" y="5047488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Standard review workflow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53712" y="4599432"/>
            <a:ext cx="3401568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90872" y="473659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9E0B"/>
                </a:solidFill>
              </a:rPr>
              <a:t>REVIEW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4718304" y="5047488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Additional assessor review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339328" y="4599432"/>
            <a:ext cx="3401568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76488" y="473659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C2626"/>
                </a:solidFill>
              </a:rPr>
              <a:t>HIGH-PRIORITY REVIEW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8503920" y="5047488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Priority human investigation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143000" y="5961888"/>
            <a:ext cx="9893808" cy="347472"/>
          </a:xfrm>
          <a:prstGeom prst="roundRect">
            <a:avLst>
              <a:gd name="adj" fmla="val 2105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53312" y="6053328"/>
            <a:ext cx="9464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This score prioritizes human review; it is not a fraud probability or an approval decision.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28816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</a:rPr>
              <a:t>AGENTIC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The agent changes its path based on confidence, extraction quality and risk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24712"/>
            <a:ext cx="10972800" cy="1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17068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 </a:effectLst>
        </p:spPr>
      </p:sp>
      <p:sp>
        <p:nvSpPr>
          <p:cNvPr id="6" name="Shape 4"/>
          <p:cNvSpPr/>
          <p:nvPr/>
        </p:nvSpPr>
        <p:spPr>
          <a:xfrm>
            <a:off x="704088" y="158191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66420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4088" y="2048256"/>
            <a:ext cx="143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</a:rPr>
              <a:t>Intake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2331720"/>
            <a:ext cx="143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Text / document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282952" y="1865376"/>
            <a:ext cx="146304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38400" y="1417320"/>
            <a:ext cx="17068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 </a:effectLst>
        </p:spPr>
      </p:sp>
      <p:sp>
        <p:nvSpPr>
          <p:cNvPr id="12" name="Shape 10"/>
          <p:cNvSpPr/>
          <p:nvPr/>
        </p:nvSpPr>
        <p:spPr>
          <a:xfrm>
            <a:off x="2575560" y="1581912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5560" y="166420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75560" y="2048256"/>
            <a:ext cx="143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</a:rPr>
              <a:t>Classify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575560" y="2331720"/>
            <a:ext cx="143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Coverage + confidence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154424" y="1865376"/>
            <a:ext cx="146304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09872" y="1417320"/>
            <a:ext cx="17068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 </a:effectLst>
        </p:spPr>
      </p:sp>
      <p:sp>
        <p:nvSpPr>
          <p:cNvPr id="18" name="Shape 16"/>
          <p:cNvSpPr/>
          <p:nvPr/>
        </p:nvSpPr>
        <p:spPr>
          <a:xfrm>
            <a:off x="4447032" y="158191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47032" y="166420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47032" y="2048256"/>
            <a:ext cx="143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</a:rPr>
              <a:t>Branch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47032" y="2331720"/>
            <a:ext cx="143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Confidence gate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025896" y="1865376"/>
            <a:ext cx="146304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1417320"/>
            <a:ext cx="17068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 </a:effectLst>
        </p:spPr>
      </p:sp>
      <p:sp>
        <p:nvSpPr>
          <p:cNvPr id="24" name="Shape 22"/>
          <p:cNvSpPr/>
          <p:nvPr/>
        </p:nvSpPr>
        <p:spPr>
          <a:xfrm>
            <a:off x="6318504" y="1581912"/>
            <a:ext cx="384048" cy="384048"/>
          </a:xfrm>
          <a:prstGeom prst="ellipse">
            <a:avLst/>
          </a:prstGeom>
          <a:solidFill>
            <a:srgbClr val="16B6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18504" y="166420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18504" y="2048256"/>
            <a:ext cx="143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</a:rPr>
              <a:t>Retrieve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18504" y="2331720"/>
            <a:ext cx="143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Conditional context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897368" y="1865376"/>
            <a:ext cx="146304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52816" y="1417320"/>
            <a:ext cx="17068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 </a:effectLst>
        </p:spPr>
      </p:sp>
      <p:sp>
        <p:nvSpPr>
          <p:cNvPr id="30" name="Shape 28"/>
          <p:cNvSpPr/>
          <p:nvPr/>
        </p:nvSpPr>
        <p:spPr>
          <a:xfrm>
            <a:off x="8189976" y="158191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9976" y="166420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89976" y="2048256"/>
            <a:ext cx="143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</a:rPr>
              <a:t>Validate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189976" y="2331720"/>
            <a:ext cx="143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Coverage + amount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9768840" y="1865376"/>
            <a:ext cx="146304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24288" y="1417320"/>
            <a:ext cx="1706880" cy="1207008"/>
          </a:xfrm>
          <a:prstGeom prst="roundRect">
            <a:avLst>
              <a:gd name="adj" fmla="val 530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  <a:effectLst> </a:effectLst>
        </p:spPr>
      </p:sp>
      <p:sp>
        <p:nvSpPr>
          <p:cNvPr id="36" name="Shape 34"/>
          <p:cNvSpPr/>
          <p:nvPr/>
        </p:nvSpPr>
        <p:spPr>
          <a:xfrm>
            <a:off x="10061448" y="1581912"/>
            <a:ext cx="384048" cy="384048"/>
          </a:xfrm>
          <a:prstGeom prst="ellipse">
            <a:avLst/>
          </a:prstGeom>
          <a:solidFill>
            <a:srgbClr val="16A3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61448" y="166420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61448" y="2048256"/>
            <a:ext cx="143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Route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061448" y="2331720"/>
            <a:ext cx="143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DCE7F2"/>
                </a:solidFill>
              </a:rPr>
              <a:t>Proceed / review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749808" y="32461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CONDITIONAL DECISION RULES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85800" y="3621024"/>
            <a:ext cx="34290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42" name="Shape 40"/>
          <p:cNvSpPr/>
          <p:nvPr/>
        </p:nvSpPr>
        <p:spPr>
          <a:xfrm>
            <a:off x="685800" y="3621024"/>
            <a:ext cx="73152" cy="1261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6968" y="376732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Low classifier confidence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886968" y="4123944"/>
            <a:ext cx="308152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Call retrieval to gather historical context before routing.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4370832" y="3621024"/>
            <a:ext cx="34290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46" name="Shape 44"/>
          <p:cNvSpPr/>
          <p:nvPr/>
        </p:nvSpPr>
        <p:spPr>
          <a:xfrm>
            <a:off x="4370832" y="3621024"/>
            <a:ext cx="73152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376732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Poor extraction quality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4572000" y="4123944"/>
            <a:ext cx="308152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Stop early and request a clearer document or corrected text.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8055864" y="3621024"/>
            <a:ext cx="34290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50" name="Shape 48"/>
          <p:cNvSpPr/>
          <p:nvPr/>
        </p:nvSpPr>
        <p:spPr>
          <a:xfrm>
            <a:off x="8055864" y="3621024"/>
            <a:ext cx="73152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57032" y="376732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High review priority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8257032" y="4123944"/>
            <a:ext cx="308152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Route to a human reviewer with transparent contributing reasons.</a:t>
            </a:r>
            <a:endParaRPr lang="en-US" sz="1080" dirty="0"/>
          </a:p>
        </p:txBody>
      </p:sp>
      <p:sp>
        <p:nvSpPr>
          <p:cNvPr id="53" name="Shape 51"/>
          <p:cNvSpPr/>
          <p:nvPr/>
        </p:nvSpPr>
        <p:spPr>
          <a:xfrm>
            <a:off x="1143000" y="5961888"/>
            <a:ext cx="9893808" cy="347472"/>
          </a:xfrm>
          <a:prstGeom prst="roundRect">
            <a:avLst>
              <a:gd name="adj" fmla="val 2105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53312" y="6053328"/>
            <a:ext cx="9464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Why agentic: control flow adapts to state rather than executing a fixed one-way pipeline.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28816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</a:rPr>
              <a:t>GENERATIVE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Generative AI translates technical evidence without controlling decisions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24712"/>
            <a:ext cx="10972800" cy="1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08760"/>
            <a:ext cx="2971800" cy="3310128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6" name="Shape 4"/>
          <p:cNvSpPr/>
          <p:nvPr/>
        </p:nvSpPr>
        <p:spPr>
          <a:xfrm>
            <a:off x="713232" y="1508760"/>
            <a:ext cx="73152" cy="3310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55064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Deterministic inputs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2624328" cy="2688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Amount anomaly z-score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Coverage mismatch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Classifier confidence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Review priority score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977640" y="2697480"/>
            <a:ext cx="731520" cy="658368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83480" y="2011680"/>
            <a:ext cx="1965960" cy="1965960"/>
          </a:xfrm>
          <a:prstGeom prst="ellipse">
            <a:avLst/>
          </a:prstGeom>
          <a:solidFill>
            <a:srgbClr val="EAF6F4"/>
          </a:solidFill>
          <a:ln w="25400">
            <a:solidFill>
              <a:srgbClr val="0F766E"/>
            </a:solidFill>
            <a:prstDash val="solid"/>
          </a:ln>
          <a:effectLst> </a:effectLst>
        </p:spPr>
      </p:sp>
      <p:sp>
        <p:nvSpPr>
          <p:cNvPr id="11" name="Text 9"/>
          <p:cNvSpPr/>
          <p:nvPr/>
        </p:nvSpPr>
        <p:spPr>
          <a:xfrm>
            <a:off x="5303520" y="2633472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OLLAMA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llama3.2:1b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242048" y="2697480"/>
            <a:ext cx="731520" cy="658368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47888" y="1508760"/>
            <a:ext cx="3218688" cy="331012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14" name="Shape 12"/>
          <p:cNvSpPr/>
          <p:nvPr/>
        </p:nvSpPr>
        <p:spPr>
          <a:xfrm>
            <a:off x="8247888" y="1508760"/>
            <a:ext cx="73152" cy="3310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49056" y="1655064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Reviewer explanation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49056" y="2011680"/>
            <a:ext cx="2871216" cy="2688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“Claim amount significantly exceeds similar historical claims.”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2514600" y="5166360"/>
            <a:ext cx="7150608" cy="438912"/>
          </a:xfrm>
          <a:prstGeom prst="roundRect">
            <a:avLst>
              <a:gd name="adj" fmla="val 16667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5294376"/>
            <a:ext cx="6693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Guardrail: deterministic logic makes decisions; the LLM only explains them.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28816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</a:rPr>
              <a:t>PRODUCTION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Modular production components separate training, inference and consumption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24712"/>
            <a:ext cx="10972800" cy="1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508760"/>
            <a:ext cx="17068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 </a:effectLst>
        </p:spPr>
      </p:sp>
      <p:sp>
        <p:nvSpPr>
          <p:cNvPr id="6" name="Shape 4"/>
          <p:cNvSpPr/>
          <p:nvPr/>
        </p:nvSpPr>
        <p:spPr>
          <a:xfrm>
            <a:off x="704088" y="167335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7556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4088" y="2139696"/>
            <a:ext cx="143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</a:rPr>
              <a:t>training.py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2423160"/>
            <a:ext cx="143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Train + evaluate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282952" y="1956816"/>
            <a:ext cx="146304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38400" y="1508760"/>
            <a:ext cx="17068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 </a:effectLst>
        </p:spPr>
      </p:sp>
      <p:sp>
        <p:nvSpPr>
          <p:cNvPr id="12" name="Shape 10"/>
          <p:cNvSpPr/>
          <p:nvPr/>
        </p:nvSpPr>
        <p:spPr>
          <a:xfrm>
            <a:off x="2575560" y="1673352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5560" y="17556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75560" y="2139696"/>
            <a:ext cx="143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</a:rPr>
              <a:t>Model bundle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575560" y="2423160"/>
            <a:ext cx="143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Versioned artifact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154424" y="1956816"/>
            <a:ext cx="146304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09872" y="1508760"/>
            <a:ext cx="17068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 </a:effectLst>
        </p:spPr>
      </p:sp>
      <p:sp>
        <p:nvSpPr>
          <p:cNvPr id="18" name="Shape 16"/>
          <p:cNvSpPr/>
          <p:nvPr/>
        </p:nvSpPr>
        <p:spPr>
          <a:xfrm>
            <a:off x="4447032" y="1673352"/>
            <a:ext cx="384048" cy="384048"/>
          </a:xfrm>
          <a:prstGeom prst="ellipse">
            <a:avLst/>
          </a:prstGeom>
          <a:solidFill>
            <a:srgbClr val="16B6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47032" y="17556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47032" y="2139696"/>
            <a:ext cx="143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</a:rPr>
              <a:t>inference.py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47032" y="2423160"/>
            <a:ext cx="143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Prediction service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025896" y="1956816"/>
            <a:ext cx="146304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1508760"/>
            <a:ext cx="17068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 </a:effectLst>
        </p:spPr>
      </p:sp>
      <p:sp>
        <p:nvSpPr>
          <p:cNvPr id="24" name="Shape 22"/>
          <p:cNvSpPr/>
          <p:nvPr/>
        </p:nvSpPr>
        <p:spPr>
          <a:xfrm>
            <a:off x="6318504" y="167335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18504" y="17556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18504" y="2139696"/>
            <a:ext cx="143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</a:rPr>
              <a:t>FastAPI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18504" y="2423160"/>
            <a:ext cx="143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Validated API layer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897368" y="1956816"/>
            <a:ext cx="146304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52816" y="1508760"/>
            <a:ext cx="17068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 </a:effectLst>
        </p:spPr>
      </p:sp>
      <p:sp>
        <p:nvSpPr>
          <p:cNvPr id="30" name="Shape 28"/>
          <p:cNvSpPr/>
          <p:nvPr/>
        </p:nvSpPr>
        <p:spPr>
          <a:xfrm>
            <a:off x="8189976" y="167335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9976" y="17556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89976" y="2139696"/>
            <a:ext cx="143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</a:rPr>
              <a:t>REST endpoints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189976" y="2423160"/>
            <a:ext cx="143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Four core services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9768840" y="1956816"/>
            <a:ext cx="146304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24288" y="1508760"/>
            <a:ext cx="1706880" cy="1207008"/>
          </a:xfrm>
          <a:prstGeom prst="roundRect">
            <a:avLst>
              <a:gd name="adj" fmla="val 530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  <a:effectLst> </a:effectLst>
        </p:spPr>
      </p:sp>
      <p:sp>
        <p:nvSpPr>
          <p:cNvPr id="36" name="Shape 34"/>
          <p:cNvSpPr/>
          <p:nvPr/>
        </p:nvSpPr>
        <p:spPr>
          <a:xfrm>
            <a:off x="10061448" y="1673352"/>
            <a:ext cx="384048" cy="384048"/>
          </a:xfrm>
          <a:prstGeom prst="ellipse">
            <a:avLst/>
          </a:prstGeom>
          <a:solidFill>
            <a:srgbClr val="16A3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61448" y="17556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61448" y="2139696"/>
            <a:ext cx="143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Streamlit UI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061448" y="2423160"/>
            <a:ext cx="143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DCE7F2"/>
                </a:solidFill>
              </a:rPr>
              <a:t>Reviewer experience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777240" y="32735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API CONTRACTS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49808" y="3675888"/>
            <a:ext cx="2450592" cy="310896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" y="3721608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/predict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566160" y="3675888"/>
            <a:ext cx="2450592" cy="310896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21024" y="3721608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</a:rPr>
              <a:t>/similar-claims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82512" y="3675888"/>
            <a:ext cx="2450592" cy="310896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37376" y="3721608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/risk-score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198864" y="3675888"/>
            <a:ext cx="2450592" cy="310896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53728" y="3721608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/claim-intelligence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49808" y="4315968"/>
            <a:ext cx="32461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50" name="Shape 48"/>
          <p:cNvSpPr/>
          <p:nvPr/>
        </p:nvSpPr>
        <p:spPr>
          <a:xfrm>
            <a:off x="749808" y="4315968"/>
            <a:ext cx="73152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0976" y="4462272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Schemas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950976" y="4818888"/>
            <a:ext cx="289864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Typed request / response contracts</a:t>
            </a:r>
            <a:endParaRPr lang="en-US" sz="1080" dirty="0"/>
          </a:p>
        </p:txBody>
      </p:sp>
      <p:sp>
        <p:nvSpPr>
          <p:cNvPr id="53" name="Shape 51"/>
          <p:cNvSpPr/>
          <p:nvPr/>
        </p:nvSpPr>
        <p:spPr>
          <a:xfrm>
            <a:off x="4270248" y="4315968"/>
            <a:ext cx="32461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54" name="Shape 52"/>
          <p:cNvSpPr/>
          <p:nvPr/>
        </p:nvSpPr>
        <p:spPr>
          <a:xfrm>
            <a:off x="4270248" y="4315968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71416" y="4462272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Error handling</a:t>
            </a:r>
            <a:endParaRPr lang="en-US" sz="1450" dirty="0"/>
          </a:p>
        </p:txBody>
      </p:sp>
      <p:sp>
        <p:nvSpPr>
          <p:cNvPr id="56" name="Text 54"/>
          <p:cNvSpPr/>
          <p:nvPr/>
        </p:nvSpPr>
        <p:spPr>
          <a:xfrm>
            <a:off x="4471416" y="4818888"/>
            <a:ext cx="289864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Validated input and clear API errors</a:t>
            </a:r>
            <a:endParaRPr lang="en-US" sz="1080" dirty="0"/>
          </a:p>
        </p:txBody>
      </p:sp>
      <p:sp>
        <p:nvSpPr>
          <p:cNvPr id="57" name="Shape 55"/>
          <p:cNvSpPr/>
          <p:nvPr/>
        </p:nvSpPr>
        <p:spPr>
          <a:xfrm>
            <a:off x="7790688" y="4315968"/>
            <a:ext cx="32461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58" name="Shape 56"/>
          <p:cNvSpPr/>
          <p:nvPr/>
        </p:nvSpPr>
        <p:spPr>
          <a:xfrm>
            <a:off x="7790688" y="4315968"/>
            <a:ext cx="73152" cy="1024128"/>
          </a:xfrm>
          <a:prstGeom prst="rect">
            <a:avLst/>
          </a:prstGeom>
          <a:solidFill>
            <a:srgbClr val="16A373"/>
          </a:solidFill>
          <a:ln w="12700">
            <a:solidFill>
              <a:srgbClr val="16A37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91856" y="4462272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Automated tests</a:t>
            </a:r>
            <a:endParaRPr lang="en-US" sz="1450" dirty="0"/>
          </a:p>
        </p:txBody>
      </p:sp>
      <p:sp>
        <p:nvSpPr>
          <p:cNvPr id="60" name="Text 58"/>
          <p:cNvSpPr/>
          <p:nvPr/>
        </p:nvSpPr>
        <p:spPr>
          <a:xfrm>
            <a:off x="7991856" y="4818888"/>
            <a:ext cx="289864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10 tests passed in project results</a:t>
            </a:r>
            <a:endParaRPr lang="en-US" sz="1080" dirty="0"/>
          </a:p>
        </p:txBody>
      </p:sp>
      <p:sp>
        <p:nvSpPr>
          <p:cNvPr id="61" name="Shape 59"/>
          <p:cNvSpPr/>
          <p:nvPr/>
        </p:nvSpPr>
        <p:spPr>
          <a:xfrm>
            <a:off x="1143000" y="5961888"/>
            <a:ext cx="9893808" cy="347472"/>
          </a:xfrm>
          <a:prstGeom prst="roundRect">
            <a:avLst>
              <a:gd name="adj" fmla="val 2105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353312" y="6053328"/>
            <a:ext cx="9464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Architecture supports reuse across dashboards, APIs and future cloud deployment.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28816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</a:rPr>
              <a:t>STREAMLIT DASHBOARD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Four focused pages support business insight and live claim assessment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24712"/>
            <a:ext cx="10972800" cy="1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417320"/>
            <a:ext cx="523951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 </a:effectLst>
        </p:spPr>
      </p:sp>
      <p:sp>
        <p:nvSpPr>
          <p:cNvPr id="6" name="Shape 4"/>
          <p:cNvSpPr/>
          <p:nvPr/>
        </p:nvSpPr>
        <p:spPr>
          <a:xfrm>
            <a:off x="950976" y="1737360"/>
            <a:ext cx="566928" cy="5669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87452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46504" y="167335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Executive Overview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46504" y="2167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Premium, exposure, claims and trend KPIs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45936" y="1417320"/>
            <a:ext cx="523951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 </a:effectLst>
        </p:spPr>
      </p:sp>
      <p:sp>
        <p:nvSpPr>
          <p:cNvPr id="11" name="Shape 9"/>
          <p:cNvSpPr/>
          <p:nvPr/>
        </p:nvSpPr>
        <p:spPr>
          <a:xfrm>
            <a:off x="6601968" y="173736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187452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97496" y="167335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Historical Analytics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97496" y="2167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Portfolio distributions and policy drill-down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" y="3474720"/>
            <a:ext cx="523951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 </a:effectLst>
        </p:spPr>
      </p:sp>
      <p:sp>
        <p:nvSpPr>
          <p:cNvPr id="16" name="Shape 14"/>
          <p:cNvSpPr/>
          <p:nvPr/>
        </p:nvSpPr>
        <p:spPr>
          <a:xfrm>
            <a:off x="950976" y="379476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393192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46504" y="373075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AI Claim Assessment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46504" y="42245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OCR upload, prediction, retrieval and benchmark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45936" y="3474720"/>
            <a:ext cx="523951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 </a:effectLst>
        </p:spPr>
      </p:sp>
      <p:sp>
        <p:nvSpPr>
          <p:cNvPr id="21" name="Shape 19"/>
          <p:cNvSpPr/>
          <p:nvPr/>
        </p:nvSpPr>
        <p:spPr>
          <a:xfrm>
            <a:off x="6601968" y="3794760"/>
            <a:ext cx="566928" cy="5669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1968" y="393192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97496" y="373075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Agent Decision Center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97496" y="42245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Transparent workflow trace and routing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23160" y="5596128"/>
            <a:ext cx="7342632" cy="411480"/>
          </a:xfrm>
          <a:prstGeom prst="roundRect">
            <a:avLst>
              <a:gd name="adj" fmla="val 17778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7480" y="5715000"/>
            <a:ext cx="6793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Built for live exploration and assessor interaction — not static reporting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28816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</a:rPr>
              <a:t>CHALLENGES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Key delivery challenges shaped the final solution design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24712"/>
            <a:ext cx="10972800" cy="1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40156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14813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6362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Data quality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86968" y="1920240"/>
            <a:ext cx="305409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Duplicate claims, unreliable ClaimNum and compact descriptions required careful preprocessing.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489704" y="1417320"/>
            <a:ext cx="340156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10" name="Shape 8"/>
          <p:cNvSpPr/>
          <p:nvPr/>
        </p:nvSpPr>
        <p:spPr>
          <a:xfrm>
            <a:off x="4489704" y="1417320"/>
            <a:ext cx="73152" cy="14813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56362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Class imbalance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90872" y="1920240"/>
            <a:ext cx="305409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Rare coverage categories had limited examples and were consolidated into Other.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293608" y="1417320"/>
            <a:ext cx="340156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14" name="Shape 12"/>
          <p:cNvSpPr/>
          <p:nvPr/>
        </p:nvSpPr>
        <p:spPr>
          <a:xfrm>
            <a:off x="8293608" y="1417320"/>
            <a:ext cx="73152" cy="14813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94776" y="156362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Coverage ambiguity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94776" y="1920240"/>
            <a:ext cx="305409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Similar claim language can map to different coverage contexts.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85800" y="3383280"/>
            <a:ext cx="340156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18" name="Shape 16"/>
          <p:cNvSpPr/>
          <p:nvPr/>
        </p:nvSpPr>
        <p:spPr>
          <a:xfrm>
            <a:off x="685800" y="3383280"/>
            <a:ext cx="73152" cy="14813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52958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OCR variability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86968" y="3886200"/>
            <a:ext cx="305409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Digital PDFs extract cleanly; scanned images depend on document quality and OCR availability.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4489704" y="3383280"/>
            <a:ext cx="340156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22" name="Shape 20"/>
          <p:cNvSpPr/>
          <p:nvPr/>
        </p:nvSpPr>
        <p:spPr>
          <a:xfrm>
            <a:off x="4489704" y="3383280"/>
            <a:ext cx="73152" cy="14813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352958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Confidence calibration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690872" y="3886200"/>
            <a:ext cx="305409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A correct class can still carry moderate confidence, requiring contextual validation.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293608" y="3383280"/>
            <a:ext cx="340156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26" name="Shape 24"/>
          <p:cNvSpPr/>
          <p:nvPr/>
        </p:nvSpPr>
        <p:spPr>
          <a:xfrm>
            <a:off x="8293608" y="3383280"/>
            <a:ext cx="73152" cy="1481328"/>
          </a:xfrm>
          <a:prstGeom prst="rect">
            <a:avLst/>
          </a:prstGeom>
          <a:solidFill>
            <a:srgbClr val="16A373"/>
          </a:solidFill>
          <a:ln w="12700">
            <a:solidFill>
              <a:srgbClr val="16A3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94776" y="352958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Integration complexity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494776" y="3886200"/>
            <a:ext cx="305409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Model, retrieval, risk, agent and dashboard outputs had to remain consistent.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1143000" y="5961888"/>
            <a:ext cx="9893808" cy="347472"/>
          </a:xfrm>
          <a:prstGeom prst="roundRect">
            <a:avLst>
              <a:gd name="adj" fmla="val 2105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53312" y="6053328"/>
            <a:ext cx="9464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Design response: combine deterministic checks, historical evidence and human review instead of relying on one model signal.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28816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</a:rPr>
              <a:t>KEY LEARNINGS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The project translated AI concepts into an integrated decision-support product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24712"/>
            <a:ext cx="10972800" cy="1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40156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14813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6362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NLP modeling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86968" y="1920240"/>
            <a:ext cx="305409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Character n-grams are effective for short, compact and inconsistently formatted claim descriptions.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489704" y="1417320"/>
            <a:ext cx="340156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10" name="Shape 8"/>
          <p:cNvSpPr/>
          <p:nvPr/>
        </p:nvSpPr>
        <p:spPr>
          <a:xfrm>
            <a:off x="4489704" y="1417320"/>
            <a:ext cx="73152" cy="14813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56362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Leakage prevention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90872" y="1920240"/>
            <a:ext cx="305409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Grouped splitting is essential when duplicate or repeated descriptions exist.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293608" y="1417320"/>
            <a:ext cx="340156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14" name="Shape 12"/>
          <p:cNvSpPr/>
          <p:nvPr/>
        </p:nvSpPr>
        <p:spPr>
          <a:xfrm>
            <a:off x="8293608" y="1417320"/>
            <a:ext cx="73152" cy="1481328"/>
          </a:xfrm>
          <a:prstGeom prst="rect">
            <a:avLst/>
          </a:prstGeom>
          <a:solidFill>
            <a:srgbClr val="16B6C8"/>
          </a:solidFill>
          <a:ln w="12700">
            <a:solidFill>
              <a:srgbClr val="16B6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94776" y="156362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Retrieval value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94776" y="1920240"/>
            <a:ext cx="305409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Historical neighbors add evidence, benchmarks and reviewer context beyond classification.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85800" y="3383280"/>
            <a:ext cx="340156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18" name="Shape 16"/>
          <p:cNvSpPr/>
          <p:nvPr/>
        </p:nvSpPr>
        <p:spPr>
          <a:xfrm>
            <a:off x="685800" y="3383280"/>
            <a:ext cx="73152" cy="14813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52958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Explainable risk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86968" y="3886200"/>
            <a:ext cx="305409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Weighted signals make routing decisions easier to inspect and communicate.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4489704" y="3383280"/>
            <a:ext cx="340156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22" name="Shape 20"/>
          <p:cNvSpPr/>
          <p:nvPr/>
        </p:nvSpPr>
        <p:spPr>
          <a:xfrm>
            <a:off x="4489704" y="3383280"/>
            <a:ext cx="73152" cy="14813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352958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Agent orchestration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690872" y="3886200"/>
            <a:ext cx="305409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Agentic value comes from conditional control flow, not simply chaining tools.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293608" y="3383280"/>
            <a:ext cx="340156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26" name="Shape 24"/>
          <p:cNvSpPr/>
          <p:nvPr/>
        </p:nvSpPr>
        <p:spPr>
          <a:xfrm>
            <a:off x="8293608" y="3383280"/>
            <a:ext cx="73152" cy="1481328"/>
          </a:xfrm>
          <a:prstGeom prst="rect">
            <a:avLst/>
          </a:prstGeom>
          <a:solidFill>
            <a:srgbClr val="16A373"/>
          </a:solidFill>
          <a:ln w="12700">
            <a:solidFill>
              <a:srgbClr val="16A3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94776" y="352958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Production thinking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494776" y="3886200"/>
            <a:ext cx="305409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Separating training, inference, APIs and UI improves reuse and maintainability.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1143000" y="5961888"/>
            <a:ext cx="9893808" cy="347472"/>
          </a:xfrm>
          <a:prstGeom prst="roundRect">
            <a:avLst>
              <a:gd name="adj" fmla="val 2105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53312" y="6053328"/>
            <a:ext cx="9464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</a:rPr>
              <a:t>Core learning: trustworthy AI needs model quality, contextual evidence, transparent logic and human accountability.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28816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</a:rPr>
              <a:t>FUTURE 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A phased roadmap moves the prototype toward enterprise-scale claim intelligence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124712"/>
            <a:ext cx="10972800" cy="1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3401568" cy="3639312"/>
          </a:xfrm>
          <a:prstGeom prst="roundRect">
            <a:avLst>
              <a:gd name="adj" fmla="val 2688"/>
            </a:avLst>
          </a:prstGeom>
          <a:solidFill>
            <a:srgbClr val="10243E"/>
          </a:solidFill>
          <a:ln w="19050">
            <a:solidFill>
              <a:srgbClr val="0F766E"/>
            </a:solidFill>
            <a:prstDash val="solid"/>
          </a:ln>
          <a:effectLst> </a:effectLst>
        </p:spPr>
      </p:sp>
      <p:sp>
        <p:nvSpPr>
          <p:cNvPr id="6" name="Text 4"/>
          <p:cNvSpPr/>
          <p:nvPr/>
        </p:nvSpPr>
        <p:spPr>
          <a:xfrm>
            <a:off x="960120" y="1847088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E5D8"/>
                </a:solidFill>
              </a:rPr>
              <a:t>NEXT — Improve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542032"/>
            <a:ext cx="26700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Real OCR pipeline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Transformer / BERT embeddings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Confidence calibration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Expanded coverage taxonomy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24528" y="3054096"/>
            <a:ext cx="228600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508760"/>
            <a:ext cx="3401568" cy="3639312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 </a:effectLst>
        </p:spPr>
      </p:sp>
      <p:sp>
        <p:nvSpPr>
          <p:cNvPr id="10" name="Text 8"/>
          <p:cNvSpPr/>
          <p:nvPr/>
        </p:nvSpPr>
        <p:spPr>
          <a:xfrm>
            <a:off x="4754880" y="1847088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THEN — INDUSTRIALIZE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2542032"/>
            <a:ext cx="26700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Cloud-native deployment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Model and data monitoring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Authentication and audit trail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CI/CD and version governance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9288" y="3054096"/>
            <a:ext cx="228600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508760"/>
            <a:ext cx="3401568" cy="3639312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 </a:effectLst>
        </p:spPr>
      </p:sp>
      <p:sp>
        <p:nvSpPr>
          <p:cNvPr id="14" name="Text 12"/>
          <p:cNvSpPr/>
          <p:nvPr/>
        </p:nvSpPr>
        <p:spPr>
          <a:xfrm>
            <a:off x="8549640" y="1847088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SCALE — EXPAND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0" y="2542032"/>
            <a:ext cx="26700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Real-time claim processing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Multi-document assessment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Human feedback loop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Integration with claim platforms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11680" y="5413248"/>
            <a:ext cx="8183880" cy="411480"/>
          </a:xfrm>
          <a:prstGeom prst="roundRect">
            <a:avLst>
              <a:gd name="adj" fmla="val 17778"/>
            </a:avLst>
          </a:prstGeom>
          <a:solidFill>
            <a:srgbClr val="EAF6F4"/>
          </a:solidFill>
          <a:ln w="12700">
            <a:solidFill>
              <a:srgbClr val="CDE8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0280" y="5532120"/>
            <a:ext cx="7726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</a:rPr>
              <a:t>North star: enterprise-ready, explainable claim intelligence with humans at the control point.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28816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LIVE DEMO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9875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EF"/>
                </a:solidFill>
              </a:rPr>
              <a:t>From uploaded claim to explainable routing decision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73352"/>
            <a:ext cx="17068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 </a:effectLst>
        </p:spPr>
      </p:sp>
      <p:sp>
        <p:nvSpPr>
          <p:cNvPr id="5" name="Shape 3"/>
          <p:cNvSpPr/>
          <p:nvPr/>
        </p:nvSpPr>
        <p:spPr>
          <a:xfrm>
            <a:off x="704088" y="183794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920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04088" y="2304288"/>
            <a:ext cx="143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</a:rPr>
              <a:t>Upload PDF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4088" y="2587752"/>
            <a:ext cx="143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Claim form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282952" y="2121408"/>
            <a:ext cx="146304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38400" y="1673352"/>
            <a:ext cx="17068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 </a:effectLst>
        </p:spPr>
      </p:sp>
      <p:sp>
        <p:nvSpPr>
          <p:cNvPr id="11" name="Shape 9"/>
          <p:cNvSpPr/>
          <p:nvPr/>
        </p:nvSpPr>
        <p:spPr>
          <a:xfrm>
            <a:off x="2575560" y="1837944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5560" y="1920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75560" y="2304288"/>
            <a:ext cx="143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</a:rPr>
              <a:t>Extract text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75560" y="2587752"/>
            <a:ext cx="143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PDF / OCR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154424" y="2121408"/>
            <a:ext cx="146304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9872" y="1673352"/>
            <a:ext cx="17068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 </a:effectLst>
        </p:spPr>
      </p:sp>
      <p:sp>
        <p:nvSpPr>
          <p:cNvPr id="17" name="Shape 15"/>
          <p:cNvSpPr/>
          <p:nvPr/>
        </p:nvSpPr>
        <p:spPr>
          <a:xfrm>
            <a:off x="4447032" y="1837944"/>
            <a:ext cx="384048" cy="384048"/>
          </a:xfrm>
          <a:prstGeom prst="ellipse">
            <a:avLst/>
          </a:prstGeom>
          <a:solidFill>
            <a:srgbClr val="16B6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47032" y="1920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47032" y="2304288"/>
            <a:ext cx="143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</a:rPr>
              <a:t>Predict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47032" y="2587752"/>
            <a:ext cx="143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Coverage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025896" y="2121408"/>
            <a:ext cx="146304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81344" y="1673352"/>
            <a:ext cx="17068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 </a:effectLst>
        </p:spPr>
      </p:sp>
      <p:sp>
        <p:nvSpPr>
          <p:cNvPr id="23" name="Shape 21"/>
          <p:cNvSpPr/>
          <p:nvPr/>
        </p:nvSpPr>
        <p:spPr>
          <a:xfrm>
            <a:off x="6318504" y="183794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8504" y="1920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18504" y="2304288"/>
            <a:ext cx="143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</a:rPr>
              <a:t>Retrieve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18504" y="2587752"/>
            <a:ext cx="143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Historical peers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897368" y="2121408"/>
            <a:ext cx="146304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52816" y="1673352"/>
            <a:ext cx="17068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 </a:effectLst>
        </p:spPr>
      </p:sp>
      <p:sp>
        <p:nvSpPr>
          <p:cNvPr id="29" name="Shape 27"/>
          <p:cNvSpPr/>
          <p:nvPr/>
        </p:nvSpPr>
        <p:spPr>
          <a:xfrm>
            <a:off x="8189976" y="183794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9976" y="1920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89976" y="2304288"/>
            <a:ext cx="143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</a:rPr>
              <a:t>Score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189976" y="2587752"/>
            <a:ext cx="143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Review priority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9768840" y="2121408"/>
            <a:ext cx="146304" cy="30175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24288" y="1673352"/>
            <a:ext cx="1706880" cy="1207008"/>
          </a:xfrm>
          <a:prstGeom prst="roundRect">
            <a:avLst>
              <a:gd name="adj" fmla="val 5303"/>
            </a:avLst>
          </a:prstGeom>
          <a:solidFill>
            <a:srgbClr val="10243E"/>
          </a:solidFill>
          <a:ln w="12700">
            <a:solidFill>
              <a:srgbClr val="10243E"/>
            </a:solidFill>
            <a:prstDash val="solid"/>
          </a:ln>
          <a:effectLst> </a:effectLst>
        </p:spPr>
      </p:sp>
      <p:sp>
        <p:nvSpPr>
          <p:cNvPr id="35" name="Shape 33"/>
          <p:cNvSpPr/>
          <p:nvPr/>
        </p:nvSpPr>
        <p:spPr>
          <a:xfrm>
            <a:off x="10061448" y="1837944"/>
            <a:ext cx="384048" cy="384048"/>
          </a:xfrm>
          <a:prstGeom prst="ellipse">
            <a:avLst/>
          </a:prstGeom>
          <a:solidFill>
            <a:srgbClr val="16A3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61448" y="1920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061448" y="2304288"/>
            <a:ext cx="143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Route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061448" y="2587752"/>
            <a:ext cx="143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DCE7F2"/>
                </a:solidFill>
              </a:rPr>
              <a:t>Agent decision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685800" y="3429000"/>
            <a:ext cx="535838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40" name="Shape 38"/>
          <p:cNvSpPr/>
          <p:nvPr/>
        </p:nvSpPr>
        <p:spPr>
          <a:xfrm>
            <a:off x="685800" y="3429000"/>
            <a:ext cx="73152" cy="1170432"/>
          </a:xfrm>
          <a:prstGeom prst="rect">
            <a:avLst/>
          </a:prstGeom>
          <a:solidFill>
            <a:srgbClr val="16A373"/>
          </a:solidFill>
          <a:ln w="12700">
            <a:solidFill>
              <a:srgbClr val="16A37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6968" y="3575304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Low-priority water claim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886968" y="3931920"/>
            <a:ext cx="501091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PDF extraction → VS recommendation → similar claims → PROCEED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6190488" y="3429000"/>
            <a:ext cx="532180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 </a:effectLst>
        </p:spPr>
      </p:sp>
      <p:sp>
        <p:nvSpPr>
          <p:cNvPr id="44" name="Shape 42"/>
          <p:cNvSpPr/>
          <p:nvPr/>
        </p:nvSpPr>
        <p:spPr>
          <a:xfrm>
            <a:off x="6190488" y="3429000"/>
            <a:ext cx="73152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91656" y="3575304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</a:rPr>
              <a:t>High-priority mismatch claim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6391656" y="3931920"/>
            <a:ext cx="49743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$50M amount + water text coded VF → HIGH-PRIORITY REVIEW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1371600" y="5349240"/>
            <a:ext cx="9464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AI-assisted. Explainable. Scalable. Human-controlled.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5102352" y="6053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E5D8"/>
                </a:solidFill>
              </a:rPr>
              <a:t>Q&amp;A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Capstone Team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AI-Powered Insurance Claim Assessment System</dc:title>
  <dc:subject>Executive capstone deck</dc:subject>
  <dc:creator>Das, Satyajit</dc:creator>
  <lastModifiedBy>Das, Satyajit</lastModifiedBy>
  <revision>1</revision>
  <dcterms:created xsi:type="dcterms:W3CDTF">2026-09-20T11:50:08.0411476Z</dcterms:created>
  <dcterms:modified xsi:type="dcterms:W3CDTF">2026-09-20T11:50:08.0411476Z</dcterms:modified>
</coreProperties>
</file>