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4" r:id="rId4"/>
    <p:sldId id="258" r:id="rId5"/>
    <p:sldId id="259" r:id="rId6"/>
    <p:sldId id="260" r:id="rId7"/>
    <p:sldId id="261" r:id="rId8"/>
    <p:sldId id="262" r:id="rId9"/>
    <p:sldId id="263" r:id="rId10"/>
    <p:sldId id="264" r:id="rId11"/>
    <p:sldId id="265" r:id="rId12"/>
    <p:sldId id="266" r:id="rId13"/>
    <p:sldId id="267" r:id="rId14"/>
    <p:sldId id="275" r:id="rId15"/>
    <p:sldId id="276" r:id="rId16"/>
    <p:sldId id="268" r:id="rId17"/>
    <p:sldId id="269" r:id="rId18"/>
    <p:sldId id="270" r:id="rId19"/>
    <p:sldId id="271" r:id="rId20"/>
    <p:sldId id="272"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Claims</c:v>
                </c:pt>
              </c:strCache>
            </c:strRef>
          </c:tx>
          <c:spPr>
            <a:solidFill>
              <a:srgbClr val="2563EB"/>
            </a:solidFill>
            <a:effectLst/>
          </c:spPr>
          <c:invertIfNegative val="0"/>
          <c:dPt>
            <c:idx val="0"/>
            <c:invertIfNegative val="0"/>
            <c:bubble3D val="0"/>
            <c:extLst>
              <c:ext xmlns:c16="http://schemas.microsoft.com/office/drawing/2014/chart" uri="{C3380CC4-5D6E-409C-BE32-E72D297353CC}">
                <c16:uniqueId val="{00000001-53BC-4516-9745-0A63A0328612}"/>
              </c:ext>
            </c:extLst>
          </c:dPt>
          <c:dPt>
            <c:idx val="1"/>
            <c:invertIfNegative val="0"/>
            <c:bubble3D val="0"/>
            <c:extLst>
              <c:ext xmlns:c16="http://schemas.microsoft.com/office/drawing/2014/chart" uri="{C3380CC4-5D6E-409C-BE32-E72D297353CC}">
                <c16:uniqueId val="{00000003-53BC-4516-9745-0A63A0328612}"/>
              </c:ext>
            </c:extLst>
          </c:dPt>
          <c:dPt>
            <c:idx val="2"/>
            <c:invertIfNegative val="0"/>
            <c:bubble3D val="0"/>
            <c:extLst>
              <c:ext xmlns:c16="http://schemas.microsoft.com/office/drawing/2014/chart" uri="{C3380CC4-5D6E-409C-BE32-E72D297353CC}">
                <c16:uniqueId val="{00000005-53BC-4516-9745-0A63A0328612}"/>
              </c:ext>
            </c:extLst>
          </c:dPt>
          <c:dPt>
            <c:idx val="3"/>
            <c:invertIfNegative val="0"/>
            <c:bubble3D val="0"/>
            <c:spPr>
              <a:solidFill>
                <a:srgbClr val="F59E0B"/>
              </a:solidFill>
              <a:effectLst/>
            </c:spPr>
            <c:extLst>
              <c:ext xmlns:c16="http://schemas.microsoft.com/office/drawing/2014/chart" uri="{C3380CC4-5D6E-409C-BE32-E72D297353CC}">
                <c16:uniqueId val="{00000007-53BC-4516-9745-0A63A0328612}"/>
              </c:ext>
            </c:extLst>
          </c:dPt>
          <c:dLbls>
            <c:numFmt formatCode="#,##0" sourceLinked="0"/>
            <c:spPr>
              <a:noFill/>
              <a:ln>
                <a:noFill/>
              </a:ln>
              <a:effectLst/>
            </c:spPr>
            <c:txPr>
              <a:bodyPr/>
              <a:lstStyle/>
              <a:p>
                <a:pPr>
                  <a:defRPr sz="1300" b="0" i="0" u="none" strike="noStrike">
                    <a:solidFill>
                      <a:srgbClr val="1024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VE</c:v>
                </c:pt>
                <c:pt idx="1">
                  <c:v>VS</c:v>
                </c:pt>
                <c:pt idx="2">
                  <c:v>VF</c:v>
                </c:pt>
                <c:pt idx="3">
                  <c:v>10 rare codes</c:v>
                </c:pt>
              </c:strCache>
            </c:strRef>
          </c:cat>
          <c:val>
            <c:numRef>
              <c:f>Sheet1!$B$2:$B$5</c:f>
              <c:numCache>
                <c:formatCode>General</c:formatCode>
                <c:ptCount val="4"/>
                <c:pt idx="0">
                  <c:v>3572</c:v>
                </c:pt>
                <c:pt idx="1">
                  <c:v>1347</c:v>
                </c:pt>
                <c:pt idx="2">
                  <c:v>1294</c:v>
                </c:pt>
                <c:pt idx="3">
                  <c:v>45</c:v>
                </c:pt>
              </c:numCache>
            </c:numRef>
          </c:val>
          <c:extLst>
            <c:ext xmlns:c16="http://schemas.microsoft.com/office/drawing/2014/chart" uri="{C3380CC4-5D6E-409C-BE32-E72D297353CC}">
              <c16:uniqueId val="{00000008-53BC-4516-9745-0A63A032861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0243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c:v>
                </c:pt>
              </c:strCache>
            </c:strRef>
          </c:tx>
          <c:spPr>
            <a:solidFill>
              <a:srgbClr val="2563EB"/>
            </a:solidFill>
            <a:effectLst/>
          </c:spPr>
          <c:invertIfNegative val="0"/>
          <c:dPt>
            <c:idx val="0"/>
            <c:invertIfNegative val="0"/>
            <c:bubble3D val="0"/>
            <c:extLst>
              <c:ext xmlns:c16="http://schemas.microsoft.com/office/drawing/2014/chart" uri="{C3380CC4-5D6E-409C-BE32-E72D297353CC}">
                <c16:uniqueId val="{00000001-4F12-4613-9C3A-712B585889B3}"/>
              </c:ext>
            </c:extLst>
          </c:dPt>
          <c:dPt>
            <c:idx val="1"/>
            <c:invertIfNegative val="0"/>
            <c:bubble3D val="0"/>
            <c:extLst>
              <c:ext xmlns:c16="http://schemas.microsoft.com/office/drawing/2014/chart" uri="{C3380CC4-5D6E-409C-BE32-E72D297353CC}">
                <c16:uniqueId val="{00000003-4F12-4613-9C3A-712B585889B3}"/>
              </c:ext>
            </c:extLst>
          </c:dPt>
          <c:dPt>
            <c:idx val="2"/>
            <c:invertIfNegative val="0"/>
            <c:bubble3D val="0"/>
            <c:extLst>
              <c:ext xmlns:c16="http://schemas.microsoft.com/office/drawing/2014/chart" uri="{C3380CC4-5D6E-409C-BE32-E72D297353CC}">
                <c16:uniqueId val="{00000005-4F12-4613-9C3A-712B585889B3}"/>
              </c:ext>
            </c:extLst>
          </c:dPt>
          <c:dPt>
            <c:idx val="3"/>
            <c:invertIfNegative val="0"/>
            <c:bubble3D val="0"/>
            <c:spPr>
              <a:solidFill>
                <a:srgbClr val="F59E0B"/>
              </a:solidFill>
              <a:effectLst/>
            </c:spPr>
            <c:extLst>
              <c:ext xmlns:c16="http://schemas.microsoft.com/office/drawing/2014/chart" uri="{C3380CC4-5D6E-409C-BE32-E72D297353CC}">
                <c16:uniqueId val="{00000007-4F12-4613-9C3A-712B585889B3}"/>
              </c:ext>
            </c:extLst>
          </c:dPt>
          <c:dLbls>
            <c:numFmt formatCode="0.00" sourceLinked="0"/>
            <c:spPr>
              <a:noFill/>
              <a:ln>
                <a:noFill/>
              </a:ln>
              <a:effectLst/>
            </c:spPr>
            <c:txPr>
              <a:bodyPr/>
              <a:lstStyle/>
              <a:p>
                <a:pPr>
                  <a:defRPr sz="1200" b="0" i="0" u="none" strike="noStrike">
                    <a:solidFill>
                      <a:srgbClr val="1024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VE</c:v>
                </c:pt>
                <c:pt idx="1">
                  <c:v>VF</c:v>
                </c:pt>
                <c:pt idx="2">
                  <c:v>VS</c:v>
                </c:pt>
                <c:pt idx="3">
                  <c:v>Other</c:v>
                </c:pt>
              </c:strCache>
            </c:strRef>
          </c:cat>
          <c:val>
            <c:numRef>
              <c:f>Sheet1!$B$2:$B$5</c:f>
              <c:numCache>
                <c:formatCode>General</c:formatCode>
                <c:ptCount val="4"/>
                <c:pt idx="0">
                  <c:v>0.90300000000000002</c:v>
                </c:pt>
                <c:pt idx="1">
                  <c:v>0.91600000000000004</c:v>
                </c:pt>
                <c:pt idx="2">
                  <c:v>0.72</c:v>
                </c:pt>
                <c:pt idx="3">
                  <c:v>9.5000000000000001E-2</c:v>
                </c:pt>
              </c:numCache>
            </c:numRef>
          </c:val>
          <c:extLst>
            <c:ext xmlns:c16="http://schemas.microsoft.com/office/drawing/2014/chart" uri="{C3380CC4-5D6E-409C-BE32-E72D297353CC}">
              <c16:uniqueId val="{00000008-4F12-4613-9C3A-712B585889B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243E"/>
                </a:solidFill>
                <a:latin typeface="Arial"/>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Routing</c:v>
                </c:pt>
              </c:strCache>
            </c:strRef>
          </c:tx>
          <c:spPr>
            <a:solidFill>
              <a:schemeClr val="accent1"/>
            </a:solidFill>
            <a:ln w="9525" cap="flat">
              <a:solidFill>
                <a:srgbClr val="F9F9F9"/>
              </a:solidFill>
              <a:prstDash val="solid"/>
              <a:round/>
            </a:ln>
            <a:effectLst/>
          </c:spPr>
          <c:dPt>
            <c:idx val="0"/>
            <c:bubble3D val="0"/>
            <c:spPr>
              <a:solidFill>
                <a:srgbClr val="2563EB"/>
              </a:solidFill>
              <a:effectLst/>
            </c:spPr>
            <c:extLst>
              <c:ext xmlns:c16="http://schemas.microsoft.com/office/drawing/2014/chart" uri="{C3380CC4-5D6E-409C-BE32-E72D297353CC}">
                <c16:uniqueId val="{00000001-99D3-4BC1-8D5C-572BF0D32E9A}"/>
              </c:ext>
            </c:extLst>
          </c:dPt>
          <c:dPt>
            <c:idx val="1"/>
            <c:bubble3D val="0"/>
            <c:spPr>
              <a:solidFill>
                <a:srgbClr val="F59E0B"/>
              </a:solidFill>
              <a:effectLst/>
            </c:spPr>
            <c:extLst>
              <c:ext xmlns:c16="http://schemas.microsoft.com/office/drawing/2014/chart" uri="{C3380CC4-5D6E-409C-BE32-E72D297353CC}">
                <c16:uniqueId val="{00000003-99D3-4BC1-8D5C-572BF0D32E9A}"/>
              </c:ext>
            </c:extLst>
          </c:dPt>
          <c:cat>
            <c:strRef>
              <c:f>Sheet1!$A$2:$A$3</c:f>
              <c:strCache>
                <c:ptCount val="2"/>
                <c:pt idx="0">
                  <c:v>Auto-cleared</c:v>
                </c:pt>
                <c:pt idx="1">
                  <c:v>Escalated to human</c:v>
                </c:pt>
              </c:strCache>
            </c:strRef>
          </c:cat>
          <c:val>
            <c:numRef>
              <c:f>Sheet1!$B$2:$B$3</c:f>
              <c:numCache>
                <c:formatCode>General</c:formatCode>
                <c:ptCount val="2"/>
                <c:pt idx="0">
                  <c:v>1096</c:v>
                </c:pt>
                <c:pt idx="1">
                  <c:v>31</c:v>
                </c:pt>
              </c:numCache>
            </c:numRef>
          </c:val>
          <c:extLst>
            <c:ext xmlns:c16="http://schemas.microsoft.com/office/drawing/2014/chart" uri="{C3380CC4-5D6E-409C-BE32-E72D297353CC}">
              <c16:uniqueId val="{00000004-99D3-4BC1-8D5C-572BF0D32E9A}"/>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DA223CB-33CD-44C6-AE48-A9BA970A8B34}" type="datetimeFigureOut">
              <a:t>9/20/2026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BA6A15D-F11D-48D8-BA56-38A611E9B31E}" type="slidenum">
              <a:t>‹#›</a:t>
            </a:fld>
            <a:endParaRPr lang="en-US"/>
          </a:p>
        </p:txBody>
      </p:sp>
    </p:spTree>
    <p:extLst>
      <p:ext uri="{BB962C8B-B14F-4D97-AF65-F5344CB8AC3E}">
        <p14:creationId xmlns:p14="http://schemas.microsoft.com/office/powerpoint/2010/main" val="115279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 45 seconds.</a:t>
            </a:r>
          </a:p>
          <a:p>
            <a:endParaRPr/>
          </a:p>
          <a:p>
            <a:r>
              <a:t>• Frame it in one line: we built an assistant that takes an insurance claim, works out what it is for, checks it against history, and routes it — and every step can be explained.</a:t>
            </a:r>
          </a:p>
          <a:p>
            <a:r>
              <a:t>• Introduce the six of us by name and one-word contribution; do not read the whole role list off the slide.</a:t>
            </a:r>
          </a:p>
          <a:p>
            <a:r>
              <a:t>• Point at the Claim → Intelligence → Decision strip on the right: that is the entire deck in three boxes.</a:t>
            </a:r>
          </a:p>
          <a:p>
            <a:r>
              <a:t>• Set the ground rule you will repeat all the way through: the system prioritises, the human decides.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 90 seconds. Slow down here; this is the slide that earns the rest of the deck.</a:t>
            </a:r>
          </a:p>
          <a:p>
            <a:endParaRPr/>
          </a:p>
          <a:p>
            <a:r>
              <a:t>• Lead with the number: 6,258 claims across 1,227 policies in five years, every one read and coded by hand.</a:t>
            </a:r>
          </a:p>
          <a:p>
            <a:r>
              <a:t>• Make the real-world point explicitly — the cost is not one slow claim, it is thousands of undocumented judgement calls nobody can reconstruct later.</a:t>
            </a:r>
          </a:p>
          <a:p>
            <a:r>
              <a:t>• Walk the five pain points briskly; do not read them verbatim. The two that land hardest are inconsistent coverage (same text, two different codes) and the undifferentiated queue ($1,200 claim behind a $5M outlier).</a:t>
            </a:r>
          </a:p>
          <a:p>
            <a:r>
              <a:t>• Land the closing line: the fund already owns the evidence — the gap is delivery, not data. That is the hand-off into the next slide.</a:t>
            </a:r>
          </a:p>
          <a:p>
            <a:endParaRPr/>
          </a:p>
          <a:p>
            <a:r>
              <a:t>If asked "is this a real fund?" — yes, the Wisconsin Local Government Property Insurance Fund; the data is public.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QUESTIONS — 75 seconds. This is the reframing slide; make it conversational.</a:t>
            </a:r>
          </a:p>
          <a:p>
            <a:endParaRPr/>
          </a:p>
          <a:p>
            <a:r>
              <a:t>• Say up front: forget the architecture for a moment — here is what an assessor actually asks on every claim.</a:t>
            </a:r>
          </a:p>
          <a:p>
            <a:r>
              <a:t>• Read each question aloud in the assessor's voice, then contrast Today vs With the system in one breath each. Do not read the small print.</a:t>
            </a:r>
          </a:p>
          <a:p>
            <a:r>
              <a:t>• Q1 is your best example — show the raw string "windblewstackoffanddamagedroof" and let the room register that a human reads that today.</a:t>
            </a:r>
          </a:p>
          <a:p>
            <a:r>
              <a:t>• Q4 is the commercial one: most claims do not need a person at all, and today every one of them gets one.</a:t>
            </a:r>
          </a:p>
          <a:p>
            <a:r>
              <a:t>• Close by mapping the four questions to the four capabilities: predict, retrieve, benchmark, route. Everything after this slide answers one of these four.</a:t>
            </a:r>
          </a:p>
          <a:p>
            <a:endParaRPr/>
          </a:p>
          <a:p>
            <a:r>
              <a:t>Anticipate: "why not just hire more assessors?" — because the inconsistency problem gets worse with more reviewers, not better.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 &amp; SOLUTION — 60 seconds.</a:t>
            </a:r>
          </a:p>
          <a:p>
            <a:endParaRPr/>
          </a:p>
          <a:p>
            <a:r>
              <a:t>• State the objective sentence once, clearly, then move to the six capability tiles.</a:t>
            </a:r>
          </a:p>
          <a:p>
            <a:r>
              <a:t>• Group them for the audience rather than listing six flat items: predict and retrieve produce evidence; benchmark and prioritize produce a judgement; explain and route produce an action.</a:t>
            </a:r>
          </a:p>
          <a:p>
            <a:r>
              <a:t>• Tie each tile back to a question from the previous slide so the deck feels cumulative.</a:t>
            </a:r>
          </a:p>
          <a:p>
            <a:r>
              <a:t>• End on the design principle in the accent line: augment assessors, keep human accountability. Say it, do not read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WORKFLOW — 60 seconds.</a:t>
            </a:r>
          </a:p>
          <a:p>
            <a:endParaRPr/>
          </a:p>
          <a:p>
            <a:r>
              <a:t>• Walk left to right through the seven steps; one short phrase per step is enough.</a:t>
            </a:r>
          </a:p>
          <a:p>
            <a:r>
              <a:t>• The two boxes at the bottom are the important part of this slide. Deterministic logic decides; generative AI only explains. Say that sentence twice during the deck — here and on the Gen AI slide.</a:t>
            </a:r>
          </a:p>
          <a:p>
            <a:r>
              <a:t>• Flag forward: the agent does not always run all seven steps. It skips retrieval when confident and stops early when a scan is unreadable — that is covered in section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 60 seconds.</a:t>
            </a:r>
          </a:p>
          <a:p>
            <a:endParaRPr/>
          </a:p>
          <a:p>
            <a:r>
              <a:t>• CLAIMLEVEL is the main dataset: the free-text Description is the model input, CoverageCode is the target.</a:t>
            </a:r>
          </a:p>
          <a:p>
            <a:r>
              <a:t>• WiscPropFund is numeric policy-level context for the dashboard only — no free text, and we do not join it row by row. Be firm on this; it is a common reviewer question.</a:t>
            </a:r>
          </a:p>
          <a:p>
            <a:r>
              <a:t>• Point at the chart: three codes cover 99% of claims, the remaining ten are too rare to learn. That imbalance drives the modelling choices on the next few slides.</a:t>
            </a:r>
          </a:p>
          <a:p>
            <a:r>
              <a:t>• Counts come from re-running EDA_Capstone.py on the public CSVs — confirm against your own notebook output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PREPARATION — 60 seconds.</a:t>
            </a:r>
          </a:p>
          <a:p>
            <a:endParaRPr/>
          </a:p>
          <a:p>
            <a:r>
              <a:t>• Each row is a finding from the EDA paired with the fix we applied; read them as pairs, not as two lists.</a:t>
            </a:r>
          </a:p>
          <a:p>
            <a:r>
              <a:t>• The one to dwell on is ClaimNum: it looks like a primary key but one value covers 99.9% of rows, so grouping by it is impossible. That single finding changed how we split the data.</a:t>
            </a:r>
          </a:p>
          <a:p>
            <a:r>
              <a:t>• Mention that 834 exact duplicate rows came out before splitting — it sets up the leakage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LEAKAGE-SAFE SPLIT — 60 seconds.</a:t>
            </a:r>
          </a:p>
          <a:p>
            <a:endParaRPr/>
          </a:p>
          <a:p>
            <a:r>
              <a:t>• Open with the trap, not the method: if the same description sits in train and test, the accuracy is inflated and the model looks better than it is.</a:t>
            </a:r>
          </a:p>
          <a:p>
            <a:r>
              <a:t>• Then the fix: GroupShuffleSplit on Description, fixed seed 42, so every copy of a description stays on one side.</a:t>
            </a:r>
          </a:p>
          <a:p>
            <a:r>
              <a:t>• Note that the 80/20 split is by description group, which is why the row counts are 4,297 / 1,127 rather than exactly 80/20.</a:t>
            </a:r>
          </a:p>
          <a:p>
            <a:r>
              <a:t>• The verification line matters: zero descriptions appear in both sets. Say you checked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BUILDING — 2 minutes. Your most technical slide; pace yourself.</a:t>
            </a:r>
          </a:p>
          <a:p>
            <a:endParaRPr/>
          </a:p>
          <a:p>
            <a:r>
              <a:t>• Explain the choice of character n-grams first: descriptions are short and have the spaces stripped, so word-level TF-IDF would fail outright.</a:t>
            </a:r>
          </a:p>
          <a:p>
            <a:r>
              <a:t>• Logistic regression is fast, interpretable and a strong baseline — and interpretability is the whole point of this project.</a:t>
            </a:r>
          </a:p>
          <a:p>
            <a:r>
              <a:t>• Metrics: accuracy 86.2%, weighted F1 0.87, macro F1 0.66. Volunteer that macro F1 is pulled down by the tiny "Other" class (F1 0.10 on six test claims). Reporting it rather than hiding it is a credibility win.</a:t>
            </a:r>
          </a:p>
          <a:p>
            <a:r>
              <a:t>• Per class: VE 0.90, VF 0.92, VS 0.72.</a:t>
            </a:r>
          </a:p>
          <a:p>
            <a:endParaRPr/>
          </a:p>
          <a:p>
            <a:r>
              <a:t>Expected challenge: "why not BERT?" — the text is roughly 2–6 tokens and domain-narrow; a transformer is on the roadmap but must beat this baseline measurably to earn its place.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RETRIEVAL — 60 seconds.</a:t>
            </a:r>
          </a:p>
          <a:p>
            <a:endParaRPr/>
          </a:p>
          <a:p>
            <a:r>
              <a:t>• The argument: retrieval gives the reviewer something a classifier cannot — real past claims with their actual coverage.</a:t>
            </a:r>
          </a:p>
          <a:p>
            <a:r>
              <a:t>• The example table is genuine output. Point at the last three rows: same location, different cause, different coverage. That is exactly why we show neighbours instead of trusting one label.</a:t>
            </a:r>
          </a:p>
          <a:p>
            <a:r>
              <a:t>• Explain when it runs: only when classifier confidence is below 0.5 in the agent path; the dashboard always shows it as evidence.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RULE CHECKS &amp; RISK — 75 seconds.</a:t>
            </a:r>
          </a:p>
          <a:p>
            <a:endParaRPr/>
          </a:p>
          <a:p>
            <a:r>
              <a:t>• Three checks feed the score: keyword consistency, amount anomaly, and confidence/agreement.</a:t>
            </a:r>
          </a:p>
          <a:p>
            <a:r>
              <a:t>• On the amount check, explain why median and MAD rather than mean and standard deviation — a handful of extreme claims would otherwise drag the baseline and hide the real outliers.</a:t>
            </a:r>
          </a:p>
          <a:p>
            <a:r>
              <a:t>• Be precise about what the score is NOT: it is a review priority, not a fraud probability and not an approval decision. The dataset has no fraud labels; say so before anyone asks.</a:t>
            </a:r>
          </a:p>
          <a:p>
            <a:r>
              <a:t>• The weights and bands on this slide (40/20/20/20 and 0–29 / 30–59 / 60–100) are the production scoring. The notebook agent uses a simpler three-signal version with a threshold of 40 — state which one you are about to demo.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SYSTEM &amp; DASHBOARD — 60 seconds.</a:t>
            </a:r>
          </a:p>
          <a:p>
            <a:endParaRPr/>
          </a:p>
          <a:p>
            <a:r>
              <a:t>• The point of the top row is separation of concerns: training, inference, API and UI are independent, so the same service backs a dashboard, an API or a cloud deployment.</a:t>
            </a:r>
          </a:p>
          <a:p>
            <a:r>
              <a:t>• Stress that API startup never retrains — it loads a versioned artifact. That is what makes it deployable.</a:t>
            </a:r>
          </a:p>
          <a:p>
            <a:r>
              <a:t>• Name the four dashboard pages quickly and save the detail for the live demo.</a:t>
            </a:r>
          </a:p>
          <a:p>
            <a:r>
              <a:t>• The test count reflects the current build; update the number on the slide if the suite has grown since.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AGENTIC AI — ROUTING — 90 seconds.</a:t>
            </a:r>
          </a:p>
          <a:p>
            <a:endParaRPr/>
          </a:p>
          <a:p>
            <a:r>
              <a:t>• Define agentic properly before showing the numbers: what makes this an agent is conditional control flow — the path changes with the state, it is not a fixed pipeline.</a:t>
            </a:r>
          </a:p>
          <a:p>
            <a:r>
              <a:t>• Three concrete branches: a poor scan stops at step 2 with no model call; a confident prediction skips retrieval; only high-risk claims reach a person.</a:t>
            </a:r>
          </a:p>
          <a:p>
            <a:r>
              <a:t>• Results: on 1,127 test claims the agent auto-cleared 1,096 (97.2%) and escalated 31 (2.8%), run with the LLM off.</a:t>
            </a:r>
          </a:p>
          <a:p>
            <a:r>
              <a:t>• Important caveat to volunteer: in that batch run the recorded coverage is the true label, so escalations come from amount anomalies and keyword mismatches rather than coding errors.</a:t>
            </a:r>
          </a:p>
          <a:p>
            <a:r>
              <a:t>• Then say: the next two slides open this up — first the architecture, then the decision logic.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AGENTIC ARCHITECTURE — 2 minutes. This is a new slide and a likely evaluation focus.</a:t>
            </a:r>
          </a:p>
          <a:p>
            <a:endParaRPr/>
          </a:p>
          <a:p>
            <a:r>
              <a:t>• Read the left stack bottom-up, it tells a story: training produces an artifact, inference loads it, the tool layer wraps each stage as a named callable, the agent chooses among them, FastAPI exposes it, the dashboard consumes it.</a:t>
            </a:r>
          </a:p>
          <a:p>
            <a:r>
              <a:t>• The key design decision to call out: the agent added no new model. It is a thin orchestration layer over the existing pipeline, which is why nothing needed retraining.</a:t>
            </a:r>
          </a:p>
          <a:p>
            <a:r>
              <a:t>• On the right, do not read all eight tools. Pick three and contrast their "invoked when" column — classify runs always, retrieve runs only when unsure, claim_intelligence runs only on request. That column IS the agentic behaviour.</a:t>
            </a:r>
          </a:p>
          <a:p>
            <a:r>
              <a:t>• Land the footer: GET /agent/tools returns exactly this list, so the agent's permissions are inspectable rather than implied. Reviewers like that answer.</a:t>
            </a:r>
          </a:p>
          <a:p>
            <a:endParaRPr/>
          </a:p>
          <a:p>
            <a:r>
              <a:t>If asked where the LLM sits: alongside the agent layer, not inside it — it narrates after the decision is fixed. Cover it properly on the Gen AI slide.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AGENTIC CONTROL FLOW — 2 minutes. Walk the six cards in order; this is the heart of the agentic deliverable.</a:t>
            </a:r>
          </a:p>
          <a:p>
            <a:endParaRPr/>
          </a:p>
          <a:p>
            <a:r>
              <a:t>• Frame each card as a question the agent asks itself, then the branch it takes. Reading the question aloud makes the control flow obvious without any pseudocode.</a:t>
            </a:r>
          </a:p>
          <a:p>
            <a:r>
              <a:t>• Decision 2 is your strongest demo moment: below 0.60 OCR confidence the run stops and no model is ever called. Zero compute spent on an unreadable claim.</a:t>
            </a:r>
          </a:p>
          <a:p>
            <a:r>
              <a:t>• Decision 3 and 4 are a pair — confidence determines whether retrieval happens at all. That is the difference between an agent and a pipeline.</a:t>
            </a:r>
          </a:p>
          <a:p>
            <a:r>
              <a:t>• Decision 5 is the newest logic: a keyword mismatch adds a logged +15 to the risk score, so the escalation is always traceable to a reason.</a:t>
            </a:r>
          </a:p>
          <a:p>
            <a:r>
              <a:t>• Then the bottom left: three terminal states, nothing else. And the bottom right: every run returns the same object, including tools_called and the full trace.</a:t>
            </a:r>
          </a:p>
          <a:p>
            <a:endParaRPr/>
          </a:p>
          <a:p>
            <a:r>
              <a:t>Closing line for this slide: you can always answer "why did this claim get escalated?" by reading the trace — no inspection of the model required.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GENERATIVE AI — 60 seconds.</a:t>
            </a:r>
          </a:p>
          <a:p>
            <a:endParaRPr/>
          </a:p>
          <a:p>
            <a:r>
              <a:t>• The framing: the LLM is deliberately boxed in. Deterministic logic produces the signals and fixes the status; the model only rewrites those signals as one sentence.</a:t>
            </a:r>
          </a:p>
          <a:p>
            <a:r>
              <a:t>• Walk the guardrails: the prompt says use only the given signals, one short sentence, no invented facts — and status and risk are already final before the model is called.</a:t>
            </a:r>
          </a:p>
          <a:p>
            <a:r>
              <a:t>• Efficiency: a 1B-parameter model running locally through Ollama. No API cost, no data leaves the machine, called once per scored claim.</a:t>
            </a:r>
          </a:p>
          <a:p>
            <a:r>
              <a:t>• The robustness point is worth making: if Ollama is unavailable the system falls back to rule-based text and reports the source as "rules". It never blocks on the LLM. That also means it runs on a locked-down work laptop.</a:t>
            </a:r>
          </a:p>
          <a:p>
            <a:r>
              <a:t>• The two signal examples on the slide are real fallback outputs.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CHALLENGES — 60 seconds. Do not read all six; pick two or three and speak to them properly.</a:t>
            </a:r>
          </a:p>
          <a:p>
            <a:endParaRPr/>
          </a:p>
          <a:p>
            <a:r>
              <a:t>• Recommended: data quality (the ClaimNum discovery), class imbalance (why we report macro F1), and OCR variability (why the agent has a quality gate).</a:t>
            </a:r>
          </a:p>
          <a:p>
            <a:r>
              <a:t>• Whichever you pick, say what you would have got wrong if you had not caught it.</a:t>
            </a:r>
          </a:p>
          <a:p>
            <a:r>
              <a:t>• The common thread across all six responses: combine deterministic checks, historical evidence and human review rather than trusting a single model score.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LEARNINGS — 45 seconds.</a:t>
            </a:r>
          </a:p>
          <a:p>
            <a:endParaRPr/>
          </a:p>
          <a:p>
            <a:r>
              <a:t>• The theme in one sentence: trustworthy AI needs model quality, contextual evidence, transparent logic and human accountability.</a:t>
            </a:r>
          </a:p>
          <a:p>
            <a:r>
              <a:t>• Pick the two lessons that were genuinely surprising to your own part of the work and say why — a real anecdote beats six generic tiles.</a:t>
            </a:r>
          </a:p>
          <a:p>
            <a:r>
              <a:t>• "Agentic value comes from conditional control flow, not from chaining tools" is the strongest line on the slide; it directly answers a question the panel will be thinking.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SCOPE — 45 seconds.</a:t>
            </a:r>
          </a:p>
          <a:p>
            <a:endParaRPr/>
          </a:p>
          <a:p>
            <a:r>
              <a:t>• The first column answers the brief's question directly — what would you improve with one more day. Say the three quick wins with conviction; they are real and small.</a:t>
            </a:r>
          </a:p>
          <a:p>
            <a:r>
              <a:t>• The other two columns are the roadmap, not current capability. Be explicit about that distinction so nothing is over-claimed.</a:t>
            </a:r>
          </a:p>
          <a:p>
            <a:r>
              <a:t>• Word segmentation is the highest-value single fix: it unlocks transformer embeddings, which currently cannot work on spaceless text.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 30 seconds. Slow down and land it.</a:t>
            </a:r>
          </a:p>
          <a:p>
            <a:endParaRPr/>
          </a:p>
          <a:p>
            <a:r>
              <a:t>• Three takeaways, one sentence each. Do not add new information here.</a:t>
            </a:r>
          </a:p>
          <a:p>
            <a:r>
              <a:t>• Close on the human-control line, then hand straight over to the demo without a pause for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 run it, then leave 5 minutes for Q&amp;A.</a:t>
            </a:r>
          </a:p>
          <a:p>
            <a:endParaRPr/>
          </a:p>
          <a:p>
            <a:r>
              <a:t>• Have a screen recording of both scenarios open in another tab as a backup. Live demos fail in front of panels.</a:t>
            </a:r>
          </a:p>
          <a:p>
            <a:r>
              <a:t>• Scenario 1: upload the water-damage claim, show extraction, the VS recommendation, the similar claims table, and the PROCEED routing.</a:t>
            </a:r>
          </a:p>
          <a:p>
            <a:r>
              <a:t>• Scenario 2: a very large amount with water text coded as fire. Show the mismatch FLAG, the +15 risk adjustment, the high priority, and the plain-English reason. This scenario demonstrates decisions 5 and 6 in one shot.</a:t>
            </a:r>
          </a:p>
          <a:p>
            <a:r>
              <a:t>• If there is time, hit POST /agent/ocr-demo at quality 0.30 to show the early stop — it is the fastest way to prove the agent is making choices.</a:t>
            </a:r>
          </a:p>
          <a:p>
            <a:r>
              <a:t>• Do not use "lightningdamage" as a notebook example: that exact description falls in the held-out test group and predicts as Other at 0.52. Use the dashboard scenarios instead.</a:t>
            </a:r>
          </a:p>
          <a:p>
            <a:endParaRPr/>
          </a:p>
          <a:p>
            <a:r>
              <a:t>Likely questions: no fraud labels (say it first), why not BERT, and how you would validate the risk weights on real outcomes.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a:effectLst/>
      </p:bgPr>
    </p:bg>
    <p:spTree>
      <p:nvGrpSpPr>
        <p:cNvPr id="1" name=""/>
        <p:cNvGrpSpPr/>
        <p:nvPr/>
      </p:nvGrpSpPr>
      <p:grpSpPr>
        <a:xfrm>
          <a:off x="0" y="0"/>
          <a:ext cx="0" cy="0"/>
          <a:chOff x="0" y="0"/>
          <a:chExt cx="0" cy="0"/>
        </a:xfrm>
      </p:grpSpPr>
      <p:sp>
        <p:nvSpPr>
          <p:cNvPr id="2" name="Text 0"/>
          <p:cNvSpPr txBox="1"/>
          <p:nvPr/>
        </p:nvSpPr>
        <p:spPr>
          <a:xfrm>
            <a:off x="731520" y="1097280"/>
            <a:ext cx="7315200" cy="320040"/>
          </a:xfrm>
          <a:prstGeom prst="rect">
            <a:avLst/>
          </a:prstGeom>
          <a:noFill/>
          <a:ln/>
        </p:spPr>
        <p:txBody>
          <a:bodyPr wrap="square" lIns="0" tIns="0" rIns="0" bIns="0" rtlCol="0" anchor="ctr"/>
          <a:lstStyle/>
          <a:p>
            <a:pPr marL="0" indent="0">
              <a:buNone/>
            </a:pPr>
            <a:r>
              <a:rPr lang="en-US" sz="1300" b="1" kern="0" spc="300" dirty="0">
                <a:solidFill>
                  <a:srgbClr val="93B4F5"/>
                </a:solidFill>
                <a:latin typeface="Calibri" pitchFamily="34" charset="0"/>
                <a:ea typeface="Calibri" pitchFamily="34" charset="-122"/>
                <a:cs typeface="Calibri" pitchFamily="34" charset="-120"/>
              </a:rPr>
              <a:t>AI &amp; DATA POST-JOINING CAPSTONE</a:t>
            </a:r>
            <a:endParaRPr lang="en-US" sz="1300" dirty="0"/>
          </a:p>
        </p:txBody>
      </p:sp>
      <p:sp>
        <p:nvSpPr>
          <p:cNvPr id="3" name="Text 1"/>
          <p:cNvSpPr txBox="1"/>
          <p:nvPr/>
        </p:nvSpPr>
        <p:spPr>
          <a:xfrm>
            <a:off x="731520" y="1645920"/>
            <a:ext cx="6949440" cy="2194560"/>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AI-Powered Insurance Claim Assessment System</a:t>
            </a:r>
            <a:endParaRPr lang="en-US" sz="4800" dirty="0"/>
          </a:p>
        </p:txBody>
      </p:sp>
      <p:sp>
        <p:nvSpPr>
          <p:cNvPr id="4" name="Text 2"/>
          <p:cNvSpPr txBox="1"/>
          <p:nvPr/>
        </p:nvSpPr>
        <p:spPr>
          <a:xfrm>
            <a:off x="731520" y="4206240"/>
            <a:ext cx="6949440" cy="36576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Explainable AI  •  Retrieval Intelligence  •  Agentic Automation</a:t>
            </a:r>
            <a:endParaRPr lang="en-US" sz="1800" dirty="0"/>
          </a:p>
        </p:txBody>
      </p:sp>
      <p:sp>
        <p:nvSpPr>
          <p:cNvPr id="5" name="Text 3"/>
          <p:cNvSpPr txBox="1"/>
          <p:nvPr/>
        </p:nvSpPr>
        <p:spPr>
          <a:xfrm>
            <a:off x="731520" y="4754880"/>
            <a:ext cx="6766560" cy="731520"/>
          </a:xfrm>
          <a:prstGeom prst="rect">
            <a:avLst/>
          </a:prstGeom>
          <a:noFill/>
          <a:ln/>
        </p:spPr>
        <p:txBody>
          <a:bodyPr wrap="square" lIns="0" tIns="0" rIns="0" bIns="0" rtlCol="0" anchor="t"/>
          <a:lstStyle/>
          <a:p>
            <a:pPr marL="0" indent="0">
              <a:buNone/>
            </a:pPr>
            <a:r>
              <a:rPr lang="en-US" sz="1600" dirty="0">
                <a:solidFill>
                  <a:srgbClr val="93B4F5"/>
                </a:solidFill>
                <a:latin typeface="Calibri" pitchFamily="34" charset="0"/>
                <a:ea typeface="Calibri" pitchFamily="34" charset="-122"/>
                <a:cs typeface="Calibri" pitchFamily="34" charset="-120"/>
              </a:rPr>
              <a:t>From a claim description to an explainable routing decision — with a human in control.</a:t>
            </a:r>
            <a:endParaRPr lang="en-US" sz="1600" dirty="0"/>
          </a:p>
        </p:txBody>
      </p:sp>
      <p:sp>
        <p:nvSpPr>
          <p:cNvPr id="6" name="Shape 4"/>
          <p:cNvSpPr/>
          <p:nvPr/>
        </p:nvSpPr>
        <p:spPr>
          <a:xfrm>
            <a:off x="8229600" y="1371600"/>
            <a:ext cx="3383280" cy="1143000"/>
          </a:xfrm>
          <a:prstGeom prst="roundRect">
            <a:avLst>
              <a:gd name="adj" fmla="val 9600"/>
            </a:avLst>
          </a:prstGeom>
          <a:solidFill>
            <a:srgbClr val="1B3557"/>
          </a:solidFill>
          <a:ln w="12700">
            <a:solidFill>
              <a:srgbClr val="2E4E7C"/>
            </a:solidFill>
            <a:prstDash val="solid"/>
          </a:ln>
        </p:spPr>
      </p:sp>
      <p:sp>
        <p:nvSpPr>
          <p:cNvPr id="7" name="Text 5"/>
          <p:cNvSpPr txBox="1"/>
          <p:nvPr/>
        </p:nvSpPr>
        <p:spPr>
          <a:xfrm>
            <a:off x="8503920" y="1572768"/>
            <a:ext cx="2834640" cy="41148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CLAIM</a:t>
            </a:r>
            <a:endParaRPr lang="en-US" sz="2200" dirty="0"/>
          </a:p>
        </p:txBody>
      </p:sp>
      <p:sp>
        <p:nvSpPr>
          <p:cNvPr id="8" name="Text 6"/>
          <p:cNvSpPr txBox="1"/>
          <p:nvPr/>
        </p:nvSpPr>
        <p:spPr>
          <a:xfrm>
            <a:off x="8503920" y="2029968"/>
            <a:ext cx="283464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Text or scanned form</a:t>
            </a:r>
            <a:endParaRPr lang="en-US" sz="1400" dirty="0"/>
          </a:p>
        </p:txBody>
      </p:sp>
      <p:sp>
        <p:nvSpPr>
          <p:cNvPr id="9" name="Shape 7"/>
          <p:cNvSpPr/>
          <p:nvPr/>
        </p:nvSpPr>
        <p:spPr>
          <a:xfrm>
            <a:off x="9921240" y="2532888"/>
            <a:ext cx="0" cy="420624"/>
          </a:xfrm>
          <a:prstGeom prst="line">
            <a:avLst/>
          </a:prstGeom>
          <a:noFill/>
          <a:ln w="25400">
            <a:solidFill>
              <a:srgbClr val="93B4F5"/>
            </a:solidFill>
            <a:prstDash val="solid"/>
            <a:tailEnd type="triangle"/>
          </a:ln>
        </p:spPr>
      </p:sp>
      <p:sp>
        <p:nvSpPr>
          <p:cNvPr id="10" name="Shape 8"/>
          <p:cNvSpPr/>
          <p:nvPr/>
        </p:nvSpPr>
        <p:spPr>
          <a:xfrm>
            <a:off x="8229600" y="2971800"/>
            <a:ext cx="3383280" cy="1143000"/>
          </a:xfrm>
          <a:prstGeom prst="roundRect">
            <a:avLst>
              <a:gd name="adj" fmla="val 9600"/>
            </a:avLst>
          </a:prstGeom>
          <a:solidFill>
            <a:srgbClr val="2563EB"/>
          </a:solidFill>
          <a:ln w="12700">
            <a:solidFill>
              <a:srgbClr val="2563EB"/>
            </a:solidFill>
            <a:prstDash val="solid"/>
          </a:ln>
        </p:spPr>
      </p:sp>
      <p:sp>
        <p:nvSpPr>
          <p:cNvPr id="11" name="Text 9"/>
          <p:cNvSpPr txBox="1"/>
          <p:nvPr/>
        </p:nvSpPr>
        <p:spPr>
          <a:xfrm>
            <a:off x="8503920" y="3172968"/>
            <a:ext cx="2834640" cy="41148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INTELLIGENCE</a:t>
            </a:r>
            <a:endParaRPr lang="en-US" sz="2200" dirty="0"/>
          </a:p>
        </p:txBody>
      </p:sp>
      <p:sp>
        <p:nvSpPr>
          <p:cNvPr id="12" name="Text 10"/>
          <p:cNvSpPr txBox="1"/>
          <p:nvPr/>
        </p:nvSpPr>
        <p:spPr>
          <a:xfrm>
            <a:off x="8503920" y="3630168"/>
            <a:ext cx="283464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Coverage, evidence, risk</a:t>
            </a:r>
            <a:endParaRPr lang="en-US" sz="1400" dirty="0"/>
          </a:p>
        </p:txBody>
      </p:sp>
      <p:sp>
        <p:nvSpPr>
          <p:cNvPr id="13" name="Shape 11"/>
          <p:cNvSpPr/>
          <p:nvPr/>
        </p:nvSpPr>
        <p:spPr>
          <a:xfrm>
            <a:off x="9921240" y="4133088"/>
            <a:ext cx="0" cy="420624"/>
          </a:xfrm>
          <a:prstGeom prst="line">
            <a:avLst/>
          </a:prstGeom>
          <a:noFill/>
          <a:ln w="25400">
            <a:solidFill>
              <a:srgbClr val="93B4F5"/>
            </a:solidFill>
            <a:prstDash val="solid"/>
            <a:tailEnd type="triangle"/>
          </a:ln>
        </p:spPr>
      </p:sp>
      <p:sp>
        <p:nvSpPr>
          <p:cNvPr id="14" name="Shape 12"/>
          <p:cNvSpPr/>
          <p:nvPr/>
        </p:nvSpPr>
        <p:spPr>
          <a:xfrm>
            <a:off x="8229600" y="4572000"/>
            <a:ext cx="3383280" cy="1143000"/>
          </a:xfrm>
          <a:prstGeom prst="roundRect">
            <a:avLst>
              <a:gd name="adj" fmla="val 9600"/>
            </a:avLst>
          </a:prstGeom>
          <a:solidFill>
            <a:srgbClr val="1B3557"/>
          </a:solidFill>
          <a:ln w="12700">
            <a:solidFill>
              <a:srgbClr val="2E4E7C"/>
            </a:solidFill>
            <a:prstDash val="solid"/>
          </a:ln>
        </p:spPr>
      </p:sp>
      <p:sp>
        <p:nvSpPr>
          <p:cNvPr id="15" name="Text 13"/>
          <p:cNvSpPr txBox="1"/>
          <p:nvPr/>
        </p:nvSpPr>
        <p:spPr>
          <a:xfrm>
            <a:off x="8503920" y="4773168"/>
            <a:ext cx="2834640" cy="411480"/>
          </a:xfrm>
          <a:prstGeom prst="rect">
            <a:avLst/>
          </a:prstGeom>
          <a:noFill/>
          <a:ln/>
        </p:spPr>
        <p:txBody>
          <a:bodyPr wrap="square" lIns="0" tIns="0" rIns="0" bIns="0" rtlCol="0" anchor="ctr"/>
          <a:lstStyle/>
          <a:p>
            <a:pPr marL="0" indent="0">
              <a:buNone/>
            </a:pPr>
            <a:r>
              <a:rPr lang="en-US" sz="2200" b="1" kern="0" spc="200" dirty="0">
                <a:solidFill>
                  <a:srgbClr val="FFFFFF"/>
                </a:solidFill>
                <a:latin typeface="Calibri" pitchFamily="34" charset="0"/>
                <a:ea typeface="Calibri" pitchFamily="34" charset="-122"/>
                <a:cs typeface="Calibri" pitchFamily="34" charset="-120"/>
              </a:rPr>
              <a:t>DECISION</a:t>
            </a:r>
            <a:endParaRPr lang="en-US" sz="2200" dirty="0"/>
          </a:p>
        </p:txBody>
      </p:sp>
      <p:sp>
        <p:nvSpPr>
          <p:cNvPr id="16" name="Text 14"/>
          <p:cNvSpPr txBox="1"/>
          <p:nvPr/>
        </p:nvSpPr>
        <p:spPr>
          <a:xfrm>
            <a:off x="8503920" y="5230368"/>
            <a:ext cx="283464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Proceed or human review</a:t>
            </a:r>
            <a:endParaRPr lang="en-US" sz="1400" dirty="0"/>
          </a:p>
        </p:txBody>
      </p:sp>
      <p:sp>
        <p:nvSpPr>
          <p:cNvPr id="17" name="TextBox 16"/>
          <p:cNvSpPr txBox="1"/>
          <p:nvPr/>
        </p:nvSpPr>
        <p:spPr>
          <a:xfrm>
            <a:off x="731520" y="5440680"/>
            <a:ext cx="6949440" cy="228600"/>
          </a:xfrm>
          <a:prstGeom prst="rect">
            <a:avLst/>
          </a:prstGeom>
          <a:noFill/>
        </p:spPr>
        <p:txBody>
          <a:bodyPr wrap="square" lIns="0" tIns="0" rIns="0" bIns="0" anchor="ctr">
            <a:spAutoFit/>
          </a:bodyPr>
          <a:lstStyle/>
          <a:p>
            <a:pPr algn="l"/>
            <a:r>
              <a:rPr sz="1000" b="1" i="0" spc="200">
                <a:solidFill>
                  <a:srgbClr val="93B4F5"/>
                </a:solidFill>
                <a:latin typeface="Calibri"/>
              </a:rPr>
              <a:t>THE TEAM</a:t>
            </a:r>
          </a:p>
        </p:txBody>
      </p:sp>
      <p:sp>
        <p:nvSpPr>
          <p:cNvPr id="18" name="TextBox 17"/>
          <p:cNvSpPr txBox="1"/>
          <p:nvPr/>
        </p:nvSpPr>
        <p:spPr>
          <a:xfrm>
            <a:off x="731520" y="5760720"/>
            <a:ext cx="2286000" cy="182880"/>
          </a:xfrm>
          <a:prstGeom prst="rect">
            <a:avLst/>
          </a:prstGeom>
          <a:noFill/>
        </p:spPr>
        <p:txBody>
          <a:bodyPr wrap="square" lIns="0" tIns="0" rIns="0" bIns="0" anchor="ctr">
            <a:spAutoFit/>
          </a:bodyPr>
          <a:lstStyle/>
          <a:p>
            <a:pPr algn="l"/>
            <a:r>
              <a:rPr sz="1100" b="1" i="0">
                <a:solidFill>
                  <a:srgbClr val="FFFFFF"/>
                </a:solidFill>
                <a:latin typeface="Calibri"/>
              </a:rPr>
              <a:t>Balusu Bhanu Prakash</a:t>
            </a:r>
          </a:p>
        </p:txBody>
      </p:sp>
      <p:sp>
        <p:nvSpPr>
          <p:cNvPr id="19" name="TextBox 18"/>
          <p:cNvSpPr txBox="1"/>
          <p:nvPr/>
        </p:nvSpPr>
        <p:spPr>
          <a:xfrm>
            <a:off x="731520" y="5934456"/>
            <a:ext cx="2286000" cy="173736"/>
          </a:xfrm>
          <a:prstGeom prst="rect">
            <a:avLst/>
          </a:prstGeom>
          <a:noFill/>
        </p:spPr>
        <p:txBody>
          <a:bodyPr wrap="square" lIns="0" tIns="0" rIns="0" bIns="0" anchor="ctr">
            <a:spAutoFit/>
          </a:bodyPr>
          <a:lstStyle/>
          <a:p>
            <a:pPr algn="l"/>
            <a:r>
              <a:rPr sz="800" b="0" i="0">
                <a:solidFill>
                  <a:srgbClr val="CADCFC"/>
                </a:solidFill>
                <a:latin typeface="Calibri"/>
              </a:rPr>
              <a:t>Pipeline, EDA &amp; agent orchestrator</a:t>
            </a:r>
          </a:p>
        </p:txBody>
      </p:sp>
      <p:sp>
        <p:nvSpPr>
          <p:cNvPr id="20" name="TextBox 19"/>
          <p:cNvSpPr txBox="1"/>
          <p:nvPr/>
        </p:nvSpPr>
        <p:spPr>
          <a:xfrm>
            <a:off x="3108960" y="5760720"/>
            <a:ext cx="2286000" cy="182880"/>
          </a:xfrm>
          <a:prstGeom prst="rect">
            <a:avLst/>
          </a:prstGeom>
          <a:noFill/>
        </p:spPr>
        <p:txBody>
          <a:bodyPr wrap="square" lIns="0" tIns="0" rIns="0" bIns="0" anchor="ctr">
            <a:spAutoFit/>
          </a:bodyPr>
          <a:lstStyle/>
          <a:p>
            <a:pPr algn="l"/>
            <a:r>
              <a:rPr sz="1100" b="1" i="0">
                <a:solidFill>
                  <a:srgbClr val="FFFFFF"/>
                </a:solidFill>
                <a:latin typeface="Calibri"/>
              </a:rPr>
              <a:t>Das Satyajit</a:t>
            </a:r>
          </a:p>
        </p:txBody>
      </p:sp>
      <p:sp>
        <p:nvSpPr>
          <p:cNvPr id="21" name="TextBox 20"/>
          <p:cNvSpPr txBox="1"/>
          <p:nvPr/>
        </p:nvSpPr>
        <p:spPr>
          <a:xfrm>
            <a:off x="3108960" y="5934456"/>
            <a:ext cx="2286000" cy="173736"/>
          </a:xfrm>
          <a:prstGeom prst="rect">
            <a:avLst/>
          </a:prstGeom>
          <a:noFill/>
        </p:spPr>
        <p:txBody>
          <a:bodyPr wrap="square" lIns="0" tIns="0" rIns="0" bIns="0" anchor="ctr">
            <a:spAutoFit/>
          </a:bodyPr>
          <a:lstStyle/>
          <a:p>
            <a:pPr algn="l"/>
            <a:r>
              <a:rPr sz="800" b="0" i="0">
                <a:solidFill>
                  <a:srgbClr val="CADCFC"/>
                </a:solidFill>
                <a:latin typeface="Calibri"/>
              </a:rPr>
              <a:t>Streamlit dashboard &amp; executive deck</a:t>
            </a:r>
          </a:p>
        </p:txBody>
      </p:sp>
      <p:sp>
        <p:nvSpPr>
          <p:cNvPr id="22" name="TextBox 21"/>
          <p:cNvSpPr txBox="1"/>
          <p:nvPr/>
        </p:nvSpPr>
        <p:spPr>
          <a:xfrm>
            <a:off x="5486400" y="5760720"/>
            <a:ext cx="2286000" cy="182880"/>
          </a:xfrm>
          <a:prstGeom prst="rect">
            <a:avLst/>
          </a:prstGeom>
          <a:noFill/>
        </p:spPr>
        <p:txBody>
          <a:bodyPr wrap="square" lIns="0" tIns="0" rIns="0" bIns="0" anchor="ctr">
            <a:spAutoFit/>
          </a:bodyPr>
          <a:lstStyle/>
          <a:p>
            <a:pPr algn="l"/>
            <a:r>
              <a:rPr sz="1100" b="1" i="0">
                <a:solidFill>
                  <a:srgbClr val="FFFFFF"/>
                </a:solidFill>
                <a:latin typeface="Calibri"/>
              </a:rPr>
              <a:t>Das Sarnalika</a:t>
            </a:r>
          </a:p>
        </p:txBody>
      </p:sp>
      <p:sp>
        <p:nvSpPr>
          <p:cNvPr id="23" name="TextBox 22"/>
          <p:cNvSpPr txBox="1"/>
          <p:nvPr/>
        </p:nvSpPr>
        <p:spPr>
          <a:xfrm>
            <a:off x="5486400" y="5934456"/>
            <a:ext cx="2286000" cy="173736"/>
          </a:xfrm>
          <a:prstGeom prst="rect">
            <a:avLst/>
          </a:prstGeom>
          <a:noFill/>
        </p:spPr>
        <p:txBody>
          <a:bodyPr wrap="square" lIns="0" tIns="0" rIns="0" bIns="0" anchor="ctr">
            <a:spAutoFit/>
          </a:bodyPr>
          <a:lstStyle/>
          <a:p>
            <a:pPr algn="l"/>
            <a:r>
              <a:rPr sz="800" b="0" i="0">
                <a:solidFill>
                  <a:srgbClr val="CADCFC"/>
                </a:solidFill>
                <a:latin typeface="Calibri"/>
              </a:rPr>
              <a:t>Project roadmap &amp; approach note</a:t>
            </a:r>
          </a:p>
        </p:txBody>
      </p:sp>
      <p:sp>
        <p:nvSpPr>
          <p:cNvPr id="24" name="TextBox 23"/>
          <p:cNvSpPr txBox="1"/>
          <p:nvPr/>
        </p:nvSpPr>
        <p:spPr>
          <a:xfrm>
            <a:off x="731520" y="6172200"/>
            <a:ext cx="2286000" cy="182880"/>
          </a:xfrm>
          <a:prstGeom prst="rect">
            <a:avLst/>
          </a:prstGeom>
          <a:noFill/>
        </p:spPr>
        <p:txBody>
          <a:bodyPr wrap="square" lIns="0" tIns="0" rIns="0" bIns="0" anchor="ctr">
            <a:spAutoFit/>
          </a:bodyPr>
          <a:lstStyle/>
          <a:p>
            <a:pPr algn="l"/>
            <a:r>
              <a:rPr sz="1100" b="1" i="0">
                <a:solidFill>
                  <a:srgbClr val="FFFFFF"/>
                </a:solidFill>
                <a:latin typeface="Calibri"/>
              </a:rPr>
              <a:t>Kaushik Bhusan S.</a:t>
            </a:r>
          </a:p>
        </p:txBody>
      </p:sp>
      <p:sp>
        <p:nvSpPr>
          <p:cNvPr id="25" name="TextBox 24"/>
          <p:cNvSpPr txBox="1"/>
          <p:nvPr/>
        </p:nvSpPr>
        <p:spPr>
          <a:xfrm>
            <a:off x="731520" y="6345936"/>
            <a:ext cx="2286000" cy="173736"/>
          </a:xfrm>
          <a:prstGeom prst="rect">
            <a:avLst/>
          </a:prstGeom>
          <a:noFill/>
        </p:spPr>
        <p:txBody>
          <a:bodyPr wrap="square" lIns="0" tIns="0" rIns="0" bIns="0" anchor="ctr">
            <a:spAutoFit/>
          </a:bodyPr>
          <a:lstStyle/>
          <a:p>
            <a:pPr algn="l"/>
            <a:r>
              <a:rPr sz="800" b="0" i="0">
                <a:solidFill>
                  <a:srgbClr val="CADCFC"/>
                </a:solidFill>
                <a:latin typeface="Calibri"/>
              </a:rPr>
              <a:t>Claim intelligence engine &amp; retrieval</a:t>
            </a:r>
          </a:p>
        </p:txBody>
      </p:sp>
      <p:sp>
        <p:nvSpPr>
          <p:cNvPr id="26" name="TextBox 25"/>
          <p:cNvSpPr txBox="1"/>
          <p:nvPr/>
        </p:nvSpPr>
        <p:spPr>
          <a:xfrm>
            <a:off x="3108960" y="6172200"/>
            <a:ext cx="2286000" cy="182880"/>
          </a:xfrm>
          <a:prstGeom prst="rect">
            <a:avLst/>
          </a:prstGeom>
          <a:noFill/>
        </p:spPr>
        <p:txBody>
          <a:bodyPr wrap="square" lIns="0" tIns="0" rIns="0" bIns="0" anchor="ctr">
            <a:spAutoFit/>
          </a:bodyPr>
          <a:lstStyle/>
          <a:p>
            <a:pPr algn="l"/>
            <a:r>
              <a:rPr sz="1100" b="1" i="0">
                <a:solidFill>
                  <a:srgbClr val="FFFFFF"/>
                </a:solidFill>
                <a:latin typeface="Calibri"/>
              </a:rPr>
              <a:t>Magarkar Sakshi</a:t>
            </a:r>
          </a:p>
        </p:txBody>
      </p:sp>
      <p:sp>
        <p:nvSpPr>
          <p:cNvPr id="27" name="TextBox 26"/>
          <p:cNvSpPr txBox="1"/>
          <p:nvPr/>
        </p:nvSpPr>
        <p:spPr>
          <a:xfrm>
            <a:off x="3108960" y="6345936"/>
            <a:ext cx="2286000" cy="173736"/>
          </a:xfrm>
          <a:prstGeom prst="rect">
            <a:avLst/>
          </a:prstGeom>
          <a:noFill/>
        </p:spPr>
        <p:txBody>
          <a:bodyPr wrap="square" lIns="0" tIns="0" rIns="0" bIns="0" anchor="ctr">
            <a:spAutoFit/>
          </a:bodyPr>
          <a:lstStyle/>
          <a:p>
            <a:pPr algn="l"/>
            <a:r>
              <a:rPr sz="800" b="0" i="0">
                <a:solidFill>
                  <a:srgbClr val="CADCFC"/>
                </a:solidFill>
                <a:latin typeface="Calibri"/>
              </a:rPr>
              <a:t>Single-agent notebook &amp; Gen AI layer</a:t>
            </a:r>
          </a:p>
        </p:txBody>
      </p:sp>
      <p:sp>
        <p:nvSpPr>
          <p:cNvPr id="28" name="TextBox 27"/>
          <p:cNvSpPr txBox="1"/>
          <p:nvPr/>
        </p:nvSpPr>
        <p:spPr>
          <a:xfrm>
            <a:off x="5486400" y="6172200"/>
            <a:ext cx="2286000" cy="182880"/>
          </a:xfrm>
          <a:prstGeom prst="rect">
            <a:avLst/>
          </a:prstGeom>
          <a:noFill/>
        </p:spPr>
        <p:txBody>
          <a:bodyPr wrap="square" lIns="0" tIns="0" rIns="0" bIns="0" anchor="ctr">
            <a:spAutoFit/>
          </a:bodyPr>
          <a:lstStyle/>
          <a:p>
            <a:pPr algn="l"/>
            <a:r>
              <a:rPr sz="1100" b="1" i="0">
                <a:solidFill>
                  <a:srgbClr val="FFFFFF"/>
                </a:solidFill>
                <a:latin typeface="Calibri"/>
              </a:rPr>
              <a:t>Verma Ritik</a:t>
            </a:r>
          </a:p>
        </p:txBody>
      </p:sp>
      <p:sp>
        <p:nvSpPr>
          <p:cNvPr id="29" name="TextBox 28"/>
          <p:cNvSpPr txBox="1"/>
          <p:nvPr/>
        </p:nvSpPr>
        <p:spPr>
          <a:xfrm>
            <a:off x="5486400" y="6345936"/>
            <a:ext cx="2286000" cy="173736"/>
          </a:xfrm>
          <a:prstGeom prst="rect">
            <a:avLst/>
          </a:prstGeom>
          <a:noFill/>
        </p:spPr>
        <p:txBody>
          <a:bodyPr wrap="square" lIns="0" tIns="0" rIns="0" bIns="0" anchor="ctr">
            <a:spAutoFit/>
          </a:bodyPr>
          <a:lstStyle/>
          <a:p>
            <a:pPr algn="l"/>
            <a:r>
              <a:rPr sz="800" b="0" i="0">
                <a:solidFill>
                  <a:srgbClr val="CADCFC"/>
                </a:solidFill>
                <a:latin typeface="Calibri"/>
              </a:rPr>
              <a:t>Modular production structure &amp; APIs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1 · PROBLEM STATEMENT</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sz="3000" b="1">
                <a:solidFill>
                  <a:srgbClr val="10243E"/>
                </a:solidFill>
                <a:latin typeface="Calibri"/>
              </a:rPr>
              <a:t>A fund receives thousands of loss descriptions a year — and reads every one by hand</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2</a:t>
            </a:r>
            <a:endParaRPr lang="en-US" sz="1100" dirty="0"/>
          </a:p>
        </p:txBody>
      </p:sp>
      <p:sp>
        <p:nvSpPr>
          <p:cNvPr id="5" name="Shape 3"/>
          <p:cNvSpPr/>
          <p:nvPr/>
        </p:nvSpPr>
        <p:spPr>
          <a:xfrm>
            <a:off x="548640" y="1737360"/>
            <a:ext cx="4023360" cy="4389120"/>
          </a:xfrm>
          <a:prstGeom prst="roundRect">
            <a:avLst>
              <a:gd name="adj" fmla="val 2273"/>
            </a:avLst>
          </a:prstGeom>
          <a:solidFill>
            <a:srgbClr val="10243E"/>
          </a:solidFill>
          <a:ln w="12700">
            <a:solidFill>
              <a:srgbClr val="10243E"/>
            </a:solidFill>
            <a:prstDash val="solid"/>
          </a:ln>
        </p:spPr>
      </p:sp>
      <p:sp>
        <p:nvSpPr>
          <p:cNvPr id="6" name="Text 4"/>
          <p:cNvSpPr txBox="1"/>
          <p:nvPr/>
        </p:nvSpPr>
        <p:spPr>
          <a:xfrm>
            <a:off x="868680" y="2011680"/>
            <a:ext cx="3383280" cy="274320"/>
          </a:xfrm>
          <a:prstGeom prst="rect">
            <a:avLst/>
          </a:prstGeom>
          <a:noFill/>
          <a:ln/>
        </p:spPr>
        <p:txBody>
          <a:bodyPr wrap="square" lIns="0" tIns="0" rIns="0" bIns="0" rtlCol="0" anchor="ctr"/>
          <a:lstStyle/>
          <a:p>
            <a:pPr marL="0" indent="0">
              <a:buNone/>
            </a:pPr>
            <a:r>
              <a:rPr sz="1200" b="1">
                <a:solidFill>
                  <a:srgbClr val="93B4F5"/>
                </a:solidFill>
                <a:latin typeface="Calibri"/>
              </a:rPr>
              <a:t>THE REALITY TODAY</a:t>
            </a:r>
            <a:endParaRPr lang="en-US" sz="1200" dirty="0"/>
          </a:p>
        </p:txBody>
      </p:sp>
      <p:sp>
        <p:nvSpPr>
          <p:cNvPr id="7" name="Text 5"/>
          <p:cNvSpPr txBox="1"/>
          <p:nvPr/>
        </p:nvSpPr>
        <p:spPr>
          <a:xfrm>
            <a:off x="868680" y="2423160"/>
            <a:ext cx="3383280" cy="2377440"/>
          </a:xfrm>
          <a:prstGeom prst="rect">
            <a:avLst/>
          </a:prstGeom>
          <a:noFill/>
          <a:ln/>
        </p:spPr>
        <p:txBody>
          <a:bodyPr wrap="square" lIns="0" tIns="0" rIns="0" bIns="0" rtlCol="0" anchor="t"/>
          <a:lstStyle/>
          <a:p>
            <a:pPr marL="0" indent="0">
              <a:lnSpc>
                <a:spcPts val="1900"/>
              </a:lnSpc>
              <a:buNone/>
            </a:pPr>
            <a:r>
              <a:rPr sz="1300" b="1">
                <a:solidFill>
                  <a:srgbClr val="FFFFFF"/>
                </a:solidFill>
                <a:latin typeface="Calibri"/>
              </a:rPr>
              <a:t>The Wisconsin fund in our data handled 6,258 claims across 1,227 policies in five years. Every one of them was read, coded to a coverage, weighed against past cases from memory, and judged manually.</a:t>
            </a:r>
            <a:endParaRPr lang="en-US" sz="2400" dirty="0"/>
          </a:p>
          <a:p>
            <a:pPr>
              <a:lnSpc>
                <a:spcPts val="1900"/>
              </a:lnSpc>
              <a:spcBef>
                <a:spcPts val="800"/>
              </a:spcBef>
            </a:pPr>
            <a:r>
              <a:rPr sz="1300" b="1">
                <a:solidFill>
                  <a:srgbClr val="FFFFFF"/>
                </a:solidFill>
                <a:latin typeface="Calibri"/>
              </a:rPr>
              <a:t>At that volume the cost is not one slow claim. It is thousands of small, undocumented judgement calls that no one can reconstruct afterwards.</a:t>
            </a:r>
          </a:p>
        </p:txBody>
      </p:sp>
      <p:sp>
        <p:nvSpPr>
          <p:cNvPr id="8" name="Text 6"/>
          <p:cNvSpPr txBox="1"/>
          <p:nvPr/>
        </p:nvSpPr>
        <p:spPr>
          <a:xfrm>
            <a:off x="868680" y="4846320"/>
            <a:ext cx="3383280" cy="1005840"/>
          </a:xfrm>
          <a:prstGeom prst="rect">
            <a:avLst/>
          </a:prstGeom>
          <a:noFill/>
          <a:ln/>
        </p:spPr>
        <p:txBody>
          <a:bodyPr wrap="square" lIns="0" tIns="0" rIns="0" bIns="0" rtlCol="0" anchor="t"/>
          <a:lstStyle/>
          <a:p>
            <a:pPr marL="0" indent="0">
              <a:buNone/>
            </a:pPr>
            <a:r>
              <a:rPr sz="1100">
                <a:solidFill>
                  <a:srgbClr val="CADCFC"/>
                </a:solidFill>
                <a:latin typeface="Calibri"/>
              </a:rPr>
              <a:t>The opportunity: the fund already owns the evidence. It just isn’t available at the moment of decision.</a:t>
            </a:r>
            <a:endParaRPr lang="en-US" sz="1400" dirty="0"/>
          </a:p>
        </p:txBody>
      </p:sp>
      <p:sp>
        <p:nvSpPr>
          <p:cNvPr id="9" name="Shape 7"/>
          <p:cNvSpPr/>
          <p:nvPr/>
        </p:nvSpPr>
        <p:spPr>
          <a:xfrm>
            <a:off x="4846320" y="1737360"/>
            <a:ext cx="6793992" cy="786384"/>
          </a:xfrm>
          <a:prstGeom prst="roundRect">
            <a:avLst>
              <a:gd name="adj" fmla="val 11628"/>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Shape 8"/>
          <p:cNvSpPr/>
          <p:nvPr/>
        </p:nvSpPr>
        <p:spPr>
          <a:xfrm>
            <a:off x="5029200" y="1874520"/>
            <a:ext cx="512064" cy="512064"/>
          </a:xfrm>
          <a:prstGeom prst="ellipse">
            <a:avLst/>
          </a:prstGeom>
          <a:solidFill>
            <a:srgbClr val="2563EB"/>
          </a:solidFill>
          <a:ln w="12700">
            <a:solidFill>
              <a:srgbClr val="2563EB"/>
            </a:solidFill>
            <a:prstDash val="solid"/>
          </a:ln>
        </p:spPr>
      </p:sp>
      <p:pic>
        <p:nvPicPr>
          <p:cNvPr id="11" name="Image 0" descr="preencoded.png"/>
          <p:cNvPicPr>
            <a:picLocks noChangeAspect="1"/>
          </p:cNvPicPr>
          <p:nvPr/>
        </p:nvPicPr>
        <p:blipFill>
          <a:blip r:embed="rId3"/>
          <a:stretch>
            <a:fillRect/>
          </a:stretch>
        </p:blipFill>
        <p:spPr>
          <a:xfrm>
            <a:off x="5157216" y="2002536"/>
            <a:ext cx="256032" cy="256032"/>
          </a:xfrm>
          <a:prstGeom prst="rect">
            <a:avLst/>
          </a:prstGeom>
        </p:spPr>
      </p:pic>
      <p:sp>
        <p:nvSpPr>
          <p:cNvPr id="12" name="Text 9"/>
          <p:cNvSpPr txBox="1"/>
          <p:nvPr/>
        </p:nvSpPr>
        <p:spPr>
          <a:xfrm>
            <a:off x="5715000" y="1828800"/>
            <a:ext cx="5760720" cy="320040"/>
          </a:xfrm>
          <a:prstGeom prst="rect">
            <a:avLst/>
          </a:prstGeom>
          <a:noFill/>
          <a:ln/>
        </p:spPr>
        <p:txBody>
          <a:bodyPr wrap="square" lIns="0" tIns="0" rIns="0" bIns="0" rtlCol="0" anchor="ctr"/>
          <a:lstStyle/>
          <a:p>
            <a:pPr marL="0" indent="0">
              <a:buNone/>
            </a:pPr>
            <a:r>
              <a:rPr sz="1800" b="1">
                <a:solidFill>
                  <a:srgbClr val="10243E"/>
                </a:solidFill>
                <a:latin typeface="Calibri"/>
              </a:rPr>
              <a:t>Manual review</a:t>
            </a:r>
            <a:endParaRPr lang="en-US" sz="1800" dirty="0"/>
          </a:p>
        </p:txBody>
      </p:sp>
      <p:sp>
        <p:nvSpPr>
          <p:cNvPr id="13" name="Text 10"/>
          <p:cNvSpPr txBox="1"/>
          <p:nvPr/>
        </p:nvSpPr>
        <p:spPr>
          <a:xfrm>
            <a:off x="5715000" y="2157984"/>
            <a:ext cx="5760720" cy="292608"/>
          </a:xfrm>
          <a:prstGeom prst="rect">
            <a:avLst/>
          </a:prstGeom>
          <a:noFill/>
          <a:ln/>
        </p:spPr>
        <p:txBody>
          <a:bodyPr wrap="square" lIns="0" tIns="0" rIns="0" bIns="0" rtlCol="0" anchor="ctr"/>
          <a:lstStyle/>
          <a:p>
            <a:pPr marL="0" indent="0">
              <a:buNone/>
            </a:pPr>
            <a:r>
              <a:rPr sz="1050">
                <a:solidFill>
                  <a:srgbClr val="5B6B82"/>
                </a:solidFill>
                <a:latin typeface="Calibri"/>
              </a:rPr>
              <a:t>Every description is read, interpreted and coded one claim at a time</a:t>
            </a:r>
            <a:endParaRPr lang="en-US" sz="1400" dirty="0"/>
          </a:p>
        </p:txBody>
      </p:sp>
      <p:sp>
        <p:nvSpPr>
          <p:cNvPr id="14" name="Shape 11"/>
          <p:cNvSpPr/>
          <p:nvPr/>
        </p:nvSpPr>
        <p:spPr>
          <a:xfrm>
            <a:off x="4846320" y="2633472"/>
            <a:ext cx="6793992" cy="786384"/>
          </a:xfrm>
          <a:prstGeom prst="roundRect">
            <a:avLst>
              <a:gd name="adj" fmla="val 11628"/>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5" name="Shape 12"/>
          <p:cNvSpPr/>
          <p:nvPr/>
        </p:nvSpPr>
        <p:spPr>
          <a:xfrm>
            <a:off x="5029200" y="2770632"/>
            <a:ext cx="512064" cy="512064"/>
          </a:xfrm>
          <a:prstGeom prst="ellipse">
            <a:avLst/>
          </a:prstGeom>
          <a:solidFill>
            <a:srgbClr val="2563EB"/>
          </a:solidFill>
          <a:ln w="12700">
            <a:solidFill>
              <a:srgbClr val="2563EB"/>
            </a:solidFill>
            <a:prstDash val="solid"/>
          </a:ln>
        </p:spPr>
      </p:sp>
      <p:pic>
        <p:nvPicPr>
          <p:cNvPr id="16" name="Image 1" descr="preencoded.png"/>
          <p:cNvPicPr>
            <a:picLocks noChangeAspect="1"/>
          </p:cNvPicPr>
          <p:nvPr/>
        </p:nvPicPr>
        <p:blipFill>
          <a:blip r:embed="rId4"/>
          <a:stretch>
            <a:fillRect/>
          </a:stretch>
        </p:blipFill>
        <p:spPr>
          <a:xfrm>
            <a:off x="5157216" y="2898648"/>
            <a:ext cx="256032" cy="256032"/>
          </a:xfrm>
          <a:prstGeom prst="rect">
            <a:avLst/>
          </a:prstGeom>
        </p:spPr>
      </p:pic>
      <p:sp>
        <p:nvSpPr>
          <p:cNvPr id="17" name="Text 13"/>
          <p:cNvSpPr txBox="1"/>
          <p:nvPr/>
        </p:nvSpPr>
        <p:spPr>
          <a:xfrm>
            <a:off x="5715000" y="2724912"/>
            <a:ext cx="5760720" cy="320040"/>
          </a:xfrm>
          <a:prstGeom prst="rect">
            <a:avLst/>
          </a:prstGeom>
          <a:noFill/>
          <a:ln/>
        </p:spPr>
        <p:txBody>
          <a:bodyPr wrap="square" lIns="0" tIns="0" rIns="0" bIns="0" rtlCol="0" anchor="ctr"/>
          <a:lstStyle/>
          <a:p>
            <a:pPr marL="0" indent="0">
              <a:buNone/>
            </a:pPr>
            <a:r>
              <a:rPr sz="1800" b="1">
                <a:solidFill>
                  <a:srgbClr val="10243E"/>
                </a:solidFill>
                <a:latin typeface="Calibri"/>
              </a:rPr>
              <a:t>Inconsistent coverage</a:t>
            </a:r>
            <a:endParaRPr lang="en-US" sz="1800" dirty="0"/>
          </a:p>
        </p:txBody>
      </p:sp>
      <p:sp>
        <p:nvSpPr>
          <p:cNvPr id="18" name="Text 14"/>
          <p:cNvSpPr txBox="1"/>
          <p:nvPr/>
        </p:nvSpPr>
        <p:spPr>
          <a:xfrm>
            <a:off x="5715000" y="3054096"/>
            <a:ext cx="5760720" cy="292608"/>
          </a:xfrm>
          <a:prstGeom prst="rect">
            <a:avLst/>
          </a:prstGeom>
          <a:noFill/>
          <a:ln/>
        </p:spPr>
        <p:txBody>
          <a:bodyPr wrap="square" lIns="0" tIns="0" rIns="0" bIns="0" rtlCol="0" anchor="ctr"/>
          <a:lstStyle/>
          <a:p>
            <a:pPr marL="0" indent="0">
              <a:buNone/>
            </a:pPr>
            <a:r>
              <a:rPr sz="1050">
                <a:solidFill>
                  <a:srgbClr val="5B6B82"/>
                </a:solidFill>
                <a:latin typeface="Calibri"/>
              </a:rPr>
              <a:t>The same wording can be coded differently by two reviewers — or by one on two days</a:t>
            </a:r>
            <a:endParaRPr lang="en-US" sz="1400" dirty="0"/>
          </a:p>
        </p:txBody>
      </p:sp>
      <p:sp>
        <p:nvSpPr>
          <p:cNvPr id="19" name="Shape 15"/>
          <p:cNvSpPr/>
          <p:nvPr/>
        </p:nvSpPr>
        <p:spPr>
          <a:xfrm>
            <a:off x="4846320" y="3529584"/>
            <a:ext cx="6793992" cy="786384"/>
          </a:xfrm>
          <a:prstGeom prst="roundRect">
            <a:avLst>
              <a:gd name="adj" fmla="val 11628"/>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0" name="Shape 16"/>
          <p:cNvSpPr/>
          <p:nvPr/>
        </p:nvSpPr>
        <p:spPr>
          <a:xfrm>
            <a:off x="5029200" y="3666744"/>
            <a:ext cx="512064" cy="512064"/>
          </a:xfrm>
          <a:prstGeom prst="ellipse">
            <a:avLst/>
          </a:prstGeom>
          <a:solidFill>
            <a:srgbClr val="2563EB"/>
          </a:solidFill>
          <a:ln w="12700">
            <a:solidFill>
              <a:srgbClr val="2563EB"/>
            </a:solidFill>
            <a:prstDash val="solid"/>
          </a:ln>
        </p:spPr>
      </p:sp>
      <p:pic>
        <p:nvPicPr>
          <p:cNvPr id="21" name="Image 2" descr="preencoded.png"/>
          <p:cNvPicPr>
            <a:picLocks noChangeAspect="1"/>
          </p:cNvPicPr>
          <p:nvPr/>
        </p:nvPicPr>
        <p:blipFill>
          <a:blip r:embed="rId5"/>
          <a:stretch>
            <a:fillRect/>
          </a:stretch>
        </p:blipFill>
        <p:spPr>
          <a:xfrm>
            <a:off x="5157216" y="3794760"/>
            <a:ext cx="256032" cy="256032"/>
          </a:xfrm>
          <a:prstGeom prst="rect">
            <a:avLst/>
          </a:prstGeom>
        </p:spPr>
      </p:pic>
      <p:sp>
        <p:nvSpPr>
          <p:cNvPr id="22" name="Text 17"/>
          <p:cNvSpPr txBox="1"/>
          <p:nvPr/>
        </p:nvSpPr>
        <p:spPr>
          <a:xfrm>
            <a:off x="5715000" y="3621024"/>
            <a:ext cx="5760720" cy="320040"/>
          </a:xfrm>
          <a:prstGeom prst="rect">
            <a:avLst/>
          </a:prstGeom>
          <a:noFill/>
          <a:ln/>
        </p:spPr>
        <p:txBody>
          <a:bodyPr wrap="square" lIns="0" tIns="0" rIns="0" bIns="0" rtlCol="0" anchor="ctr"/>
          <a:lstStyle/>
          <a:p>
            <a:pPr marL="0" indent="0">
              <a:buNone/>
            </a:pPr>
            <a:r>
              <a:rPr sz="1800" b="1">
                <a:solidFill>
                  <a:srgbClr val="10243E"/>
                </a:solidFill>
                <a:latin typeface="Calibri"/>
              </a:rPr>
              <a:t>No historical context</a:t>
            </a:r>
            <a:endParaRPr lang="en-US" sz="1800" dirty="0"/>
          </a:p>
        </p:txBody>
      </p:sp>
      <p:sp>
        <p:nvSpPr>
          <p:cNvPr id="23" name="Text 18"/>
          <p:cNvSpPr txBox="1"/>
          <p:nvPr/>
        </p:nvSpPr>
        <p:spPr>
          <a:xfrm>
            <a:off x="5715000" y="3950208"/>
            <a:ext cx="5760720" cy="292608"/>
          </a:xfrm>
          <a:prstGeom prst="rect">
            <a:avLst/>
          </a:prstGeom>
          <a:noFill/>
          <a:ln/>
        </p:spPr>
        <p:txBody>
          <a:bodyPr wrap="square" lIns="0" tIns="0" rIns="0" bIns="0" rtlCol="0" anchor="ctr"/>
          <a:lstStyle/>
          <a:p>
            <a:pPr marL="0" indent="0">
              <a:buNone/>
            </a:pPr>
            <a:r>
              <a:rPr sz="1050">
                <a:solidFill>
                  <a:srgbClr val="5B6B82"/>
                </a:solidFill>
                <a:latin typeface="Calibri"/>
              </a:rPr>
              <a:t>Thousands of near-identical past claims exist, but are not searchable at decision time</a:t>
            </a:r>
            <a:endParaRPr lang="en-US" sz="1400" dirty="0"/>
          </a:p>
        </p:txBody>
      </p:sp>
      <p:sp>
        <p:nvSpPr>
          <p:cNvPr id="24" name="Shape 19"/>
          <p:cNvSpPr/>
          <p:nvPr/>
        </p:nvSpPr>
        <p:spPr>
          <a:xfrm>
            <a:off x="4846320" y="4425696"/>
            <a:ext cx="6793992" cy="786384"/>
          </a:xfrm>
          <a:prstGeom prst="roundRect">
            <a:avLst>
              <a:gd name="adj" fmla="val 11628"/>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5" name="Shape 20"/>
          <p:cNvSpPr/>
          <p:nvPr/>
        </p:nvSpPr>
        <p:spPr>
          <a:xfrm>
            <a:off x="5029200" y="4562856"/>
            <a:ext cx="512064" cy="512064"/>
          </a:xfrm>
          <a:prstGeom prst="ellipse">
            <a:avLst/>
          </a:prstGeom>
          <a:solidFill>
            <a:srgbClr val="2563EB"/>
          </a:solidFill>
          <a:ln w="12700">
            <a:solidFill>
              <a:srgbClr val="2563EB"/>
            </a:solidFill>
            <a:prstDash val="solid"/>
          </a:ln>
        </p:spPr>
      </p:sp>
      <p:pic>
        <p:nvPicPr>
          <p:cNvPr id="26" name="Image 3" descr="preencoded.png"/>
          <p:cNvPicPr>
            <a:picLocks noChangeAspect="1"/>
          </p:cNvPicPr>
          <p:nvPr/>
        </p:nvPicPr>
        <p:blipFill>
          <a:blip r:embed="rId6"/>
          <a:stretch>
            <a:fillRect/>
          </a:stretch>
        </p:blipFill>
        <p:spPr>
          <a:xfrm>
            <a:off x="5157216" y="4690872"/>
            <a:ext cx="256032" cy="256032"/>
          </a:xfrm>
          <a:prstGeom prst="rect">
            <a:avLst/>
          </a:prstGeom>
        </p:spPr>
      </p:pic>
      <p:sp>
        <p:nvSpPr>
          <p:cNvPr id="27" name="Text 21"/>
          <p:cNvSpPr txBox="1"/>
          <p:nvPr/>
        </p:nvSpPr>
        <p:spPr>
          <a:xfrm>
            <a:off x="5715000" y="4517136"/>
            <a:ext cx="5760720" cy="320040"/>
          </a:xfrm>
          <a:prstGeom prst="rect">
            <a:avLst/>
          </a:prstGeom>
          <a:noFill/>
          <a:ln/>
        </p:spPr>
        <p:txBody>
          <a:bodyPr wrap="square" lIns="0" tIns="0" rIns="0" bIns="0" rtlCol="0" anchor="ctr"/>
          <a:lstStyle/>
          <a:p>
            <a:pPr marL="0" indent="0">
              <a:buNone/>
            </a:pPr>
            <a:r>
              <a:rPr sz="1800" b="1">
                <a:solidFill>
                  <a:srgbClr val="10243E"/>
                </a:solidFill>
                <a:latin typeface="Calibri"/>
              </a:rPr>
              <a:t>Weak explainability</a:t>
            </a:r>
            <a:endParaRPr lang="en-US" sz="1800" dirty="0"/>
          </a:p>
        </p:txBody>
      </p:sp>
      <p:sp>
        <p:nvSpPr>
          <p:cNvPr id="28" name="Text 22"/>
          <p:cNvSpPr txBox="1"/>
          <p:nvPr/>
        </p:nvSpPr>
        <p:spPr>
          <a:xfrm>
            <a:off x="5715000" y="4846320"/>
            <a:ext cx="5760720" cy="292608"/>
          </a:xfrm>
          <a:prstGeom prst="rect">
            <a:avLst/>
          </a:prstGeom>
          <a:noFill/>
          <a:ln/>
        </p:spPr>
        <p:txBody>
          <a:bodyPr wrap="square" lIns="0" tIns="0" rIns="0" bIns="0" rtlCol="0" anchor="ctr"/>
          <a:lstStyle/>
          <a:p>
            <a:pPr marL="0" indent="0">
              <a:buNone/>
            </a:pPr>
            <a:r>
              <a:rPr sz="1050">
                <a:solidFill>
                  <a:srgbClr val="5B6B82"/>
                </a:solidFill>
                <a:latin typeface="Calibri"/>
              </a:rPr>
              <a:t>A score without a reason cannot be defended to an auditor or to the policyholder</a:t>
            </a:r>
            <a:endParaRPr lang="en-US" sz="1400" dirty="0"/>
          </a:p>
        </p:txBody>
      </p:sp>
      <p:sp>
        <p:nvSpPr>
          <p:cNvPr id="29" name="Shape 23"/>
          <p:cNvSpPr/>
          <p:nvPr/>
        </p:nvSpPr>
        <p:spPr>
          <a:xfrm>
            <a:off x="4846320" y="5321808"/>
            <a:ext cx="6793992" cy="786384"/>
          </a:xfrm>
          <a:prstGeom prst="roundRect">
            <a:avLst>
              <a:gd name="adj" fmla="val 11628"/>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0" name="Shape 24"/>
          <p:cNvSpPr/>
          <p:nvPr/>
        </p:nvSpPr>
        <p:spPr>
          <a:xfrm>
            <a:off x="5029200" y="5458968"/>
            <a:ext cx="512064" cy="512064"/>
          </a:xfrm>
          <a:prstGeom prst="ellipse">
            <a:avLst/>
          </a:prstGeom>
          <a:solidFill>
            <a:srgbClr val="2563EB"/>
          </a:solidFill>
          <a:ln w="12700">
            <a:solidFill>
              <a:srgbClr val="2563EB"/>
            </a:solidFill>
            <a:prstDash val="solid"/>
          </a:ln>
        </p:spPr>
      </p:sp>
      <p:pic>
        <p:nvPicPr>
          <p:cNvPr id="31" name="Image 4" descr="preencoded.png"/>
          <p:cNvPicPr>
            <a:picLocks noChangeAspect="1"/>
          </p:cNvPicPr>
          <p:nvPr/>
        </p:nvPicPr>
        <p:blipFill>
          <a:blip r:embed="rId7"/>
          <a:stretch>
            <a:fillRect/>
          </a:stretch>
        </p:blipFill>
        <p:spPr>
          <a:xfrm>
            <a:off x="5157216" y="5586984"/>
            <a:ext cx="256032" cy="256032"/>
          </a:xfrm>
          <a:prstGeom prst="rect">
            <a:avLst/>
          </a:prstGeom>
        </p:spPr>
      </p:pic>
      <p:sp>
        <p:nvSpPr>
          <p:cNvPr id="32" name="Text 25"/>
          <p:cNvSpPr txBox="1"/>
          <p:nvPr/>
        </p:nvSpPr>
        <p:spPr>
          <a:xfrm>
            <a:off x="5715000" y="5413248"/>
            <a:ext cx="5760720" cy="320040"/>
          </a:xfrm>
          <a:prstGeom prst="rect">
            <a:avLst/>
          </a:prstGeom>
          <a:noFill/>
          <a:ln/>
        </p:spPr>
        <p:txBody>
          <a:bodyPr wrap="square" lIns="0" tIns="0" rIns="0" bIns="0" rtlCol="0" anchor="ctr"/>
          <a:lstStyle/>
          <a:p>
            <a:pPr marL="0" indent="0">
              <a:buNone/>
            </a:pPr>
            <a:r>
              <a:rPr sz="1800" b="1">
                <a:solidFill>
                  <a:srgbClr val="10243E"/>
                </a:solidFill>
                <a:latin typeface="Calibri"/>
              </a:rPr>
              <a:t>Undifferentiated queue</a:t>
            </a:r>
            <a:endParaRPr lang="en-US" sz="1800" dirty="0"/>
          </a:p>
        </p:txBody>
      </p:sp>
      <p:sp>
        <p:nvSpPr>
          <p:cNvPr id="33" name="Text 26"/>
          <p:cNvSpPr txBox="1"/>
          <p:nvPr/>
        </p:nvSpPr>
        <p:spPr>
          <a:xfrm>
            <a:off x="5715000" y="5742432"/>
            <a:ext cx="5760720" cy="292608"/>
          </a:xfrm>
          <a:prstGeom prst="rect">
            <a:avLst/>
          </a:prstGeom>
          <a:noFill/>
          <a:ln/>
        </p:spPr>
        <p:txBody>
          <a:bodyPr wrap="square" lIns="0" tIns="0" rIns="0" bIns="0" rtlCol="0" anchor="ctr"/>
          <a:lstStyle/>
          <a:p>
            <a:pPr marL="0" indent="0">
              <a:buNone/>
            </a:pPr>
            <a:r>
              <a:rPr sz="1050">
                <a:solidFill>
                  <a:srgbClr val="5B6B82"/>
                </a:solidFill>
                <a:latin typeface="Calibri"/>
              </a:rPr>
              <a:t>A routine $1,200 claim and a $5M outlier wait in exactly the same line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144000" cy="274320"/>
          </a:xfrm>
          <a:prstGeom prst="rect">
            <a:avLst/>
          </a:prstGeom>
          <a:noFill/>
        </p:spPr>
        <p:txBody>
          <a:bodyPr wrap="square" lIns="0" tIns="0" rIns="0" bIns="0" anchor="ctr">
            <a:spAutoFit/>
          </a:bodyPr>
          <a:lstStyle/>
          <a:p>
            <a:pPr algn="l"/>
            <a:r>
              <a:rPr sz="1100" b="1" i="0" spc="180">
                <a:solidFill>
                  <a:srgbClr val="2563EB"/>
                </a:solidFill>
                <a:latin typeface="Calibri"/>
              </a:rPr>
              <a:t>1 · PROBLEM STATEMENT — THE REAL-WORLD TEST</a:t>
            </a:r>
          </a:p>
        </p:txBody>
      </p:sp>
      <p:sp>
        <p:nvSpPr>
          <p:cNvPr id="3" name="TextBox 2"/>
          <p:cNvSpPr txBox="1"/>
          <p:nvPr/>
        </p:nvSpPr>
        <p:spPr>
          <a:xfrm>
            <a:off x="548640" y="640080"/>
            <a:ext cx="11064240" cy="700000"/>
          </a:xfrm>
          <a:prstGeom prst="rect">
            <a:avLst/>
          </a:prstGeom>
          <a:noFill/>
        </p:spPr>
        <p:txBody>
          <a:bodyPr wrap="square" lIns="0" tIns="0" rIns="0" bIns="0" anchor="ctr">
            <a:spAutoFit/>
          </a:bodyPr>
          <a:lstStyle/>
          <a:p>
            <a:pPr algn="l"/>
            <a:r>
              <a:rPr sz="2800" b="1" i="0">
                <a:solidFill>
                  <a:srgbClr val="10243E"/>
                </a:solidFill>
                <a:latin typeface="Calibri"/>
              </a:rPr>
              <a:t>Four questions an assessor asks on every single claim</a:t>
            </a:r>
          </a:p>
        </p:txBody>
      </p:sp>
      <p:sp>
        <p:nvSpPr>
          <p:cNvPr id="4" name="TextBox 3"/>
          <p:cNvSpPr txBox="1"/>
          <p:nvPr/>
        </p:nvSpPr>
        <p:spPr>
          <a:xfrm>
            <a:off x="11155680" y="6419088"/>
            <a:ext cx="484632" cy="274320"/>
          </a:xfrm>
          <a:prstGeom prst="rect">
            <a:avLst/>
          </a:prstGeom>
          <a:noFill/>
        </p:spPr>
        <p:txBody>
          <a:bodyPr wrap="square" lIns="0" tIns="0" rIns="0" bIns="0" anchor="ctr">
            <a:spAutoFit/>
          </a:bodyPr>
          <a:lstStyle/>
          <a:p>
            <a:pPr algn="r"/>
            <a:r>
              <a:rPr sz="1000" b="0" i="0">
                <a:solidFill>
                  <a:srgbClr val="5B6B82"/>
                </a:solidFill>
                <a:latin typeface="Calibri"/>
              </a:rPr>
              <a:t>3</a:t>
            </a:r>
          </a:p>
        </p:txBody>
      </p:sp>
      <p:sp>
        <p:nvSpPr>
          <p:cNvPr id="5" name="Rounded Rectangle 4"/>
          <p:cNvSpPr/>
          <p:nvPr/>
        </p:nvSpPr>
        <p:spPr>
          <a:xfrm>
            <a:off x="548640" y="1645920"/>
            <a:ext cx="5443728" cy="1783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41248" y="1892808"/>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1</a:t>
            </a:r>
          </a:p>
        </p:txBody>
      </p:sp>
      <p:sp>
        <p:nvSpPr>
          <p:cNvPr id="7" name="TextBox 6"/>
          <p:cNvSpPr txBox="1"/>
          <p:nvPr/>
        </p:nvSpPr>
        <p:spPr>
          <a:xfrm>
            <a:off x="1335024" y="1874520"/>
            <a:ext cx="4346448" cy="438912"/>
          </a:xfrm>
          <a:prstGeom prst="rect">
            <a:avLst/>
          </a:prstGeom>
          <a:noFill/>
        </p:spPr>
        <p:txBody>
          <a:bodyPr wrap="square" lIns="0" tIns="0" rIns="0" bIns="0" anchor="ctr">
            <a:spAutoFit/>
          </a:bodyPr>
          <a:lstStyle/>
          <a:p>
            <a:pPr algn="l"/>
            <a:r>
              <a:rPr sz="1500" b="1" i="0">
                <a:solidFill>
                  <a:srgbClr val="10243E"/>
                </a:solidFill>
                <a:latin typeface="Calibri"/>
              </a:rPr>
              <a:t>“What is this claim actually for?”</a:t>
            </a:r>
          </a:p>
        </p:txBody>
      </p:sp>
      <p:sp>
        <p:nvSpPr>
          <p:cNvPr id="8" name="TextBox 7"/>
          <p:cNvSpPr txBox="1"/>
          <p:nvPr/>
        </p:nvSpPr>
        <p:spPr>
          <a:xfrm>
            <a:off x="841248" y="2432304"/>
            <a:ext cx="4858512" cy="914400"/>
          </a:xfrm>
          <a:prstGeom prst="rect">
            <a:avLst/>
          </a:prstGeom>
          <a:noFill/>
        </p:spPr>
        <p:txBody>
          <a:bodyPr wrap="square" lIns="0" tIns="0" rIns="0" bIns="0" anchor="t">
            <a:spAutoFit/>
          </a:bodyPr>
          <a:lstStyle/>
          <a:p>
            <a:pPr algn="l"/>
            <a:r>
              <a:rPr sz="1000" b="1" i="0">
                <a:solidFill>
                  <a:srgbClr val="5B6B82"/>
                </a:solidFill>
                <a:latin typeface="Calibri"/>
              </a:rPr>
              <a:t>Today</a:t>
            </a:r>
            <a:r>
              <a:rPr sz="1000" b="0" i="0">
                <a:solidFill>
                  <a:srgbClr val="5B6B82"/>
                </a:solidFill>
                <a:latin typeface="Calibri"/>
              </a:rPr>
              <a:t>  ·  The reviewer reads free text such as “windblewstackoffanddamagedroof” and assigns a coverage code from experience.</a:t>
            </a:r>
          </a:p>
          <a:p>
            <a:pPr algn="l">
              <a:spcBef>
                <a:spcPts val="700"/>
              </a:spcBef>
            </a:pPr>
            <a:r>
              <a:rPr sz="1000" b="1" i="0">
                <a:solidFill>
                  <a:srgbClr val="2563EB"/>
                </a:solidFill>
                <a:latin typeface="Calibri"/>
              </a:rPr>
              <a:t>With the system</a:t>
            </a:r>
            <a:r>
              <a:rPr sz="1000" b="0" i="0">
                <a:solidFill>
                  <a:srgbClr val="10243E"/>
                </a:solidFill>
                <a:latin typeface="Calibri"/>
              </a:rPr>
              <a:t>  ·  A coverage prediction with an explicit confidence score, so low-certainty cases announce themselves.</a:t>
            </a:r>
          </a:p>
        </p:txBody>
      </p:sp>
      <p:sp>
        <p:nvSpPr>
          <p:cNvPr id="9" name="Rounded Rectangle 8"/>
          <p:cNvSpPr/>
          <p:nvPr/>
        </p:nvSpPr>
        <p:spPr>
          <a:xfrm>
            <a:off x="6248400" y="1645920"/>
            <a:ext cx="5443728" cy="1783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541008" y="1892808"/>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2</a:t>
            </a:r>
          </a:p>
        </p:txBody>
      </p:sp>
      <p:sp>
        <p:nvSpPr>
          <p:cNvPr id="11" name="TextBox 10"/>
          <p:cNvSpPr txBox="1"/>
          <p:nvPr/>
        </p:nvSpPr>
        <p:spPr>
          <a:xfrm>
            <a:off x="7034784" y="1874520"/>
            <a:ext cx="4346448" cy="438912"/>
          </a:xfrm>
          <a:prstGeom prst="rect">
            <a:avLst/>
          </a:prstGeom>
          <a:noFill/>
        </p:spPr>
        <p:txBody>
          <a:bodyPr wrap="square" lIns="0" tIns="0" rIns="0" bIns="0" anchor="ctr">
            <a:spAutoFit/>
          </a:bodyPr>
          <a:lstStyle/>
          <a:p>
            <a:pPr algn="l"/>
            <a:r>
              <a:rPr sz="1500" b="1" i="0">
                <a:solidFill>
                  <a:srgbClr val="10243E"/>
                </a:solidFill>
                <a:latin typeface="Calibri"/>
              </a:rPr>
              <a:t>“Have we seen anything like this before?”</a:t>
            </a:r>
          </a:p>
        </p:txBody>
      </p:sp>
      <p:sp>
        <p:nvSpPr>
          <p:cNvPr id="12" name="TextBox 11"/>
          <p:cNvSpPr txBox="1"/>
          <p:nvPr/>
        </p:nvSpPr>
        <p:spPr>
          <a:xfrm>
            <a:off x="6541008" y="2432304"/>
            <a:ext cx="4858512" cy="914400"/>
          </a:xfrm>
          <a:prstGeom prst="rect">
            <a:avLst/>
          </a:prstGeom>
          <a:noFill/>
        </p:spPr>
        <p:txBody>
          <a:bodyPr wrap="square" lIns="0" tIns="0" rIns="0" bIns="0" anchor="t">
            <a:spAutoFit/>
          </a:bodyPr>
          <a:lstStyle/>
          <a:p>
            <a:pPr algn="l"/>
            <a:r>
              <a:rPr sz="1000" b="1" i="0">
                <a:solidFill>
                  <a:srgbClr val="5B6B82"/>
                </a:solidFill>
                <a:latin typeface="Calibri"/>
              </a:rPr>
              <a:t>Today</a:t>
            </a:r>
            <a:r>
              <a:rPr sz="1000" b="0" i="0">
                <a:solidFill>
                  <a:srgbClr val="5B6B82"/>
                </a:solidFill>
                <a:latin typeface="Calibri"/>
              </a:rPr>
              <a:t>  ·  Past claims exist in the system but there is no practical way to search them mid-review.</a:t>
            </a:r>
          </a:p>
          <a:p>
            <a:pPr algn="l">
              <a:spcBef>
                <a:spcPts val="700"/>
              </a:spcBef>
            </a:pPr>
            <a:r>
              <a:rPr sz="1000" b="1" i="0">
                <a:solidFill>
                  <a:srgbClr val="2563EB"/>
                </a:solidFill>
                <a:latin typeface="Calibri"/>
              </a:rPr>
              <a:t>With the system</a:t>
            </a:r>
            <a:r>
              <a:rPr sz="1000" b="0" i="0">
                <a:solidFill>
                  <a:srgbClr val="10243E"/>
                </a:solidFill>
                <a:latin typeface="Calibri"/>
              </a:rPr>
              <a:t>  ·  The five most similar historical claims, with their coverage and a similarity score, surfaced automatically.</a:t>
            </a:r>
          </a:p>
        </p:txBody>
      </p:sp>
      <p:sp>
        <p:nvSpPr>
          <p:cNvPr id="13" name="Rounded Rectangle 12"/>
          <p:cNvSpPr/>
          <p:nvPr/>
        </p:nvSpPr>
        <p:spPr>
          <a:xfrm>
            <a:off x="548640" y="3648456"/>
            <a:ext cx="5443728" cy="1783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41248" y="3895344"/>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3</a:t>
            </a:r>
          </a:p>
        </p:txBody>
      </p:sp>
      <p:sp>
        <p:nvSpPr>
          <p:cNvPr id="15" name="TextBox 14"/>
          <p:cNvSpPr txBox="1"/>
          <p:nvPr/>
        </p:nvSpPr>
        <p:spPr>
          <a:xfrm>
            <a:off x="1335024" y="3877056"/>
            <a:ext cx="4346448" cy="438912"/>
          </a:xfrm>
          <a:prstGeom prst="rect">
            <a:avLst/>
          </a:prstGeom>
          <a:noFill/>
        </p:spPr>
        <p:txBody>
          <a:bodyPr wrap="square" lIns="0" tIns="0" rIns="0" bIns="0" anchor="ctr">
            <a:spAutoFit/>
          </a:bodyPr>
          <a:lstStyle/>
          <a:p>
            <a:pPr algn="l"/>
            <a:r>
              <a:rPr sz="1500" b="1" i="0">
                <a:solidFill>
                  <a:srgbClr val="10243E"/>
                </a:solidFill>
                <a:latin typeface="Calibri"/>
              </a:rPr>
              <a:t>“Is this amount reasonable for this kind of loss?”</a:t>
            </a:r>
          </a:p>
        </p:txBody>
      </p:sp>
      <p:sp>
        <p:nvSpPr>
          <p:cNvPr id="16" name="TextBox 15"/>
          <p:cNvSpPr txBox="1"/>
          <p:nvPr/>
        </p:nvSpPr>
        <p:spPr>
          <a:xfrm>
            <a:off x="841248" y="4434840"/>
            <a:ext cx="4858512" cy="914400"/>
          </a:xfrm>
          <a:prstGeom prst="rect">
            <a:avLst/>
          </a:prstGeom>
          <a:noFill/>
        </p:spPr>
        <p:txBody>
          <a:bodyPr wrap="square" lIns="0" tIns="0" rIns="0" bIns="0" anchor="t">
            <a:spAutoFit/>
          </a:bodyPr>
          <a:lstStyle/>
          <a:p>
            <a:pPr algn="l"/>
            <a:r>
              <a:rPr sz="1000" b="1" i="0">
                <a:solidFill>
                  <a:srgbClr val="5B6B82"/>
                </a:solidFill>
                <a:latin typeface="Calibri"/>
              </a:rPr>
              <a:t>Today</a:t>
            </a:r>
            <a:r>
              <a:rPr sz="1000" b="0" i="0">
                <a:solidFill>
                  <a:srgbClr val="5B6B82"/>
                </a:solidFill>
                <a:latin typeface="Calibri"/>
              </a:rPr>
              <a:t>  ·  Judged against a rough personal sense of what a claim of this type usually costs.</a:t>
            </a:r>
          </a:p>
          <a:p>
            <a:pPr algn="l">
              <a:spcBef>
                <a:spcPts val="700"/>
              </a:spcBef>
            </a:pPr>
            <a:r>
              <a:rPr sz="1000" b="1" i="0">
                <a:solidFill>
                  <a:srgbClr val="2563EB"/>
                </a:solidFill>
                <a:latin typeface="Calibri"/>
              </a:rPr>
              <a:t>With the system</a:t>
            </a:r>
            <a:r>
              <a:rPr sz="1000" b="0" i="0">
                <a:solidFill>
                  <a:srgbClr val="10243E"/>
                </a:solidFill>
                <a:latin typeface="Calibri"/>
              </a:rPr>
              <a:t>  ·  A robust deviation score against the median and MAD of peers in the same predicted coverage.</a:t>
            </a:r>
          </a:p>
        </p:txBody>
      </p:sp>
      <p:sp>
        <p:nvSpPr>
          <p:cNvPr id="17" name="Rounded Rectangle 16"/>
          <p:cNvSpPr/>
          <p:nvPr/>
        </p:nvSpPr>
        <p:spPr>
          <a:xfrm>
            <a:off x="6248400" y="3648456"/>
            <a:ext cx="5443728" cy="1783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41008" y="3895344"/>
            <a:ext cx="402336" cy="40233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4</a:t>
            </a:r>
          </a:p>
        </p:txBody>
      </p:sp>
      <p:sp>
        <p:nvSpPr>
          <p:cNvPr id="19" name="TextBox 18"/>
          <p:cNvSpPr txBox="1"/>
          <p:nvPr/>
        </p:nvSpPr>
        <p:spPr>
          <a:xfrm>
            <a:off x="7034784" y="3877056"/>
            <a:ext cx="4346448" cy="438912"/>
          </a:xfrm>
          <a:prstGeom prst="rect">
            <a:avLst/>
          </a:prstGeom>
          <a:noFill/>
        </p:spPr>
        <p:txBody>
          <a:bodyPr wrap="square" lIns="0" tIns="0" rIns="0" bIns="0" anchor="ctr">
            <a:spAutoFit/>
          </a:bodyPr>
          <a:lstStyle/>
          <a:p>
            <a:pPr algn="l"/>
            <a:r>
              <a:rPr sz="1500" b="1" i="0">
                <a:solidFill>
                  <a:srgbClr val="10243E"/>
                </a:solidFill>
                <a:latin typeface="Calibri"/>
              </a:rPr>
              <a:t>“Does this claim need me at all?”</a:t>
            </a:r>
          </a:p>
        </p:txBody>
      </p:sp>
      <p:sp>
        <p:nvSpPr>
          <p:cNvPr id="20" name="TextBox 19"/>
          <p:cNvSpPr txBox="1"/>
          <p:nvPr/>
        </p:nvSpPr>
        <p:spPr>
          <a:xfrm>
            <a:off x="6541008" y="4434840"/>
            <a:ext cx="4858512" cy="914400"/>
          </a:xfrm>
          <a:prstGeom prst="rect">
            <a:avLst/>
          </a:prstGeom>
          <a:noFill/>
        </p:spPr>
        <p:txBody>
          <a:bodyPr wrap="square" lIns="0" tIns="0" rIns="0" bIns="0" anchor="t">
            <a:spAutoFit/>
          </a:bodyPr>
          <a:lstStyle/>
          <a:p>
            <a:pPr algn="l"/>
            <a:r>
              <a:rPr sz="1000" b="1" i="0">
                <a:solidFill>
                  <a:srgbClr val="5B6B82"/>
                </a:solidFill>
                <a:latin typeface="Calibri"/>
              </a:rPr>
              <a:t>Today</a:t>
            </a:r>
            <a:r>
              <a:rPr sz="1000" b="0" i="0">
                <a:solidFill>
                  <a:srgbClr val="5B6B82"/>
                </a:solidFill>
                <a:latin typeface="Calibri"/>
              </a:rPr>
              <a:t>  ·  Every claim enters the same queue, so routine cases consume the same attention as genuine outliers.</a:t>
            </a:r>
          </a:p>
          <a:p>
            <a:pPr algn="l">
              <a:spcBef>
                <a:spcPts val="700"/>
              </a:spcBef>
            </a:pPr>
            <a:r>
              <a:rPr sz="1000" b="1" i="0">
                <a:solidFill>
                  <a:srgbClr val="2563EB"/>
                </a:solidFill>
                <a:latin typeface="Calibri"/>
              </a:rPr>
              <a:t>With the system</a:t>
            </a:r>
            <a:r>
              <a:rPr sz="1000" b="0" i="0">
                <a:solidFill>
                  <a:srgbClr val="10243E"/>
                </a:solidFill>
                <a:latin typeface="Calibri"/>
              </a:rPr>
              <a:t>  ·  A 0–100 review priority score routes only the claims that actually warrant a person.</a:t>
            </a:r>
          </a:p>
        </p:txBody>
      </p:sp>
      <p:sp>
        <p:nvSpPr>
          <p:cNvPr id="21" name="TextBox 20"/>
          <p:cNvSpPr txBox="1"/>
          <p:nvPr/>
        </p:nvSpPr>
        <p:spPr>
          <a:xfrm>
            <a:off x="548640" y="5989320"/>
            <a:ext cx="11094720" cy="274320"/>
          </a:xfrm>
          <a:prstGeom prst="rect">
            <a:avLst/>
          </a:prstGeom>
          <a:noFill/>
        </p:spPr>
        <p:txBody>
          <a:bodyPr wrap="square" lIns="0" tIns="0" rIns="0" bIns="0" anchor="ctr">
            <a:spAutoFit/>
          </a:bodyPr>
          <a:lstStyle/>
          <a:p>
            <a:pPr algn="l"/>
            <a:r>
              <a:rPr sz="1100" b="0" i="1">
                <a:solidFill>
                  <a:srgbClr val="2563EB"/>
                </a:solidFill>
                <a:latin typeface="Calibri"/>
              </a:rPr>
              <a:t>Every one of these is answerable from claim history the fund already holds — the gap is delivery, not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1 · PROBLEM STATEMENT — OBJECTIVE &amp; SOLUTION</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One assistant that predicts, checks and routes every claim</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4</a:t>
            </a:r>
            <a:endParaRPr lang="en-US" sz="1100" dirty="0"/>
          </a:p>
        </p:txBody>
      </p:sp>
      <p:sp>
        <p:nvSpPr>
          <p:cNvPr id="5" name="Shape 3"/>
          <p:cNvSpPr/>
          <p:nvPr/>
        </p:nvSpPr>
        <p:spPr>
          <a:xfrm>
            <a:off x="548640" y="1691640"/>
            <a:ext cx="11091672" cy="960120"/>
          </a:xfrm>
          <a:prstGeom prst="roundRect">
            <a:avLst>
              <a:gd name="adj" fmla="val 9524"/>
            </a:avLst>
          </a:prstGeom>
          <a:solidFill>
            <a:srgbClr val="2563EB"/>
          </a:solidFill>
          <a:ln w="9525">
            <a:solidFill>
              <a:srgbClr val="2563EB"/>
            </a:solidFill>
            <a:prstDash val="solid"/>
          </a:ln>
        </p:spPr>
      </p:sp>
      <p:sp>
        <p:nvSpPr>
          <p:cNvPr id="6" name="Text 4"/>
          <p:cNvSpPr txBox="1"/>
          <p:nvPr/>
        </p:nvSpPr>
        <p:spPr>
          <a:xfrm>
            <a:off x="822960" y="1691640"/>
            <a:ext cx="10515600" cy="960120"/>
          </a:xfrm>
          <a:prstGeom prst="rect">
            <a:avLst/>
          </a:prstGeom>
          <a:noFill/>
          <a:ln/>
        </p:spPr>
        <p:txBody>
          <a:bodyPr wrap="square" lIns="0" tIns="0" rIns="0" bIns="0" rtlCol="0" anchor="ctr"/>
          <a:lstStyle/>
          <a:p>
            <a:pPr marL="0" indent="0">
              <a:buNone/>
            </a:pPr>
            <a:r>
              <a:rPr lang="en-US" sz="1800" b="1" dirty="0">
                <a:solidFill>
                  <a:srgbClr val="CADCFC"/>
                </a:solidFill>
                <a:latin typeface="Calibri" pitchFamily="34" charset="0"/>
                <a:ea typeface="Calibri" pitchFamily="34" charset="-122"/>
                <a:cs typeface="Calibri" pitchFamily="34" charset="-120"/>
              </a:rPr>
              <a:t>Objective  </a:t>
            </a:r>
            <a:r>
              <a:rPr lang="en-US" sz="1800" dirty="0">
                <a:solidFill>
                  <a:srgbClr val="FFFFFF"/>
                </a:solidFill>
                <a:latin typeface="Calibri" pitchFamily="34" charset="0"/>
                <a:ea typeface="Calibri" pitchFamily="34" charset="-122"/>
                <a:cs typeface="Calibri" pitchFamily="34" charset="-120"/>
              </a:rPr>
              <a:t>Read a claim, predict its coverage, check it against history and amount norms, and route it — with a plain-English reason for the reviewer.</a:t>
            </a:r>
            <a:endParaRPr lang="en-US" sz="1800" dirty="0"/>
          </a:p>
        </p:txBody>
      </p:sp>
      <p:sp>
        <p:nvSpPr>
          <p:cNvPr id="7" name="Shape 5"/>
          <p:cNvSpPr/>
          <p:nvPr/>
        </p:nvSpPr>
        <p:spPr>
          <a:xfrm>
            <a:off x="548640" y="2880360"/>
            <a:ext cx="356616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8" name="Shape 6"/>
          <p:cNvSpPr/>
          <p:nvPr/>
        </p:nvSpPr>
        <p:spPr>
          <a:xfrm>
            <a:off x="777240" y="3108960"/>
            <a:ext cx="566928" cy="566928"/>
          </a:xfrm>
          <a:prstGeom prst="ellipse">
            <a:avLst/>
          </a:prstGeom>
          <a:solidFill>
            <a:srgbClr val="2563EB"/>
          </a:solidFill>
          <a:ln w="12700">
            <a:solidFill>
              <a:srgbClr val="2563EB"/>
            </a:solidFill>
            <a:prstDash val="solid"/>
          </a:ln>
        </p:spPr>
      </p:sp>
      <p:pic>
        <p:nvPicPr>
          <p:cNvPr id="9" name="Image 0" descr="preencoded.png"/>
          <p:cNvPicPr>
            <a:picLocks noChangeAspect="1"/>
          </p:cNvPicPr>
          <p:nvPr/>
        </p:nvPicPr>
        <p:blipFill>
          <a:blip r:embed="rId3"/>
          <a:stretch>
            <a:fillRect/>
          </a:stretch>
        </p:blipFill>
        <p:spPr>
          <a:xfrm>
            <a:off x="918972" y="3250692"/>
            <a:ext cx="283464" cy="283464"/>
          </a:xfrm>
          <a:prstGeom prst="rect">
            <a:avLst/>
          </a:prstGeom>
        </p:spPr>
      </p:pic>
      <p:sp>
        <p:nvSpPr>
          <p:cNvPr id="10" name="Text 7"/>
          <p:cNvSpPr txBox="1"/>
          <p:nvPr/>
        </p:nvSpPr>
        <p:spPr>
          <a:xfrm>
            <a:off x="1508760" y="3108960"/>
            <a:ext cx="2423160" cy="365760"/>
          </a:xfrm>
          <a:prstGeom prst="rect">
            <a:avLst/>
          </a:prstGeom>
          <a:noFill/>
          <a:ln/>
        </p:spPr>
        <p:txBody>
          <a:bodyPr wrap="square" lIns="0" tIns="0" rIns="0" bIns="0" rtlCol="0" anchor="ctr"/>
          <a:lstStyle/>
          <a:p>
            <a:pPr marL="0" indent="0">
              <a:buNone/>
            </a:pPr>
            <a:r>
              <a:rPr lang="en-US" sz="2000" b="1" dirty="0">
                <a:solidFill>
                  <a:srgbClr val="10243E"/>
                </a:solidFill>
                <a:latin typeface="Calibri" pitchFamily="34" charset="0"/>
                <a:ea typeface="Calibri" pitchFamily="34" charset="-122"/>
                <a:cs typeface="Calibri" pitchFamily="34" charset="-120"/>
              </a:rPr>
              <a:t>Predict</a:t>
            </a:r>
            <a:endParaRPr lang="en-US" sz="2000" dirty="0"/>
          </a:p>
        </p:txBody>
      </p:sp>
      <p:sp>
        <p:nvSpPr>
          <p:cNvPr id="11" name="Text 8"/>
          <p:cNvSpPr txBox="1"/>
          <p:nvPr/>
        </p:nvSpPr>
        <p:spPr>
          <a:xfrm>
            <a:off x="1508760" y="3520440"/>
            <a:ext cx="242316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Coverage classification with a confidence score</a:t>
            </a:r>
            <a:endParaRPr lang="en-US" sz="1400" dirty="0"/>
          </a:p>
        </p:txBody>
      </p:sp>
      <p:sp>
        <p:nvSpPr>
          <p:cNvPr id="12" name="Shape 9"/>
          <p:cNvSpPr/>
          <p:nvPr/>
        </p:nvSpPr>
        <p:spPr>
          <a:xfrm>
            <a:off x="4311396" y="2880360"/>
            <a:ext cx="356616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3" name="Shape 10"/>
          <p:cNvSpPr/>
          <p:nvPr/>
        </p:nvSpPr>
        <p:spPr>
          <a:xfrm>
            <a:off x="4539996" y="3108960"/>
            <a:ext cx="566928" cy="566928"/>
          </a:xfrm>
          <a:prstGeom prst="ellipse">
            <a:avLst/>
          </a:prstGeom>
          <a:solidFill>
            <a:srgbClr val="2563EB"/>
          </a:solidFill>
          <a:ln w="12700">
            <a:solidFill>
              <a:srgbClr val="2563EB"/>
            </a:solidFill>
            <a:prstDash val="solid"/>
          </a:ln>
        </p:spPr>
      </p:sp>
      <p:pic>
        <p:nvPicPr>
          <p:cNvPr id="14" name="Image 1" descr="preencoded.png"/>
          <p:cNvPicPr>
            <a:picLocks noChangeAspect="1"/>
          </p:cNvPicPr>
          <p:nvPr/>
        </p:nvPicPr>
        <p:blipFill>
          <a:blip r:embed="rId4"/>
          <a:stretch>
            <a:fillRect/>
          </a:stretch>
        </p:blipFill>
        <p:spPr>
          <a:xfrm>
            <a:off x="4681728" y="3250692"/>
            <a:ext cx="283464" cy="283464"/>
          </a:xfrm>
          <a:prstGeom prst="rect">
            <a:avLst/>
          </a:prstGeom>
        </p:spPr>
      </p:pic>
      <p:sp>
        <p:nvSpPr>
          <p:cNvPr id="15" name="Text 11"/>
          <p:cNvSpPr txBox="1"/>
          <p:nvPr/>
        </p:nvSpPr>
        <p:spPr>
          <a:xfrm>
            <a:off x="5271516" y="3108960"/>
            <a:ext cx="2423160" cy="365760"/>
          </a:xfrm>
          <a:prstGeom prst="rect">
            <a:avLst/>
          </a:prstGeom>
          <a:noFill/>
          <a:ln/>
        </p:spPr>
        <p:txBody>
          <a:bodyPr wrap="square" lIns="0" tIns="0" rIns="0" bIns="0" rtlCol="0" anchor="ctr"/>
          <a:lstStyle/>
          <a:p>
            <a:pPr marL="0" indent="0">
              <a:buNone/>
            </a:pPr>
            <a:r>
              <a:rPr lang="en-US" sz="2000" b="1" dirty="0">
                <a:solidFill>
                  <a:srgbClr val="10243E"/>
                </a:solidFill>
                <a:latin typeface="Calibri" pitchFamily="34" charset="0"/>
                <a:ea typeface="Calibri" pitchFamily="34" charset="-122"/>
                <a:cs typeface="Calibri" pitchFamily="34" charset="-120"/>
              </a:rPr>
              <a:t>Retrieve</a:t>
            </a:r>
            <a:endParaRPr lang="en-US" sz="2000" dirty="0"/>
          </a:p>
        </p:txBody>
      </p:sp>
      <p:sp>
        <p:nvSpPr>
          <p:cNvPr id="16" name="Text 12"/>
          <p:cNvSpPr txBox="1"/>
          <p:nvPr/>
        </p:nvSpPr>
        <p:spPr>
          <a:xfrm>
            <a:off x="5271516" y="3520440"/>
            <a:ext cx="242316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Similar historical claims as evidence</a:t>
            </a:r>
            <a:endParaRPr lang="en-US" sz="1400" dirty="0"/>
          </a:p>
        </p:txBody>
      </p:sp>
      <p:sp>
        <p:nvSpPr>
          <p:cNvPr id="17" name="Shape 13"/>
          <p:cNvSpPr/>
          <p:nvPr/>
        </p:nvSpPr>
        <p:spPr>
          <a:xfrm>
            <a:off x="8074152" y="2880360"/>
            <a:ext cx="356616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Shape 14"/>
          <p:cNvSpPr/>
          <p:nvPr/>
        </p:nvSpPr>
        <p:spPr>
          <a:xfrm>
            <a:off x="8302752" y="3108960"/>
            <a:ext cx="566928" cy="566928"/>
          </a:xfrm>
          <a:prstGeom prst="ellipse">
            <a:avLst/>
          </a:prstGeom>
          <a:solidFill>
            <a:srgbClr val="2563EB"/>
          </a:solidFill>
          <a:ln w="12700">
            <a:solidFill>
              <a:srgbClr val="2563EB"/>
            </a:solidFill>
            <a:prstDash val="solid"/>
          </a:ln>
        </p:spPr>
      </p:sp>
      <p:pic>
        <p:nvPicPr>
          <p:cNvPr id="19" name="Image 2" descr="preencoded.png"/>
          <p:cNvPicPr>
            <a:picLocks noChangeAspect="1"/>
          </p:cNvPicPr>
          <p:nvPr/>
        </p:nvPicPr>
        <p:blipFill>
          <a:blip r:embed="rId5"/>
          <a:stretch>
            <a:fillRect/>
          </a:stretch>
        </p:blipFill>
        <p:spPr>
          <a:xfrm>
            <a:off x="8444484" y="3250692"/>
            <a:ext cx="283464" cy="283464"/>
          </a:xfrm>
          <a:prstGeom prst="rect">
            <a:avLst/>
          </a:prstGeom>
        </p:spPr>
      </p:pic>
      <p:sp>
        <p:nvSpPr>
          <p:cNvPr id="20" name="Text 15"/>
          <p:cNvSpPr txBox="1"/>
          <p:nvPr/>
        </p:nvSpPr>
        <p:spPr>
          <a:xfrm>
            <a:off x="9034272" y="3108960"/>
            <a:ext cx="2423160" cy="365760"/>
          </a:xfrm>
          <a:prstGeom prst="rect">
            <a:avLst/>
          </a:prstGeom>
          <a:noFill/>
          <a:ln/>
        </p:spPr>
        <p:txBody>
          <a:bodyPr wrap="square" lIns="0" tIns="0" rIns="0" bIns="0" rtlCol="0" anchor="ctr"/>
          <a:lstStyle/>
          <a:p>
            <a:pPr marL="0" indent="0">
              <a:buNone/>
            </a:pPr>
            <a:r>
              <a:rPr lang="en-US" sz="2000" b="1" dirty="0">
                <a:solidFill>
                  <a:srgbClr val="10243E"/>
                </a:solidFill>
                <a:latin typeface="Calibri" pitchFamily="34" charset="0"/>
                <a:ea typeface="Calibri" pitchFamily="34" charset="-122"/>
                <a:cs typeface="Calibri" pitchFamily="34" charset="-120"/>
              </a:rPr>
              <a:t>Benchmark</a:t>
            </a:r>
            <a:endParaRPr lang="en-US" sz="2000" dirty="0"/>
          </a:p>
        </p:txBody>
      </p:sp>
      <p:sp>
        <p:nvSpPr>
          <p:cNvPr id="21" name="Text 16"/>
          <p:cNvSpPr txBox="1"/>
          <p:nvPr/>
        </p:nvSpPr>
        <p:spPr>
          <a:xfrm>
            <a:off x="9034272" y="3520440"/>
            <a:ext cx="242316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Claim amount vs. peers in the same coverage</a:t>
            </a:r>
            <a:endParaRPr lang="en-US" sz="1400" dirty="0"/>
          </a:p>
        </p:txBody>
      </p:sp>
      <p:sp>
        <p:nvSpPr>
          <p:cNvPr id="22" name="Shape 17"/>
          <p:cNvSpPr/>
          <p:nvPr/>
        </p:nvSpPr>
        <p:spPr>
          <a:xfrm>
            <a:off x="548640" y="4389120"/>
            <a:ext cx="356616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3" name="Shape 18"/>
          <p:cNvSpPr/>
          <p:nvPr/>
        </p:nvSpPr>
        <p:spPr>
          <a:xfrm>
            <a:off x="777240" y="4617720"/>
            <a:ext cx="566928" cy="566928"/>
          </a:xfrm>
          <a:prstGeom prst="ellipse">
            <a:avLst/>
          </a:prstGeom>
          <a:solidFill>
            <a:srgbClr val="2563EB"/>
          </a:solidFill>
          <a:ln w="12700">
            <a:solidFill>
              <a:srgbClr val="2563EB"/>
            </a:solidFill>
            <a:prstDash val="solid"/>
          </a:ln>
        </p:spPr>
      </p:sp>
      <p:pic>
        <p:nvPicPr>
          <p:cNvPr id="24" name="Image 3" descr="preencoded.png"/>
          <p:cNvPicPr>
            <a:picLocks noChangeAspect="1"/>
          </p:cNvPicPr>
          <p:nvPr/>
        </p:nvPicPr>
        <p:blipFill>
          <a:blip r:embed="rId6"/>
          <a:stretch>
            <a:fillRect/>
          </a:stretch>
        </p:blipFill>
        <p:spPr>
          <a:xfrm>
            <a:off x="918972" y="4759452"/>
            <a:ext cx="283464" cy="283464"/>
          </a:xfrm>
          <a:prstGeom prst="rect">
            <a:avLst/>
          </a:prstGeom>
        </p:spPr>
      </p:pic>
      <p:sp>
        <p:nvSpPr>
          <p:cNvPr id="25" name="Text 19"/>
          <p:cNvSpPr txBox="1"/>
          <p:nvPr/>
        </p:nvSpPr>
        <p:spPr>
          <a:xfrm>
            <a:off x="1508760" y="4617720"/>
            <a:ext cx="2423160" cy="365760"/>
          </a:xfrm>
          <a:prstGeom prst="rect">
            <a:avLst/>
          </a:prstGeom>
          <a:noFill/>
          <a:ln/>
        </p:spPr>
        <p:txBody>
          <a:bodyPr wrap="square" lIns="0" tIns="0" rIns="0" bIns="0" rtlCol="0" anchor="ctr"/>
          <a:lstStyle/>
          <a:p>
            <a:pPr marL="0" indent="0">
              <a:buNone/>
            </a:pPr>
            <a:r>
              <a:rPr lang="en-US" sz="2000" b="1" dirty="0">
                <a:solidFill>
                  <a:srgbClr val="10243E"/>
                </a:solidFill>
                <a:latin typeface="Calibri" pitchFamily="34" charset="0"/>
                <a:ea typeface="Calibri" pitchFamily="34" charset="-122"/>
                <a:cs typeface="Calibri" pitchFamily="34" charset="-120"/>
              </a:rPr>
              <a:t>Explain</a:t>
            </a:r>
            <a:endParaRPr lang="en-US" sz="2000" dirty="0"/>
          </a:p>
        </p:txBody>
      </p:sp>
      <p:sp>
        <p:nvSpPr>
          <p:cNvPr id="26" name="Text 20"/>
          <p:cNvSpPr txBox="1"/>
          <p:nvPr/>
        </p:nvSpPr>
        <p:spPr>
          <a:xfrm>
            <a:off x="1508760" y="5029200"/>
            <a:ext cx="242316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Plain-language reasons for each decision</a:t>
            </a:r>
            <a:endParaRPr lang="en-US" sz="1400" dirty="0"/>
          </a:p>
        </p:txBody>
      </p:sp>
      <p:sp>
        <p:nvSpPr>
          <p:cNvPr id="27" name="Shape 21"/>
          <p:cNvSpPr/>
          <p:nvPr/>
        </p:nvSpPr>
        <p:spPr>
          <a:xfrm>
            <a:off x="4311396" y="4389120"/>
            <a:ext cx="356616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8" name="Shape 22"/>
          <p:cNvSpPr/>
          <p:nvPr/>
        </p:nvSpPr>
        <p:spPr>
          <a:xfrm>
            <a:off x="4539996" y="4617720"/>
            <a:ext cx="566928" cy="566928"/>
          </a:xfrm>
          <a:prstGeom prst="ellipse">
            <a:avLst/>
          </a:prstGeom>
          <a:solidFill>
            <a:srgbClr val="2563EB"/>
          </a:solidFill>
          <a:ln w="12700">
            <a:solidFill>
              <a:srgbClr val="2563EB"/>
            </a:solidFill>
            <a:prstDash val="solid"/>
          </a:ln>
        </p:spPr>
      </p:sp>
      <p:pic>
        <p:nvPicPr>
          <p:cNvPr id="29" name="Image 4" descr="preencoded.png"/>
          <p:cNvPicPr>
            <a:picLocks noChangeAspect="1"/>
          </p:cNvPicPr>
          <p:nvPr/>
        </p:nvPicPr>
        <p:blipFill>
          <a:blip r:embed="rId7"/>
          <a:stretch>
            <a:fillRect/>
          </a:stretch>
        </p:blipFill>
        <p:spPr>
          <a:xfrm>
            <a:off x="4681728" y="4759452"/>
            <a:ext cx="283464" cy="283464"/>
          </a:xfrm>
          <a:prstGeom prst="rect">
            <a:avLst/>
          </a:prstGeom>
        </p:spPr>
      </p:pic>
      <p:sp>
        <p:nvSpPr>
          <p:cNvPr id="30" name="Text 23"/>
          <p:cNvSpPr txBox="1"/>
          <p:nvPr/>
        </p:nvSpPr>
        <p:spPr>
          <a:xfrm>
            <a:off x="5271516" y="4617720"/>
            <a:ext cx="2423160" cy="365760"/>
          </a:xfrm>
          <a:prstGeom prst="rect">
            <a:avLst/>
          </a:prstGeom>
          <a:noFill/>
          <a:ln/>
        </p:spPr>
        <p:txBody>
          <a:bodyPr wrap="square" lIns="0" tIns="0" rIns="0" bIns="0" rtlCol="0" anchor="ctr"/>
          <a:lstStyle/>
          <a:p>
            <a:pPr marL="0" indent="0">
              <a:buNone/>
            </a:pPr>
            <a:r>
              <a:rPr lang="en-US" sz="2000" b="1" dirty="0">
                <a:solidFill>
                  <a:srgbClr val="10243E"/>
                </a:solidFill>
                <a:latin typeface="Calibri" pitchFamily="34" charset="0"/>
                <a:ea typeface="Calibri" pitchFamily="34" charset="-122"/>
                <a:cs typeface="Calibri" pitchFamily="34" charset="-120"/>
              </a:rPr>
              <a:t>Prioritize</a:t>
            </a:r>
            <a:endParaRPr lang="en-US" sz="2000" dirty="0"/>
          </a:p>
        </p:txBody>
      </p:sp>
      <p:sp>
        <p:nvSpPr>
          <p:cNvPr id="31" name="Text 24"/>
          <p:cNvSpPr txBox="1"/>
          <p:nvPr/>
        </p:nvSpPr>
        <p:spPr>
          <a:xfrm>
            <a:off x="5271516" y="5029200"/>
            <a:ext cx="242316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A 0–100 review priority score</a:t>
            </a:r>
            <a:endParaRPr lang="en-US" sz="1400" dirty="0"/>
          </a:p>
        </p:txBody>
      </p:sp>
      <p:sp>
        <p:nvSpPr>
          <p:cNvPr id="32" name="Shape 25"/>
          <p:cNvSpPr/>
          <p:nvPr/>
        </p:nvSpPr>
        <p:spPr>
          <a:xfrm>
            <a:off x="8074152" y="4389120"/>
            <a:ext cx="356616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3" name="Shape 26"/>
          <p:cNvSpPr/>
          <p:nvPr/>
        </p:nvSpPr>
        <p:spPr>
          <a:xfrm>
            <a:off x="8302752" y="4617720"/>
            <a:ext cx="566928" cy="566928"/>
          </a:xfrm>
          <a:prstGeom prst="ellipse">
            <a:avLst/>
          </a:prstGeom>
          <a:solidFill>
            <a:srgbClr val="2563EB"/>
          </a:solidFill>
          <a:ln w="12700">
            <a:solidFill>
              <a:srgbClr val="2563EB"/>
            </a:solidFill>
            <a:prstDash val="solid"/>
          </a:ln>
        </p:spPr>
      </p:sp>
      <p:pic>
        <p:nvPicPr>
          <p:cNvPr id="34" name="Image 5" descr="preencoded.png"/>
          <p:cNvPicPr>
            <a:picLocks noChangeAspect="1"/>
          </p:cNvPicPr>
          <p:nvPr/>
        </p:nvPicPr>
        <p:blipFill>
          <a:blip r:embed="rId8"/>
          <a:stretch>
            <a:fillRect/>
          </a:stretch>
        </p:blipFill>
        <p:spPr>
          <a:xfrm>
            <a:off x="8444484" y="4759452"/>
            <a:ext cx="283464" cy="283464"/>
          </a:xfrm>
          <a:prstGeom prst="rect">
            <a:avLst/>
          </a:prstGeom>
        </p:spPr>
      </p:pic>
      <p:sp>
        <p:nvSpPr>
          <p:cNvPr id="35" name="Text 27"/>
          <p:cNvSpPr txBox="1"/>
          <p:nvPr/>
        </p:nvSpPr>
        <p:spPr>
          <a:xfrm>
            <a:off x="9034272" y="4617720"/>
            <a:ext cx="2423160" cy="365760"/>
          </a:xfrm>
          <a:prstGeom prst="rect">
            <a:avLst/>
          </a:prstGeom>
          <a:noFill/>
          <a:ln/>
        </p:spPr>
        <p:txBody>
          <a:bodyPr wrap="square" lIns="0" tIns="0" rIns="0" bIns="0" rtlCol="0" anchor="ctr"/>
          <a:lstStyle/>
          <a:p>
            <a:pPr marL="0" indent="0">
              <a:buNone/>
            </a:pPr>
            <a:r>
              <a:rPr lang="en-US" sz="2000" b="1" dirty="0">
                <a:solidFill>
                  <a:srgbClr val="10243E"/>
                </a:solidFill>
                <a:latin typeface="Calibri" pitchFamily="34" charset="0"/>
                <a:ea typeface="Calibri" pitchFamily="34" charset="-122"/>
                <a:cs typeface="Calibri" pitchFamily="34" charset="-120"/>
              </a:rPr>
              <a:t>Route</a:t>
            </a:r>
            <a:endParaRPr lang="en-US" sz="2000" dirty="0"/>
          </a:p>
        </p:txBody>
      </p:sp>
      <p:sp>
        <p:nvSpPr>
          <p:cNvPr id="36" name="Text 28"/>
          <p:cNvSpPr txBox="1"/>
          <p:nvPr/>
        </p:nvSpPr>
        <p:spPr>
          <a:xfrm>
            <a:off x="9034272" y="5029200"/>
            <a:ext cx="2423160" cy="64008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Proceed, or send to a human reviewer</a:t>
            </a:r>
            <a:endParaRPr lang="en-US" sz="1400" dirty="0"/>
          </a:p>
        </p:txBody>
      </p:sp>
      <p:sp>
        <p:nvSpPr>
          <p:cNvPr id="37" name="Text 29"/>
          <p:cNvSpPr txBox="1"/>
          <p:nvPr/>
        </p:nvSpPr>
        <p:spPr>
          <a:xfrm>
            <a:off x="548640" y="6035040"/>
            <a:ext cx="11064240" cy="320040"/>
          </a:xfrm>
          <a:prstGeom prst="rect">
            <a:avLst/>
          </a:prstGeom>
          <a:noFill/>
          <a:ln/>
        </p:spPr>
        <p:txBody>
          <a:bodyPr wrap="square" lIns="0" tIns="0" rIns="0" bIns="0" rtlCol="0" anchor="ctr"/>
          <a:lstStyle/>
          <a:p>
            <a:pPr marL="0" indent="0">
              <a:buNone/>
            </a:pPr>
            <a:r>
              <a:rPr lang="en-US" sz="1500" b="1" i="1" dirty="0">
                <a:solidFill>
                  <a:srgbClr val="2563EB"/>
                </a:solidFill>
                <a:latin typeface="Calibri" pitchFamily="34" charset="0"/>
                <a:ea typeface="Calibri" pitchFamily="34" charset="-122"/>
                <a:cs typeface="Calibri" pitchFamily="34" charset="-120"/>
              </a:rPr>
              <a:t>Design principle: augment assessors and keep human accountability.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2 · WORKFLOW MODEL</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Seven steps take a claim from intake to a human decision</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5</a:t>
            </a:r>
            <a:endParaRPr lang="en-US" sz="1100" dirty="0"/>
          </a:p>
        </p:txBody>
      </p:sp>
      <p:sp>
        <p:nvSpPr>
          <p:cNvPr id="5" name="Shape 3"/>
          <p:cNvSpPr/>
          <p:nvPr/>
        </p:nvSpPr>
        <p:spPr>
          <a:xfrm>
            <a:off x="548640"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p:nvPr/>
        </p:nvSpPr>
        <p:spPr>
          <a:xfrm>
            <a:off x="1028700"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640080"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Claim intake</a:t>
            </a:r>
            <a:endParaRPr lang="en-US" sz="1600" dirty="0"/>
          </a:p>
        </p:txBody>
      </p:sp>
      <p:sp>
        <p:nvSpPr>
          <p:cNvPr id="8" name="Text 6"/>
          <p:cNvSpPr txBox="1"/>
          <p:nvPr/>
        </p:nvSpPr>
        <p:spPr>
          <a:xfrm>
            <a:off x="640080"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Text or PDF upload</a:t>
            </a:r>
            <a:endParaRPr lang="en-US" sz="1300" dirty="0"/>
          </a:p>
        </p:txBody>
      </p:sp>
      <p:sp>
        <p:nvSpPr>
          <p:cNvPr id="9" name="Shape 7"/>
          <p:cNvSpPr/>
          <p:nvPr/>
        </p:nvSpPr>
        <p:spPr>
          <a:xfrm>
            <a:off x="1975104" y="3017520"/>
            <a:ext cx="176479" cy="0"/>
          </a:xfrm>
          <a:prstGeom prst="line">
            <a:avLst/>
          </a:prstGeom>
          <a:noFill/>
          <a:ln w="22225">
            <a:solidFill>
              <a:srgbClr val="2563EB"/>
            </a:solidFill>
            <a:prstDash val="solid"/>
            <a:tailEnd type="triangle"/>
          </a:ln>
        </p:spPr>
      </p:sp>
      <p:sp>
        <p:nvSpPr>
          <p:cNvPr id="10" name="Shape 8"/>
          <p:cNvSpPr/>
          <p:nvPr/>
        </p:nvSpPr>
        <p:spPr>
          <a:xfrm>
            <a:off x="2160727"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1" name="Text 9"/>
          <p:cNvSpPr/>
          <p:nvPr/>
        </p:nvSpPr>
        <p:spPr>
          <a:xfrm>
            <a:off x="2640787"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2252167"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OCR / extract</a:t>
            </a:r>
            <a:endParaRPr lang="en-US" sz="1600" dirty="0"/>
          </a:p>
        </p:txBody>
      </p:sp>
      <p:sp>
        <p:nvSpPr>
          <p:cNvPr id="13" name="Text 11"/>
          <p:cNvSpPr txBox="1"/>
          <p:nvPr/>
        </p:nvSpPr>
        <p:spPr>
          <a:xfrm>
            <a:off x="2252167"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Editable text plus a quality score</a:t>
            </a:r>
            <a:endParaRPr lang="en-US" sz="1300" dirty="0"/>
          </a:p>
        </p:txBody>
      </p:sp>
      <p:sp>
        <p:nvSpPr>
          <p:cNvPr id="14" name="Shape 12"/>
          <p:cNvSpPr/>
          <p:nvPr/>
        </p:nvSpPr>
        <p:spPr>
          <a:xfrm>
            <a:off x="3587191" y="3017520"/>
            <a:ext cx="176479" cy="0"/>
          </a:xfrm>
          <a:prstGeom prst="line">
            <a:avLst/>
          </a:prstGeom>
          <a:noFill/>
          <a:ln w="22225">
            <a:solidFill>
              <a:srgbClr val="2563EB"/>
            </a:solidFill>
            <a:prstDash val="solid"/>
            <a:tailEnd type="triangle"/>
          </a:ln>
        </p:spPr>
      </p:sp>
      <p:sp>
        <p:nvSpPr>
          <p:cNvPr id="15" name="Shape 13"/>
          <p:cNvSpPr/>
          <p:nvPr/>
        </p:nvSpPr>
        <p:spPr>
          <a:xfrm>
            <a:off x="3772814"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6" name="Text 14"/>
          <p:cNvSpPr/>
          <p:nvPr/>
        </p:nvSpPr>
        <p:spPr>
          <a:xfrm>
            <a:off x="4252874"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3864254"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Coverage model</a:t>
            </a:r>
            <a:endParaRPr lang="en-US" sz="1600" dirty="0"/>
          </a:p>
        </p:txBody>
      </p:sp>
      <p:sp>
        <p:nvSpPr>
          <p:cNvPr id="18" name="Text 16"/>
          <p:cNvSpPr txBox="1"/>
          <p:nvPr/>
        </p:nvSpPr>
        <p:spPr>
          <a:xfrm>
            <a:off x="3864254"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TF-IDF + logistic regression</a:t>
            </a:r>
            <a:endParaRPr lang="en-US" sz="1300" dirty="0"/>
          </a:p>
        </p:txBody>
      </p:sp>
      <p:sp>
        <p:nvSpPr>
          <p:cNvPr id="19" name="Shape 17"/>
          <p:cNvSpPr/>
          <p:nvPr/>
        </p:nvSpPr>
        <p:spPr>
          <a:xfrm>
            <a:off x="5199278" y="3017520"/>
            <a:ext cx="176479" cy="0"/>
          </a:xfrm>
          <a:prstGeom prst="line">
            <a:avLst/>
          </a:prstGeom>
          <a:noFill/>
          <a:ln w="22225">
            <a:solidFill>
              <a:srgbClr val="2563EB"/>
            </a:solidFill>
            <a:prstDash val="solid"/>
            <a:tailEnd type="triangle"/>
          </a:ln>
        </p:spPr>
      </p:sp>
      <p:sp>
        <p:nvSpPr>
          <p:cNvPr id="20" name="Shape 18"/>
          <p:cNvSpPr/>
          <p:nvPr/>
        </p:nvSpPr>
        <p:spPr>
          <a:xfrm>
            <a:off x="5384902"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1" name="Text 19"/>
          <p:cNvSpPr/>
          <p:nvPr/>
        </p:nvSpPr>
        <p:spPr>
          <a:xfrm>
            <a:off x="5864962"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5476342"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Retrieve peers</a:t>
            </a:r>
            <a:endParaRPr lang="en-US" sz="1600" dirty="0"/>
          </a:p>
        </p:txBody>
      </p:sp>
      <p:sp>
        <p:nvSpPr>
          <p:cNvPr id="23" name="Text 21"/>
          <p:cNvSpPr txBox="1"/>
          <p:nvPr/>
        </p:nvSpPr>
        <p:spPr>
          <a:xfrm>
            <a:off x="5476342"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Cosine similarity over past claims</a:t>
            </a:r>
            <a:endParaRPr lang="en-US" sz="1300" dirty="0"/>
          </a:p>
        </p:txBody>
      </p:sp>
      <p:sp>
        <p:nvSpPr>
          <p:cNvPr id="24" name="Shape 22"/>
          <p:cNvSpPr/>
          <p:nvPr/>
        </p:nvSpPr>
        <p:spPr>
          <a:xfrm>
            <a:off x="6811366" y="3017520"/>
            <a:ext cx="176479" cy="0"/>
          </a:xfrm>
          <a:prstGeom prst="line">
            <a:avLst/>
          </a:prstGeom>
          <a:noFill/>
          <a:ln w="22225">
            <a:solidFill>
              <a:srgbClr val="2563EB"/>
            </a:solidFill>
            <a:prstDash val="solid"/>
            <a:tailEnd type="triangle"/>
          </a:ln>
        </p:spPr>
      </p:sp>
      <p:sp>
        <p:nvSpPr>
          <p:cNvPr id="25" name="Shape 23"/>
          <p:cNvSpPr/>
          <p:nvPr/>
        </p:nvSpPr>
        <p:spPr>
          <a:xfrm>
            <a:off x="6996989"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Text 24"/>
          <p:cNvSpPr/>
          <p:nvPr/>
        </p:nvSpPr>
        <p:spPr>
          <a:xfrm>
            <a:off x="7477049"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7088429"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Claim intelligence</a:t>
            </a:r>
            <a:endParaRPr lang="en-US" sz="1600" dirty="0"/>
          </a:p>
        </p:txBody>
      </p:sp>
      <p:sp>
        <p:nvSpPr>
          <p:cNvPr id="28" name="Text 26"/>
          <p:cNvSpPr txBox="1"/>
          <p:nvPr/>
        </p:nvSpPr>
        <p:spPr>
          <a:xfrm>
            <a:off x="7088429"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Agreement + amount benchmark</a:t>
            </a:r>
            <a:endParaRPr lang="en-US" sz="1300" dirty="0"/>
          </a:p>
        </p:txBody>
      </p:sp>
      <p:sp>
        <p:nvSpPr>
          <p:cNvPr id="29" name="Shape 27"/>
          <p:cNvSpPr/>
          <p:nvPr/>
        </p:nvSpPr>
        <p:spPr>
          <a:xfrm>
            <a:off x="8423453" y="3017520"/>
            <a:ext cx="176479" cy="0"/>
          </a:xfrm>
          <a:prstGeom prst="line">
            <a:avLst/>
          </a:prstGeom>
          <a:noFill/>
          <a:ln w="22225">
            <a:solidFill>
              <a:srgbClr val="2563EB"/>
            </a:solidFill>
            <a:prstDash val="solid"/>
            <a:tailEnd type="triangle"/>
          </a:ln>
        </p:spPr>
      </p:sp>
      <p:sp>
        <p:nvSpPr>
          <p:cNvPr id="30" name="Shape 28"/>
          <p:cNvSpPr/>
          <p:nvPr/>
        </p:nvSpPr>
        <p:spPr>
          <a:xfrm>
            <a:off x="8609076"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1" name="Text 29"/>
          <p:cNvSpPr/>
          <p:nvPr/>
        </p:nvSpPr>
        <p:spPr>
          <a:xfrm>
            <a:off x="9089136"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txBox="1"/>
          <p:nvPr/>
        </p:nvSpPr>
        <p:spPr>
          <a:xfrm>
            <a:off x="8700516"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Risk &amp; route</a:t>
            </a:r>
            <a:endParaRPr lang="en-US" sz="1600" dirty="0"/>
          </a:p>
        </p:txBody>
      </p:sp>
      <p:sp>
        <p:nvSpPr>
          <p:cNvPr id="33" name="Text 31"/>
          <p:cNvSpPr txBox="1"/>
          <p:nvPr/>
        </p:nvSpPr>
        <p:spPr>
          <a:xfrm>
            <a:off x="8700516"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Priority score → proceed / review</a:t>
            </a:r>
            <a:endParaRPr lang="en-US" sz="1300" dirty="0"/>
          </a:p>
        </p:txBody>
      </p:sp>
      <p:sp>
        <p:nvSpPr>
          <p:cNvPr id="34" name="Shape 32"/>
          <p:cNvSpPr/>
          <p:nvPr/>
        </p:nvSpPr>
        <p:spPr>
          <a:xfrm>
            <a:off x="10035540" y="3017520"/>
            <a:ext cx="176479" cy="0"/>
          </a:xfrm>
          <a:prstGeom prst="line">
            <a:avLst/>
          </a:prstGeom>
          <a:noFill/>
          <a:ln w="22225">
            <a:solidFill>
              <a:srgbClr val="2563EB"/>
            </a:solidFill>
            <a:prstDash val="solid"/>
            <a:tailEnd type="triangle"/>
          </a:ln>
        </p:spPr>
      </p:sp>
      <p:sp>
        <p:nvSpPr>
          <p:cNvPr id="35" name="Shape 33"/>
          <p:cNvSpPr/>
          <p:nvPr/>
        </p:nvSpPr>
        <p:spPr>
          <a:xfrm>
            <a:off x="10221163" y="1783080"/>
            <a:ext cx="1417320" cy="2514600"/>
          </a:xfrm>
          <a:prstGeom prst="roundRect">
            <a:avLst>
              <a:gd name="adj" fmla="val 6452"/>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6" name="Text 34"/>
          <p:cNvSpPr/>
          <p:nvPr/>
        </p:nvSpPr>
        <p:spPr>
          <a:xfrm>
            <a:off x="10701223" y="196596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7" name="Text 35"/>
          <p:cNvSpPr txBox="1"/>
          <p:nvPr/>
        </p:nvSpPr>
        <p:spPr>
          <a:xfrm>
            <a:off x="10312603" y="2560320"/>
            <a:ext cx="1234440" cy="640080"/>
          </a:xfrm>
          <a:prstGeom prst="rect">
            <a:avLst/>
          </a:prstGeom>
          <a:noFill/>
          <a:ln/>
        </p:spPr>
        <p:txBody>
          <a:bodyPr wrap="square" lIns="0" tIns="0" rIns="0" bIns="0" rtlCol="0" anchor="t"/>
          <a:lstStyle/>
          <a:p>
            <a:pPr marL="0" indent="0" algn="ctr">
              <a:buNone/>
            </a:pPr>
            <a:r>
              <a:rPr lang="en-US" sz="1600" b="1" dirty="0">
                <a:solidFill>
                  <a:srgbClr val="10243E"/>
                </a:solidFill>
                <a:latin typeface="Calibri" pitchFamily="34" charset="0"/>
                <a:ea typeface="Calibri" pitchFamily="34" charset="-122"/>
                <a:cs typeface="Calibri" pitchFamily="34" charset="-120"/>
              </a:rPr>
              <a:t>Human reviewer</a:t>
            </a:r>
            <a:endParaRPr lang="en-US" sz="1600" dirty="0"/>
          </a:p>
        </p:txBody>
      </p:sp>
      <p:sp>
        <p:nvSpPr>
          <p:cNvPr id="38" name="Text 36"/>
          <p:cNvSpPr txBox="1"/>
          <p:nvPr/>
        </p:nvSpPr>
        <p:spPr>
          <a:xfrm>
            <a:off x="10312603" y="3246120"/>
            <a:ext cx="1234440" cy="96012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Final accountability</a:t>
            </a:r>
            <a:endParaRPr lang="en-US" sz="1300" dirty="0"/>
          </a:p>
        </p:txBody>
      </p:sp>
      <p:sp>
        <p:nvSpPr>
          <p:cNvPr id="39" name="Shape 37"/>
          <p:cNvSpPr/>
          <p:nvPr/>
        </p:nvSpPr>
        <p:spPr>
          <a:xfrm>
            <a:off x="548640" y="4572000"/>
            <a:ext cx="5440680" cy="1508760"/>
          </a:xfrm>
          <a:prstGeom prst="roundRect">
            <a:avLst>
              <a:gd name="adj" fmla="val 6061"/>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40" name="Text 38"/>
          <p:cNvSpPr txBox="1"/>
          <p:nvPr/>
        </p:nvSpPr>
        <p:spPr>
          <a:xfrm>
            <a:off x="822960" y="4709160"/>
            <a:ext cx="4937760" cy="365760"/>
          </a:xfrm>
          <a:prstGeom prst="rect">
            <a:avLst/>
          </a:prstGeom>
          <a:noFill/>
          <a:ln/>
        </p:spPr>
        <p:txBody>
          <a:bodyPr wrap="square" lIns="0" tIns="0" rIns="0" bIns="0" rtlCol="0" anchor="ctr"/>
          <a:lstStyle/>
          <a:p>
            <a:pPr marL="0" indent="0">
              <a:buNone/>
            </a:pPr>
            <a:r>
              <a:rPr lang="en-US" sz="1800" b="1" dirty="0">
                <a:solidFill>
                  <a:srgbClr val="2563EB"/>
                </a:solidFill>
                <a:latin typeface="Calibri" pitchFamily="34" charset="0"/>
                <a:ea typeface="Calibri" pitchFamily="34" charset="-122"/>
                <a:cs typeface="Calibri" pitchFamily="34" charset="-120"/>
              </a:rPr>
              <a:t>Deterministic logic decides</a:t>
            </a:r>
            <a:endParaRPr lang="en-US" sz="1800" dirty="0"/>
          </a:p>
        </p:txBody>
      </p:sp>
      <p:sp>
        <p:nvSpPr>
          <p:cNvPr id="41" name="Text 39"/>
          <p:cNvSpPr txBox="1"/>
          <p:nvPr/>
        </p:nvSpPr>
        <p:spPr>
          <a:xfrm>
            <a:off x="822960" y="5120640"/>
            <a:ext cx="4937760" cy="86868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Classifier, retrieval, rules and thresholds set every status and score — the same input always gives the same routing.</a:t>
            </a:r>
            <a:endParaRPr lang="en-US" sz="1400" dirty="0"/>
          </a:p>
        </p:txBody>
      </p:sp>
      <p:sp>
        <p:nvSpPr>
          <p:cNvPr id="42" name="Shape 40"/>
          <p:cNvSpPr/>
          <p:nvPr/>
        </p:nvSpPr>
        <p:spPr>
          <a:xfrm>
            <a:off x="6199632" y="4572000"/>
            <a:ext cx="5440680" cy="1508760"/>
          </a:xfrm>
          <a:prstGeom prst="roundRect">
            <a:avLst>
              <a:gd name="adj" fmla="val 6061"/>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43" name="Text 41"/>
          <p:cNvSpPr txBox="1"/>
          <p:nvPr/>
        </p:nvSpPr>
        <p:spPr>
          <a:xfrm>
            <a:off x="6473952" y="4709160"/>
            <a:ext cx="4937760" cy="365760"/>
          </a:xfrm>
          <a:prstGeom prst="rect">
            <a:avLst/>
          </a:prstGeom>
          <a:noFill/>
          <a:ln/>
        </p:spPr>
        <p:txBody>
          <a:bodyPr wrap="square" lIns="0" tIns="0" rIns="0" bIns="0" rtlCol="0" anchor="ctr"/>
          <a:lstStyle/>
          <a:p>
            <a:pPr marL="0" indent="0">
              <a:buNone/>
            </a:pPr>
            <a:r>
              <a:rPr lang="en-US" sz="1800" b="1" dirty="0">
                <a:solidFill>
                  <a:srgbClr val="2563EB"/>
                </a:solidFill>
                <a:latin typeface="Calibri" pitchFamily="34" charset="0"/>
                <a:ea typeface="Calibri" pitchFamily="34" charset="-122"/>
                <a:cs typeface="Calibri" pitchFamily="34" charset="-120"/>
              </a:rPr>
              <a:t>Generative AI explains</a:t>
            </a:r>
            <a:endParaRPr lang="en-US" sz="1800" dirty="0"/>
          </a:p>
        </p:txBody>
      </p:sp>
      <p:sp>
        <p:nvSpPr>
          <p:cNvPr id="44" name="Text 42"/>
          <p:cNvSpPr txBox="1"/>
          <p:nvPr/>
        </p:nvSpPr>
        <p:spPr>
          <a:xfrm>
            <a:off x="6473952" y="5120640"/>
            <a:ext cx="4937760" cy="86868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A small local LLM turns the signals into one plain sentence for the reviewer. It never changes the decision.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DATASET</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Two datasets: claim text for AI, policy data for context</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6</a:t>
            </a:r>
            <a:endParaRPr lang="en-US" sz="1100" dirty="0"/>
          </a:p>
        </p:txBody>
      </p:sp>
      <p:sp>
        <p:nvSpPr>
          <p:cNvPr id="5" name="Shape 3"/>
          <p:cNvSpPr/>
          <p:nvPr/>
        </p:nvSpPr>
        <p:spPr>
          <a:xfrm>
            <a:off x="548640" y="1691640"/>
            <a:ext cx="5212080" cy="2194560"/>
          </a:xfrm>
          <a:prstGeom prst="roundRect">
            <a:avLst>
              <a:gd name="adj" fmla="val 41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txBox="1"/>
          <p:nvPr/>
        </p:nvSpPr>
        <p:spPr>
          <a:xfrm>
            <a:off x="822960" y="1828800"/>
            <a:ext cx="3017520" cy="365760"/>
          </a:xfrm>
          <a:prstGeom prst="rect">
            <a:avLst/>
          </a:prstGeom>
          <a:noFill/>
          <a:ln/>
        </p:spPr>
        <p:txBody>
          <a:bodyPr wrap="square" lIns="0" tIns="0" rIns="0" bIns="0" rtlCol="0" anchor="ctr"/>
          <a:lstStyle/>
          <a:p>
            <a:pPr marL="0" indent="0">
              <a:buNone/>
            </a:pPr>
            <a:r>
              <a:rPr lang="en-US" sz="1900" b="1" dirty="0">
                <a:solidFill>
                  <a:srgbClr val="10243E"/>
                </a:solidFill>
                <a:latin typeface="Calibri" pitchFamily="34" charset="0"/>
                <a:ea typeface="Calibri" pitchFamily="34" charset="-122"/>
                <a:cs typeface="Calibri" pitchFamily="34" charset="-120"/>
              </a:rPr>
              <a:t>CLAIMLEVEL.csv</a:t>
            </a:r>
            <a:endParaRPr lang="en-US" sz="1900" dirty="0"/>
          </a:p>
        </p:txBody>
      </p:sp>
      <p:sp>
        <p:nvSpPr>
          <p:cNvPr id="7" name="Text 5"/>
          <p:cNvSpPr txBox="1"/>
          <p:nvPr/>
        </p:nvSpPr>
        <p:spPr>
          <a:xfrm>
            <a:off x="4023360" y="1892808"/>
            <a:ext cx="1508760" cy="274320"/>
          </a:xfrm>
          <a:prstGeom prst="rect">
            <a:avLst/>
          </a:prstGeom>
          <a:noFill/>
          <a:ln/>
        </p:spPr>
        <p:txBody>
          <a:bodyPr wrap="square" lIns="0" tIns="0" rIns="0" bIns="0" rtlCol="0" anchor="ctr"/>
          <a:lstStyle/>
          <a:p>
            <a:pPr marL="0" indent="0" algn="r">
              <a:buNone/>
            </a:pPr>
            <a:r>
              <a:rPr lang="en-US" sz="1100" b="1" kern="0" spc="200" dirty="0">
                <a:solidFill>
                  <a:srgbClr val="2563EB"/>
                </a:solidFill>
                <a:latin typeface="Calibri" pitchFamily="34" charset="0"/>
                <a:ea typeface="Calibri" pitchFamily="34" charset="-122"/>
                <a:cs typeface="Calibri" pitchFamily="34" charset="-120"/>
              </a:rPr>
              <a:t>MAIN · NLP</a:t>
            </a:r>
            <a:endParaRPr lang="en-US" sz="1100" dirty="0"/>
          </a:p>
        </p:txBody>
      </p:sp>
      <p:sp>
        <p:nvSpPr>
          <p:cNvPr id="8" name="Text 6"/>
          <p:cNvSpPr txBox="1"/>
          <p:nvPr/>
        </p:nvSpPr>
        <p:spPr>
          <a:xfrm>
            <a:off x="822960" y="2331720"/>
            <a:ext cx="475488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6,258 claim records, 2006–2010</a:t>
            </a:r>
            <a:endParaRPr lang="en-US" sz="1400" dirty="0"/>
          </a:p>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Description is the text the model reads</a:t>
            </a:r>
            <a:endParaRPr lang="en-US" sz="1400" dirty="0"/>
          </a:p>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CoverageCode is the label to predict</a:t>
            </a:r>
            <a:endParaRPr lang="en-US" sz="1400" dirty="0"/>
          </a:p>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Repeats and junk values need cleaning</a:t>
            </a:r>
            <a:endParaRPr lang="en-US" sz="1400" dirty="0"/>
          </a:p>
        </p:txBody>
      </p:sp>
      <p:sp>
        <p:nvSpPr>
          <p:cNvPr id="9" name="Shape 7"/>
          <p:cNvSpPr/>
          <p:nvPr/>
        </p:nvSpPr>
        <p:spPr>
          <a:xfrm>
            <a:off x="548640" y="4069080"/>
            <a:ext cx="5212080" cy="2194560"/>
          </a:xfrm>
          <a:prstGeom prst="roundRect">
            <a:avLst>
              <a:gd name="adj" fmla="val 41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Text 8"/>
          <p:cNvSpPr txBox="1"/>
          <p:nvPr/>
        </p:nvSpPr>
        <p:spPr>
          <a:xfrm>
            <a:off x="822960" y="4206240"/>
            <a:ext cx="3017520" cy="365760"/>
          </a:xfrm>
          <a:prstGeom prst="rect">
            <a:avLst/>
          </a:prstGeom>
          <a:noFill/>
          <a:ln/>
        </p:spPr>
        <p:txBody>
          <a:bodyPr wrap="square" lIns="0" tIns="0" rIns="0" bIns="0" rtlCol="0" anchor="ctr"/>
          <a:lstStyle/>
          <a:p>
            <a:pPr marL="0" indent="0">
              <a:buNone/>
            </a:pPr>
            <a:r>
              <a:rPr lang="en-US" sz="1900" b="1" dirty="0">
                <a:solidFill>
                  <a:srgbClr val="10243E"/>
                </a:solidFill>
                <a:latin typeface="Calibri" pitchFamily="34" charset="0"/>
                <a:ea typeface="Calibri" pitchFamily="34" charset="-122"/>
                <a:cs typeface="Calibri" pitchFamily="34" charset="-120"/>
              </a:rPr>
              <a:t>WiscPropFund.csv</a:t>
            </a:r>
            <a:endParaRPr lang="en-US" sz="1900" dirty="0"/>
          </a:p>
        </p:txBody>
      </p:sp>
      <p:sp>
        <p:nvSpPr>
          <p:cNvPr id="11" name="Text 9"/>
          <p:cNvSpPr txBox="1"/>
          <p:nvPr/>
        </p:nvSpPr>
        <p:spPr>
          <a:xfrm>
            <a:off x="3566160" y="4270248"/>
            <a:ext cx="1965960" cy="274320"/>
          </a:xfrm>
          <a:prstGeom prst="rect">
            <a:avLst/>
          </a:prstGeom>
          <a:noFill/>
          <a:ln/>
        </p:spPr>
        <p:txBody>
          <a:bodyPr wrap="square" lIns="0" tIns="0" rIns="0" bIns="0" rtlCol="0" anchor="ctr"/>
          <a:lstStyle/>
          <a:p>
            <a:pPr marL="0" indent="0" algn="r">
              <a:buNone/>
            </a:pPr>
            <a:r>
              <a:rPr lang="en-US" sz="1100" b="1" kern="0" spc="200" dirty="0">
                <a:solidFill>
                  <a:srgbClr val="2563EB"/>
                </a:solidFill>
                <a:latin typeface="Calibri" pitchFamily="34" charset="0"/>
                <a:ea typeface="Calibri" pitchFamily="34" charset="-122"/>
                <a:cs typeface="Calibri" pitchFamily="34" charset="-120"/>
              </a:rPr>
              <a:t>CONTEXT · NUMERIC</a:t>
            </a:r>
            <a:endParaRPr lang="en-US" sz="1100" dirty="0"/>
          </a:p>
        </p:txBody>
      </p:sp>
      <p:sp>
        <p:nvSpPr>
          <p:cNvPr id="12" name="Text 10"/>
          <p:cNvSpPr txBox="1"/>
          <p:nvPr/>
        </p:nvSpPr>
        <p:spPr>
          <a:xfrm>
            <a:off x="822960" y="4709160"/>
            <a:ext cx="4754880" cy="14173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5,639 policy-years across 1,227 policies</a:t>
            </a:r>
            <a:endParaRPr lang="en-US" sz="1400" dirty="0"/>
          </a:p>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Premium, coverage, deductible, claim frequency</a:t>
            </a:r>
            <a:endParaRPr lang="en-US" sz="1400" dirty="0"/>
          </a:p>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70% of policy-years have no claim</a:t>
            </a:r>
            <a:endParaRPr lang="en-US" sz="1400" dirty="0"/>
          </a:p>
          <a:p>
            <a:pPr marL="342900" indent="-342900">
              <a:spcAft>
                <a:spcPts val="500"/>
              </a:spcAft>
              <a:buSzPct val="100000"/>
              <a:buChar char="•"/>
            </a:pPr>
            <a:r>
              <a:rPr lang="en-US" sz="1400" dirty="0">
                <a:solidFill>
                  <a:srgbClr val="10243E"/>
                </a:solidFill>
                <a:latin typeface="Calibri" pitchFamily="34" charset="0"/>
                <a:ea typeface="Calibri" pitchFamily="34" charset="-122"/>
                <a:cs typeface="Calibri" pitchFamily="34" charset="-120"/>
              </a:rPr>
              <a:t>No text — kept separate for portfolio analytics</a:t>
            </a:r>
            <a:endParaRPr lang="en-US" sz="1400" dirty="0"/>
          </a:p>
        </p:txBody>
      </p:sp>
      <p:sp>
        <p:nvSpPr>
          <p:cNvPr id="13" name="Shape 11"/>
          <p:cNvSpPr/>
          <p:nvPr/>
        </p:nvSpPr>
        <p:spPr>
          <a:xfrm>
            <a:off x="5989320" y="1691640"/>
            <a:ext cx="5650992" cy="4572000"/>
          </a:xfrm>
          <a:prstGeom prst="roundRect">
            <a:avLst>
              <a:gd name="adj" fmla="val 2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4" name="Text 12"/>
          <p:cNvSpPr txBox="1"/>
          <p:nvPr/>
        </p:nvSpPr>
        <p:spPr>
          <a:xfrm>
            <a:off x="6263640" y="1828800"/>
            <a:ext cx="5120640" cy="36576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Claims per CoverageCode (raw counts)</a:t>
            </a:r>
            <a:endParaRPr lang="en-US" sz="1700" dirty="0"/>
          </a:p>
        </p:txBody>
      </p:sp>
      <p:graphicFrame>
        <p:nvGraphicFramePr>
          <p:cNvPr id="15" name="Chart 0"/>
          <p:cNvGraphicFramePr/>
          <p:nvPr/>
        </p:nvGraphicFramePr>
        <p:xfrm>
          <a:off x="6172200" y="2240280"/>
          <a:ext cx="530352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6263640" y="5833872"/>
            <a:ext cx="5120640" cy="320040"/>
          </a:xfrm>
          <a:prstGeom prst="rect">
            <a:avLst/>
          </a:prstGeom>
          <a:noFill/>
          <a:ln/>
        </p:spPr>
        <p:txBody>
          <a:bodyPr wrap="square" lIns="0" tIns="0" rIns="0" bIns="0" rtlCol="0" anchor="ctr"/>
          <a:lstStyle/>
          <a:p>
            <a:pPr marL="0" indent="0">
              <a:buNone/>
            </a:pPr>
            <a:r>
              <a:rPr lang="en-US" sz="1300" i="1" dirty="0">
                <a:solidFill>
                  <a:srgbClr val="5B6B82"/>
                </a:solidFill>
                <a:latin typeface="Calibri" pitchFamily="34" charset="0"/>
                <a:ea typeface="Calibri" pitchFamily="34" charset="-122"/>
                <a:cs typeface="Calibri" pitchFamily="34" charset="-120"/>
              </a:rPr>
              <a:t>Three codes cover 99% of claims; the rest are too rare to learn.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DATA PREPARATION</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EDA found five data problems — each one has a fix</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7</a:t>
            </a:r>
            <a:endParaRPr lang="en-US" sz="1100" dirty="0"/>
          </a:p>
        </p:txBody>
      </p:sp>
      <p:sp>
        <p:nvSpPr>
          <p:cNvPr id="5" name="Text 3"/>
          <p:cNvSpPr txBox="1"/>
          <p:nvPr/>
        </p:nvSpPr>
        <p:spPr>
          <a:xfrm>
            <a:off x="548640" y="1600200"/>
            <a:ext cx="4937760" cy="274320"/>
          </a:xfrm>
          <a:prstGeom prst="rect">
            <a:avLst/>
          </a:prstGeom>
          <a:noFill/>
          <a:ln/>
        </p:spPr>
        <p:txBody>
          <a:bodyPr wrap="square" lIns="0" tIns="0" rIns="0" bIns="0" rtlCol="0" anchor="ctr"/>
          <a:lstStyle/>
          <a:p>
            <a:pPr marL="0" indent="0">
              <a:buNone/>
            </a:pPr>
            <a:r>
              <a:rPr lang="en-US" sz="1200" b="1" kern="0" spc="200" dirty="0">
                <a:solidFill>
                  <a:srgbClr val="5B6B82"/>
                </a:solidFill>
                <a:latin typeface="Calibri" pitchFamily="34" charset="0"/>
                <a:ea typeface="Calibri" pitchFamily="34" charset="-122"/>
                <a:cs typeface="Calibri" pitchFamily="34" charset="-120"/>
              </a:rPr>
              <a:t>WHAT THE EDA SHOWED</a:t>
            </a:r>
            <a:endParaRPr lang="en-US" sz="1200" dirty="0"/>
          </a:p>
        </p:txBody>
      </p:sp>
      <p:sp>
        <p:nvSpPr>
          <p:cNvPr id="6" name="Text 4"/>
          <p:cNvSpPr txBox="1"/>
          <p:nvPr/>
        </p:nvSpPr>
        <p:spPr>
          <a:xfrm>
            <a:off x="6400800" y="1600200"/>
            <a:ext cx="4937760" cy="274320"/>
          </a:xfrm>
          <a:prstGeom prst="rect">
            <a:avLst/>
          </a:prstGeom>
          <a:noFill/>
          <a:ln/>
        </p:spPr>
        <p:txBody>
          <a:bodyPr wrap="square" lIns="0" tIns="0" rIns="0" bIns="0" rtlCol="0" anchor="ctr"/>
          <a:lstStyle/>
          <a:p>
            <a:pPr marL="0" indent="0">
              <a:buNone/>
            </a:pPr>
            <a:r>
              <a:rPr lang="en-US" sz="1200" b="1" kern="0" spc="200" dirty="0">
                <a:solidFill>
                  <a:srgbClr val="5B6B82"/>
                </a:solidFill>
                <a:latin typeface="Calibri" pitchFamily="34" charset="0"/>
                <a:ea typeface="Calibri" pitchFamily="34" charset="-122"/>
                <a:cs typeface="Calibri" pitchFamily="34" charset="-120"/>
              </a:rPr>
              <a:t>WHAT WE DID ABOUT IT</a:t>
            </a:r>
            <a:endParaRPr lang="en-US" sz="1200" dirty="0"/>
          </a:p>
        </p:txBody>
      </p:sp>
      <p:sp>
        <p:nvSpPr>
          <p:cNvPr id="7" name="Shape 5"/>
          <p:cNvSpPr/>
          <p:nvPr/>
        </p:nvSpPr>
        <p:spPr>
          <a:xfrm>
            <a:off x="548640" y="1920240"/>
            <a:ext cx="5394960" cy="749808"/>
          </a:xfrm>
          <a:prstGeom prst="roundRect">
            <a:avLst>
              <a:gd name="adj" fmla="val 1219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8" name="Text 6"/>
          <p:cNvSpPr txBox="1"/>
          <p:nvPr/>
        </p:nvSpPr>
        <p:spPr>
          <a:xfrm>
            <a:off x="777240" y="1920240"/>
            <a:ext cx="4983480" cy="749808"/>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ClaimNum is not a real key: 4 unique values, one covers 99.9% of rows</a:t>
            </a:r>
            <a:endParaRPr lang="en-US" sz="1400" dirty="0"/>
          </a:p>
        </p:txBody>
      </p:sp>
      <p:sp>
        <p:nvSpPr>
          <p:cNvPr id="9" name="Shape 7"/>
          <p:cNvSpPr/>
          <p:nvPr/>
        </p:nvSpPr>
        <p:spPr>
          <a:xfrm>
            <a:off x="6016752" y="2295144"/>
            <a:ext cx="310896" cy="0"/>
          </a:xfrm>
          <a:prstGeom prst="line">
            <a:avLst/>
          </a:prstGeom>
          <a:noFill/>
          <a:ln w="22225">
            <a:solidFill>
              <a:srgbClr val="2563EB"/>
            </a:solidFill>
            <a:prstDash val="solid"/>
            <a:tailEnd type="triangle"/>
          </a:ln>
        </p:spPr>
      </p:sp>
      <p:sp>
        <p:nvSpPr>
          <p:cNvPr id="10" name="Shape 8"/>
          <p:cNvSpPr/>
          <p:nvPr/>
        </p:nvSpPr>
        <p:spPr>
          <a:xfrm>
            <a:off x="6400800" y="1920240"/>
            <a:ext cx="5239512" cy="749808"/>
          </a:xfrm>
          <a:prstGeom prst="roundRect">
            <a:avLst>
              <a:gd name="adj" fmla="val 12195"/>
            </a:avLst>
          </a:prstGeom>
          <a:solidFill>
            <a:srgbClr val="DCE8FB"/>
          </a:solidFill>
          <a:ln w="9525">
            <a:solidFill>
              <a:srgbClr val="DCE8FB"/>
            </a:solidFill>
            <a:prstDash val="solid"/>
          </a:ln>
        </p:spPr>
      </p:sp>
      <p:sp>
        <p:nvSpPr>
          <p:cNvPr id="11" name="Text 9"/>
          <p:cNvSpPr txBox="1"/>
          <p:nvPr/>
        </p:nvSpPr>
        <p:spPr>
          <a:xfrm>
            <a:off x="6629400" y="1920240"/>
            <a:ext cx="4846320" cy="749808"/>
          </a:xfrm>
          <a:prstGeom prst="rect">
            <a:avLst/>
          </a:prstGeom>
          <a:noFill/>
          <a:ln/>
        </p:spPr>
        <p:txBody>
          <a:bodyPr wrap="square" lIns="0" tIns="0" rIns="0" bIns="0" rtlCol="0" anchor="ctr"/>
          <a:lstStyle/>
          <a:p>
            <a:pPr marL="0" indent="0">
              <a:buNone/>
            </a:pPr>
            <a:r>
              <a:rPr lang="en-US" sz="1400" b="1" dirty="0">
                <a:solidFill>
                  <a:srgbClr val="10243E"/>
                </a:solidFill>
                <a:latin typeface="Calibri" pitchFamily="34" charset="0"/>
                <a:ea typeface="Calibri" pitchFamily="34" charset="-122"/>
                <a:cs typeface="Calibri" pitchFamily="34" charset="-120"/>
              </a:rPr>
              <a:t>Dedupe on full row content, not on ClaimNum</a:t>
            </a:r>
            <a:endParaRPr lang="en-US" sz="1400" dirty="0"/>
          </a:p>
        </p:txBody>
      </p:sp>
      <p:sp>
        <p:nvSpPr>
          <p:cNvPr id="12" name="Shape 10"/>
          <p:cNvSpPr/>
          <p:nvPr/>
        </p:nvSpPr>
        <p:spPr>
          <a:xfrm>
            <a:off x="548640" y="2788920"/>
            <a:ext cx="5394960" cy="749808"/>
          </a:xfrm>
          <a:prstGeom prst="roundRect">
            <a:avLst>
              <a:gd name="adj" fmla="val 1219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3" name="Text 11"/>
          <p:cNvSpPr txBox="1"/>
          <p:nvPr/>
        </p:nvSpPr>
        <p:spPr>
          <a:xfrm>
            <a:off x="777240" y="2788920"/>
            <a:ext cx="4983480" cy="749808"/>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834 exact duplicate rows (6,258 → 5,424 unique)</a:t>
            </a:r>
            <a:endParaRPr lang="en-US" sz="1400" dirty="0"/>
          </a:p>
        </p:txBody>
      </p:sp>
      <p:sp>
        <p:nvSpPr>
          <p:cNvPr id="14" name="Shape 12"/>
          <p:cNvSpPr/>
          <p:nvPr/>
        </p:nvSpPr>
        <p:spPr>
          <a:xfrm>
            <a:off x="6016752" y="3163824"/>
            <a:ext cx="310896" cy="0"/>
          </a:xfrm>
          <a:prstGeom prst="line">
            <a:avLst/>
          </a:prstGeom>
          <a:noFill/>
          <a:ln w="22225">
            <a:solidFill>
              <a:srgbClr val="2563EB"/>
            </a:solidFill>
            <a:prstDash val="solid"/>
            <a:tailEnd type="triangle"/>
          </a:ln>
        </p:spPr>
      </p:sp>
      <p:sp>
        <p:nvSpPr>
          <p:cNvPr id="15" name="Shape 13"/>
          <p:cNvSpPr/>
          <p:nvPr/>
        </p:nvSpPr>
        <p:spPr>
          <a:xfrm>
            <a:off x="6400800" y="2788920"/>
            <a:ext cx="5239512" cy="749808"/>
          </a:xfrm>
          <a:prstGeom prst="roundRect">
            <a:avLst>
              <a:gd name="adj" fmla="val 12195"/>
            </a:avLst>
          </a:prstGeom>
          <a:solidFill>
            <a:srgbClr val="DCE8FB"/>
          </a:solidFill>
          <a:ln w="9525">
            <a:solidFill>
              <a:srgbClr val="DCE8FB"/>
            </a:solidFill>
            <a:prstDash val="solid"/>
          </a:ln>
        </p:spPr>
      </p:sp>
      <p:sp>
        <p:nvSpPr>
          <p:cNvPr id="16" name="Text 14"/>
          <p:cNvSpPr txBox="1"/>
          <p:nvPr/>
        </p:nvSpPr>
        <p:spPr>
          <a:xfrm>
            <a:off x="6629400" y="2788920"/>
            <a:ext cx="4846320" cy="749808"/>
          </a:xfrm>
          <a:prstGeom prst="rect">
            <a:avLst/>
          </a:prstGeom>
          <a:noFill/>
          <a:ln/>
        </p:spPr>
        <p:txBody>
          <a:bodyPr wrap="square" lIns="0" tIns="0" rIns="0" bIns="0" rtlCol="0" anchor="ctr"/>
          <a:lstStyle/>
          <a:p>
            <a:pPr marL="0" indent="0">
              <a:buNone/>
            </a:pPr>
            <a:r>
              <a:rPr lang="en-US" sz="1400" b="1" dirty="0">
                <a:solidFill>
                  <a:srgbClr val="10243E"/>
                </a:solidFill>
                <a:latin typeface="Calibri" pitchFamily="34" charset="0"/>
                <a:ea typeface="Calibri" pitchFamily="34" charset="-122"/>
                <a:cs typeface="Calibri" pitchFamily="34" charset="-120"/>
              </a:rPr>
              <a:t>Removed duplicates before splitting</a:t>
            </a:r>
            <a:endParaRPr lang="en-US" sz="1400" dirty="0"/>
          </a:p>
        </p:txBody>
      </p:sp>
      <p:sp>
        <p:nvSpPr>
          <p:cNvPr id="17" name="Shape 15"/>
          <p:cNvSpPr/>
          <p:nvPr/>
        </p:nvSpPr>
        <p:spPr>
          <a:xfrm>
            <a:off x="548640" y="3657600"/>
            <a:ext cx="5394960" cy="749808"/>
          </a:xfrm>
          <a:prstGeom prst="roundRect">
            <a:avLst>
              <a:gd name="adj" fmla="val 1219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Text 16"/>
          <p:cNvSpPr txBox="1"/>
          <p:nvPr/>
        </p:nvSpPr>
        <p:spPr>
          <a:xfrm>
            <a:off x="777240" y="3657600"/>
            <a:ext cx="4983480" cy="749808"/>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ClaimStatus and CoverageGroup each hold a single value</a:t>
            </a:r>
            <a:endParaRPr lang="en-US" sz="1400" dirty="0"/>
          </a:p>
        </p:txBody>
      </p:sp>
      <p:sp>
        <p:nvSpPr>
          <p:cNvPr id="19" name="Shape 17"/>
          <p:cNvSpPr/>
          <p:nvPr/>
        </p:nvSpPr>
        <p:spPr>
          <a:xfrm>
            <a:off x="6016752" y="4032504"/>
            <a:ext cx="310896" cy="0"/>
          </a:xfrm>
          <a:prstGeom prst="line">
            <a:avLst/>
          </a:prstGeom>
          <a:noFill/>
          <a:ln w="22225">
            <a:solidFill>
              <a:srgbClr val="2563EB"/>
            </a:solidFill>
            <a:prstDash val="solid"/>
            <a:tailEnd type="triangle"/>
          </a:ln>
        </p:spPr>
      </p:sp>
      <p:sp>
        <p:nvSpPr>
          <p:cNvPr id="20" name="Shape 18"/>
          <p:cNvSpPr/>
          <p:nvPr/>
        </p:nvSpPr>
        <p:spPr>
          <a:xfrm>
            <a:off x="6400800" y="3657600"/>
            <a:ext cx="5239512" cy="749808"/>
          </a:xfrm>
          <a:prstGeom prst="roundRect">
            <a:avLst>
              <a:gd name="adj" fmla="val 12195"/>
            </a:avLst>
          </a:prstGeom>
          <a:solidFill>
            <a:srgbClr val="DCE8FB"/>
          </a:solidFill>
          <a:ln w="9525">
            <a:solidFill>
              <a:srgbClr val="DCE8FB"/>
            </a:solidFill>
            <a:prstDash val="solid"/>
          </a:ln>
        </p:spPr>
      </p:sp>
      <p:sp>
        <p:nvSpPr>
          <p:cNvPr id="21" name="Text 19"/>
          <p:cNvSpPr txBox="1"/>
          <p:nvPr/>
        </p:nvSpPr>
        <p:spPr>
          <a:xfrm>
            <a:off x="6629400" y="3657600"/>
            <a:ext cx="4846320" cy="749808"/>
          </a:xfrm>
          <a:prstGeom prst="rect">
            <a:avLst/>
          </a:prstGeom>
          <a:noFill/>
          <a:ln/>
        </p:spPr>
        <p:txBody>
          <a:bodyPr wrap="square" lIns="0" tIns="0" rIns="0" bIns="0" rtlCol="0" anchor="ctr"/>
          <a:lstStyle/>
          <a:p>
            <a:pPr marL="0" indent="0">
              <a:buNone/>
            </a:pPr>
            <a:r>
              <a:rPr lang="en-US" sz="1400" b="1" dirty="0">
                <a:solidFill>
                  <a:srgbClr val="10243E"/>
                </a:solidFill>
                <a:latin typeface="Calibri" pitchFamily="34" charset="0"/>
                <a:ea typeface="Calibri" pitchFamily="34" charset="-122"/>
                <a:cs typeface="Calibri" pitchFamily="34" charset="-120"/>
              </a:rPr>
              <a:t>Dropped both — they carry no signal</a:t>
            </a:r>
            <a:endParaRPr lang="en-US" sz="1400" dirty="0"/>
          </a:p>
        </p:txBody>
      </p:sp>
      <p:sp>
        <p:nvSpPr>
          <p:cNvPr id="22" name="Shape 20"/>
          <p:cNvSpPr/>
          <p:nvPr/>
        </p:nvSpPr>
        <p:spPr>
          <a:xfrm>
            <a:off x="548640" y="4526280"/>
            <a:ext cx="5394960" cy="749808"/>
          </a:xfrm>
          <a:prstGeom prst="roundRect">
            <a:avLst>
              <a:gd name="adj" fmla="val 1219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3" name="Text 21"/>
          <p:cNvSpPr txBox="1"/>
          <p:nvPr/>
        </p:nvSpPr>
        <p:spPr>
          <a:xfrm>
            <a:off x="777240" y="4526280"/>
            <a:ext cx="4983480" cy="749808"/>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10 rare CoverageCodes, each with fewer than 30 rows</a:t>
            </a:r>
            <a:endParaRPr lang="en-US" sz="1400" dirty="0"/>
          </a:p>
        </p:txBody>
      </p:sp>
      <p:sp>
        <p:nvSpPr>
          <p:cNvPr id="24" name="Shape 22"/>
          <p:cNvSpPr/>
          <p:nvPr/>
        </p:nvSpPr>
        <p:spPr>
          <a:xfrm>
            <a:off x="6016752" y="4901184"/>
            <a:ext cx="310896" cy="0"/>
          </a:xfrm>
          <a:prstGeom prst="line">
            <a:avLst/>
          </a:prstGeom>
          <a:noFill/>
          <a:ln w="22225">
            <a:solidFill>
              <a:srgbClr val="2563EB"/>
            </a:solidFill>
            <a:prstDash val="solid"/>
            <a:tailEnd type="triangle"/>
          </a:ln>
        </p:spPr>
      </p:sp>
      <p:sp>
        <p:nvSpPr>
          <p:cNvPr id="25" name="Shape 23"/>
          <p:cNvSpPr/>
          <p:nvPr/>
        </p:nvSpPr>
        <p:spPr>
          <a:xfrm>
            <a:off x="6400800" y="4526280"/>
            <a:ext cx="5239512" cy="749808"/>
          </a:xfrm>
          <a:prstGeom prst="roundRect">
            <a:avLst>
              <a:gd name="adj" fmla="val 12195"/>
            </a:avLst>
          </a:prstGeom>
          <a:solidFill>
            <a:srgbClr val="DCE8FB"/>
          </a:solidFill>
          <a:ln w="9525">
            <a:solidFill>
              <a:srgbClr val="DCE8FB"/>
            </a:solidFill>
            <a:prstDash val="solid"/>
          </a:ln>
        </p:spPr>
      </p:sp>
      <p:sp>
        <p:nvSpPr>
          <p:cNvPr id="26" name="Text 24"/>
          <p:cNvSpPr txBox="1"/>
          <p:nvPr/>
        </p:nvSpPr>
        <p:spPr>
          <a:xfrm>
            <a:off x="6629400" y="4526280"/>
            <a:ext cx="4846320" cy="749808"/>
          </a:xfrm>
          <a:prstGeom prst="rect">
            <a:avLst/>
          </a:prstGeom>
          <a:noFill/>
          <a:ln/>
        </p:spPr>
        <p:txBody>
          <a:bodyPr wrap="square" lIns="0" tIns="0" rIns="0" bIns="0" rtlCol="0" anchor="ctr"/>
          <a:lstStyle/>
          <a:p>
            <a:pPr marL="0" indent="0">
              <a:buNone/>
            </a:pPr>
            <a:r>
              <a:rPr lang="en-US" sz="1400" b="1" dirty="0">
                <a:solidFill>
                  <a:srgbClr val="10243E"/>
                </a:solidFill>
                <a:latin typeface="Calibri" pitchFamily="34" charset="0"/>
                <a:ea typeface="Calibri" pitchFamily="34" charset="-122"/>
                <a:cs typeface="Calibri" pitchFamily="34" charset="-120"/>
              </a:rPr>
              <a:t>Kept VE, VS, VF; merged the rest into “Other”</a:t>
            </a:r>
            <a:endParaRPr lang="en-US" sz="1400" dirty="0"/>
          </a:p>
        </p:txBody>
      </p:sp>
      <p:sp>
        <p:nvSpPr>
          <p:cNvPr id="27" name="Shape 25"/>
          <p:cNvSpPr/>
          <p:nvPr/>
        </p:nvSpPr>
        <p:spPr>
          <a:xfrm>
            <a:off x="548640" y="5394960"/>
            <a:ext cx="5394960" cy="749808"/>
          </a:xfrm>
          <a:prstGeom prst="roundRect">
            <a:avLst>
              <a:gd name="adj" fmla="val 1219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8" name="Text 26"/>
          <p:cNvSpPr txBox="1"/>
          <p:nvPr/>
        </p:nvSpPr>
        <p:spPr>
          <a:xfrm>
            <a:off x="777240" y="5394960"/>
            <a:ext cx="4983480" cy="749808"/>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Fire5 has junk values (−99 to 90); 129 rows fall outside 0–10</a:t>
            </a:r>
            <a:endParaRPr lang="en-US" sz="1400" dirty="0"/>
          </a:p>
        </p:txBody>
      </p:sp>
      <p:sp>
        <p:nvSpPr>
          <p:cNvPr id="29" name="Shape 27"/>
          <p:cNvSpPr/>
          <p:nvPr/>
        </p:nvSpPr>
        <p:spPr>
          <a:xfrm>
            <a:off x="6016752" y="5769864"/>
            <a:ext cx="310896" cy="0"/>
          </a:xfrm>
          <a:prstGeom prst="line">
            <a:avLst/>
          </a:prstGeom>
          <a:noFill/>
          <a:ln w="22225">
            <a:solidFill>
              <a:srgbClr val="2563EB"/>
            </a:solidFill>
            <a:prstDash val="solid"/>
            <a:tailEnd type="triangle"/>
          </a:ln>
        </p:spPr>
      </p:sp>
      <p:sp>
        <p:nvSpPr>
          <p:cNvPr id="30" name="Shape 28"/>
          <p:cNvSpPr/>
          <p:nvPr/>
        </p:nvSpPr>
        <p:spPr>
          <a:xfrm>
            <a:off x="6400800" y="5394960"/>
            <a:ext cx="5239512" cy="749808"/>
          </a:xfrm>
          <a:prstGeom prst="roundRect">
            <a:avLst>
              <a:gd name="adj" fmla="val 12195"/>
            </a:avLst>
          </a:prstGeom>
          <a:solidFill>
            <a:srgbClr val="DCE8FB"/>
          </a:solidFill>
          <a:ln w="9525">
            <a:solidFill>
              <a:srgbClr val="DCE8FB"/>
            </a:solidFill>
            <a:prstDash val="solid"/>
          </a:ln>
        </p:spPr>
      </p:sp>
      <p:sp>
        <p:nvSpPr>
          <p:cNvPr id="31" name="Text 29"/>
          <p:cNvSpPr txBox="1"/>
          <p:nvPr/>
        </p:nvSpPr>
        <p:spPr>
          <a:xfrm>
            <a:off x="6629400" y="5394960"/>
            <a:ext cx="4846320" cy="749808"/>
          </a:xfrm>
          <a:prstGeom prst="rect">
            <a:avLst/>
          </a:prstGeom>
          <a:noFill/>
          <a:ln/>
        </p:spPr>
        <p:txBody>
          <a:bodyPr wrap="square" lIns="0" tIns="0" rIns="0" bIns="0" rtlCol="0" anchor="ctr"/>
          <a:lstStyle/>
          <a:p>
            <a:pPr marL="0" indent="0">
              <a:buNone/>
            </a:pPr>
            <a:r>
              <a:rPr lang="en-US" sz="1400" b="1" dirty="0">
                <a:solidFill>
                  <a:srgbClr val="10243E"/>
                </a:solidFill>
                <a:latin typeface="Calibri" pitchFamily="34" charset="0"/>
                <a:ea typeface="Calibri" pitchFamily="34" charset="-122"/>
                <a:cs typeface="Calibri" pitchFamily="34" charset="-120"/>
              </a:rPr>
              <a:t>Invalid values set to missing, filled with the median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DATA PREPARATION</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A leakage-safe split keeps test claims truly unseen</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8</a:t>
            </a:r>
            <a:endParaRPr lang="en-US" sz="1100" dirty="0"/>
          </a:p>
        </p:txBody>
      </p:sp>
      <p:sp>
        <p:nvSpPr>
          <p:cNvPr id="5" name="Shape 3"/>
          <p:cNvSpPr/>
          <p:nvPr/>
        </p:nvSpPr>
        <p:spPr>
          <a:xfrm>
            <a:off x="548640" y="1737360"/>
            <a:ext cx="2606040" cy="1600200"/>
          </a:xfrm>
          <a:prstGeom prst="roundRect">
            <a:avLst>
              <a:gd name="adj" fmla="val 571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txBox="1"/>
          <p:nvPr/>
        </p:nvSpPr>
        <p:spPr>
          <a:xfrm>
            <a:off x="731520" y="1874520"/>
            <a:ext cx="2240280" cy="731520"/>
          </a:xfrm>
          <a:prstGeom prst="rect">
            <a:avLst/>
          </a:prstGeom>
          <a:noFill/>
          <a:ln/>
        </p:spPr>
        <p:txBody>
          <a:bodyPr wrap="square" lIns="0" tIns="0" rIns="0" bIns="0" rtlCol="0" anchor="ctr"/>
          <a:lstStyle/>
          <a:p>
            <a:pPr marL="0" indent="0">
              <a:buNone/>
            </a:pPr>
            <a:r>
              <a:rPr lang="en-US" sz="4400" b="1" dirty="0">
                <a:solidFill>
                  <a:srgbClr val="2563EB"/>
                </a:solidFill>
                <a:latin typeface="Calibri" pitchFamily="34" charset="0"/>
                <a:ea typeface="Calibri" pitchFamily="34" charset="-122"/>
                <a:cs typeface="Calibri" pitchFamily="34" charset="-120"/>
              </a:rPr>
              <a:t>6,258</a:t>
            </a:r>
            <a:endParaRPr lang="en-US" sz="4400" dirty="0"/>
          </a:p>
        </p:txBody>
      </p:sp>
      <p:sp>
        <p:nvSpPr>
          <p:cNvPr id="7" name="Text 5"/>
          <p:cNvSpPr txBox="1"/>
          <p:nvPr/>
        </p:nvSpPr>
        <p:spPr>
          <a:xfrm>
            <a:off x="731520" y="2651760"/>
            <a:ext cx="2240280" cy="54864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Raw claim records</a:t>
            </a:r>
            <a:endParaRPr lang="en-US" sz="1400" dirty="0"/>
          </a:p>
        </p:txBody>
      </p:sp>
      <p:sp>
        <p:nvSpPr>
          <p:cNvPr id="8" name="Shape 6"/>
          <p:cNvSpPr/>
          <p:nvPr/>
        </p:nvSpPr>
        <p:spPr>
          <a:xfrm>
            <a:off x="3346704" y="1737360"/>
            <a:ext cx="2606040" cy="1600200"/>
          </a:xfrm>
          <a:prstGeom prst="roundRect">
            <a:avLst>
              <a:gd name="adj" fmla="val 571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9" name="Text 7"/>
          <p:cNvSpPr txBox="1"/>
          <p:nvPr/>
        </p:nvSpPr>
        <p:spPr>
          <a:xfrm>
            <a:off x="3529584" y="1874520"/>
            <a:ext cx="2240280" cy="731520"/>
          </a:xfrm>
          <a:prstGeom prst="rect">
            <a:avLst/>
          </a:prstGeom>
          <a:noFill/>
          <a:ln/>
        </p:spPr>
        <p:txBody>
          <a:bodyPr wrap="square" lIns="0" tIns="0" rIns="0" bIns="0" rtlCol="0" anchor="ctr"/>
          <a:lstStyle/>
          <a:p>
            <a:pPr marL="0" indent="0">
              <a:buNone/>
            </a:pPr>
            <a:r>
              <a:rPr lang="en-US" sz="4400" b="1" dirty="0">
                <a:solidFill>
                  <a:srgbClr val="2563EB"/>
                </a:solidFill>
                <a:latin typeface="Calibri" pitchFamily="34" charset="0"/>
                <a:ea typeface="Calibri" pitchFamily="34" charset="-122"/>
                <a:cs typeface="Calibri" pitchFamily="34" charset="-120"/>
              </a:rPr>
              <a:t>5,424</a:t>
            </a:r>
            <a:endParaRPr lang="en-US" sz="4400" dirty="0"/>
          </a:p>
        </p:txBody>
      </p:sp>
      <p:sp>
        <p:nvSpPr>
          <p:cNvPr id="10" name="Text 8"/>
          <p:cNvSpPr txBox="1"/>
          <p:nvPr/>
        </p:nvSpPr>
        <p:spPr>
          <a:xfrm>
            <a:off x="3529584" y="2651760"/>
            <a:ext cx="2240280" cy="54864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After removing exact duplicates</a:t>
            </a:r>
            <a:endParaRPr lang="en-US" sz="1400" dirty="0"/>
          </a:p>
        </p:txBody>
      </p:sp>
      <p:sp>
        <p:nvSpPr>
          <p:cNvPr id="11" name="Shape 9"/>
          <p:cNvSpPr/>
          <p:nvPr/>
        </p:nvSpPr>
        <p:spPr>
          <a:xfrm>
            <a:off x="6144768" y="1737360"/>
            <a:ext cx="2606040" cy="1600200"/>
          </a:xfrm>
          <a:prstGeom prst="roundRect">
            <a:avLst>
              <a:gd name="adj" fmla="val 5714"/>
            </a:avLst>
          </a:prstGeom>
          <a:solidFill>
            <a:srgbClr val="DCE8FB"/>
          </a:solidFill>
          <a:ln w="9525">
            <a:solidFill>
              <a:srgbClr val="DCE8FB"/>
            </a:solidFill>
            <a:prstDash val="solid"/>
          </a:ln>
        </p:spPr>
      </p:sp>
      <p:sp>
        <p:nvSpPr>
          <p:cNvPr id="12" name="Text 10"/>
          <p:cNvSpPr txBox="1"/>
          <p:nvPr/>
        </p:nvSpPr>
        <p:spPr>
          <a:xfrm>
            <a:off x="6327648" y="1874520"/>
            <a:ext cx="2240280" cy="731520"/>
          </a:xfrm>
          <a:prstGeom prst="rect">
            <a:avLst/>
          </a:prstGeom>
          <a:noFill/>
          <a:ln/>
        </p:spPr>
        <p:txBody>
          <a:bodyPr wrap="square" lIns="0" tIns="0" rIns="0" bIns="0" rtlCol="0" anchor="ctr"/>
          <a:lstStyle/>
          <a:p>
            <a:pPr marL="0" indent="0">
              <a:buNone/>
            </a:pPr>
            <a:r>
              <a:rPr lang="en-US" sz="4400" b="1" dirty="0">
                <a:solidFill>
                  <a:srgbClr val="2563EB"/>
                </a:solidFill>
                <a:latin typeface="Calibri" pitchFamily="34" charset="0"/>
                <a:ea typeface="Calibri" pitchFamily="34" charset="-122"/>
                <a:cs typeface="Calibri" pitchFamily="34" charset="-120"/>
              </a:rPr>
              <a:t>4,297</a:t>
            </a:r>
            <a:endParaRPr lang="en-US" sz="4400" dirty="0"/>
          </a:p>
        </p:txBody>
      </p:sp>
      <p:sp>
        <p:nvSpPr>
          <p:cNvPr id="13" name="Text 11"/>
          <p:cNvSpPr txBox="1"/>
          <p:nvPr/>
        </p:nvSpPr>
        <p:spPr>
          <a:xfrm>
            <a:off x="6327648" y="2651760"/>
            <a:ext cx="2240280" cy="54864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Training claims</a:t>
            </a:r>
            <a:endParaRPr lang="en-US" sz="1400" dirty="0"/>
          </a:p>
        </p:txBody>
      </p:sp>
      <p:sp>
        <p:nvSpPr>
          <p:cNvPr id="14" name="Shape 12"/>
          <p:cNvSpPr/>
          <p:nvPr/>
        </p:nvSpPr>
        <p:spPr>
          <a:xfrm>
            <a:off x="8942832" y="1737360"/>
            <a:ext cx="2606040" cy="1600200"/>
          </a:xfrm>
          <a:prstGeom prst="roundRect">
            <a:avLst>
              <a:gd name="adj" fmla="val 5714"/>
            </a:avLst>
          </a:prstGeom>
          <a:solidFill>
            <a:srgbClr val="DCE8FB"/>
          </a:solidFill>
          <a:ln w="9525">
            <a:solidFill>
              <a:srgbClr val="DCE8FB"/>
            </a:solidFill>
            <a:prstDash val="solid"/>
          </a:ln>
        </p:spPr>
      </p:sp>
      <p:sp>
        <p:nvSpPr>
          <p:cNvPr id="15" name="Text 13"/>
          <p:cNvSpPr txBox="1"/>
          <p:nvPr/>
        </p:nvSpPr>
        <p:spPr>
          <a:xfrm>
            <a:off x="9125712" y="1874520"/>
            <a:ext cx="2240280" cy="731520"/>
          </a:xfrm>
          <a:prstGeom prst="rect">
            <a:avLst/>
          </a:prstGeom>
          <a:noFill/>
          <a:ln/>
        </p:spPr>
        <p:txBody>
          <a:bodyPr wrap="square" lIns="0" tIns="0" rIns="0" bIns="0" rtlCol="0" anchor="ctr"/>
          <a:lstStyle/>
          <a:p>
            <a:pPr marL="0" indent="0">
              <a:buNone/>
            </a:pPr>
            <a:r>
              <a:rPr lang="en-US" sz="4400" b="1" dirty="0">
                <a:solidFill>
                  <a:srgbClr val="2563EB"/>
                </a:solidFill>
                <a:latin typeface="Calibri" pitchFamily="34" charset="0"/>
                <a:ea typeface="Calibri" pitchFamily="34" charset="-122"/>
                <a:cs typeface="Calibri" pitchFamily="34" charset="-120"/>
              </a:rPr>
              <a:t>1,127</a:t>
            </a:r>
            <a:endParaRPr lang="en-US" sz="4400" dirty="0"/>
          </a:p>
        </p:txBody>
      </p:sp>
      <p:sp>
        <p:nvSpPr>
          <p:cNvPr id="16" name="Text 14"/>
          <p:cNvSpPr txBox="1"/>
          <p:nvPr/>
        </p:nvSpPr>
        <p:spPr>
          <a:xfrm>
            <a:off x="9125712" y="2651760"/>
            <a:ext cx="2240280" cy="54864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Test claims</a:t>
            </a:r>
            <a:endParaRPr lang="en-US" sz="1400" dirty="0"/>
          </a:p>
        </p:txBody>
      </p:sp>
      <p:sp>
        <p:nvSpPr>
          <p:cNvPr id="17" name="Shape 15"/>
          <p:cNvSpPr/>
          <p:nvPr/>
        </p:nvSpPr>
        <p:spPr>
          <a:xfrm>
            <a:off x="548640" y="3611880"/>
            <a:ext cx="3566160" cy="2514600"/>
          </a:xfrm>
          <a:prstGeom prst="roundRect">
            <a:avLst>
              <a:gd name="adj" fmla="val 3636"/>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Text 16"/>
          <p:cNvSpPr/>
          <p:nvPr/>
        </p:nvSpPr>
        <p:spPr>
          <a:xfrm>
            <a:off x="777240" y="384048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7"/>
          <p:cNvSpPr txBox="1"/>
          <p:nvPr/>
        </p:nvSpPr>
        <p:spPr>
          <a:xfrm>
            <a:off x="1325880" y="3840480"/>
            <a:ext cx="2606040" cy="45720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Why group by Description?</a:t>
            </a:r>
            <a:endParaRPr lang="en-US" sz="1700" dirty="0"/>
          </a:p>
        </p:txBody>
      </p:sp>
      <p:sp>
        <p:nvSpPr>
          <p:cNvPr id="20" name="Text 18"/>
          <p:cNvSpPr txBox="1"/>
          <p:nvPr/>
        </p:nvSpPr>
        <p:spPr>
          <a:xfrm>
            <a:off x="777240" y="4480560"/>
            <a:ext cx="3108960" cy="1600200"/>
          </a:xfrm>
          <a:prstGeom prst="rect">
            <a:avLst/>
          </a:prstGeom>
          <a:noFill/>
          <a:ln/>
        </p:spPr>
        <p:txBody>
          <a:bodyPr wrap="square" lIns="0" tIns="0" rIns="0" bIns="0" rtlCol="0" anchor="t"/>
          <a:lstStyle/>
          <a:p>
            <a:pPr marL="0" indent="0">
              <a:buNone/>
            </a:pPr>
            <a:r>
              <a:rPr lang="en-US" sz="1600" dirty="0">
                <a:solidFill>
                  <a:srgbClr val="10243E"/>
                </a:solidFill>
                <a:latin typeface="Calibri" pitchFamily="34" charset="0"/>
                <a:ea typeface="Calibri" pitchFamily="34" charset="-122"/>
                <a:cs typeface="Calibri" pitchFamily="34" charset="-120"/>
              </a:rPr>
              <a:t>Many claims share identical descriptions. A random split would put copies in both train and test, and the score would look better than it really is.</a:t>
            </a:r>
            <a:endParaRPr lang="en-US" sz="1600" dirty="0"/>
          </a:p>
        </p:txBody>
      </p:sp>
      <p:sp>
        <p:nvSpPr>
          <p:cNvPr id="21" name="Shape 19"/>
          <p:cNvSpPr/>
          <p:nvPr/>
        </p:nvSpPr>
        <p:spPr>
          <a:xfrm>
            <a:off x="4311396" y="3611880"/>
            <a:ext cx="3566160" cy="2514600"/>
          </a:xfrm>
          <a:prstGeom prst="roundRect">
            <a:avLst>
              <a:gd name="adj" fmla="val 3636"/>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2" name="Text 20"/>
          <p:cNvSpPr/>
          <p:nvPr/>
        </p:nvSpPr>
        <p:spPr>
          <a:xfrm>
            <a:off x="4539996" y="384048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1"/>
          <p:cNvSpPr txBox="1"/>
          <p:nvPr/>
        </p:nvSpPr>
        <p:spPr>
          <a:xfrm>
            <a:off x="5088636" y="3840480"/>
            <a:ext cx="2606040" cy="45720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How we did it</a:t>
            </a:r>
            <a:endParaRPr lang="en-US" sz="1700" dirty="0"/>
          </a:p>
        </p:txBody>
      </p:sp>
      <p:sp>
        <p:nvSpPr>
          <p:cNvPr id="24" name="Text 22"/>
          <p:cNvSpPr txBox="1"/>
          <p:nvPr/>
        </p:nvSpPr>
        <p:spPr>
          <a:xfrm>
            <a:off x="4539996" y="4480560"/>
            <a:ext cx="3108960" cy="1600200"/>
          </a:xfrm>
          <a:prstGeom prst="rect">
            <a:avLst/>
          </a:prstGeom>
          <a:noFill/>
          <a:ln/>
        </p:spPr>
        <p:txBody>
          <a:bodyPr wrap="square" lIns="0" tIns="0" rIns="0" bIns="0" rtlCol="0" anchor="t"/>
          <a:lstStyle/>
          <a:p>
            <a:pPr marL="0" indent="0">
              <a:buNone/>
            </a:pPr>
            <a:r>
              <a:rPr lang="en-US" sz="1600" dirty="0">
                <a:solidFill>
                  <a:srgbClr val="10243E"/>
                </a:solidFill>
                <a:latin typeface="Calibri" pitchFamily="34" charset="0"/>
                <a:ea typeface="Calibri" pitchFamily="34" charset="-122"/>
                <a:cs typeface="Calibri" pitchFamily="34" charset="-120"/>
              </a:rPr>
              <a:t>GroupShuffleSplit keeps every copy of a description on the same side of the split. A fixed seed (42) makes it reproducible.</a:t>
            </a:r>
            <a:endParaRPr lang="en-US" sz="1600" dirty="0"/>
          </a:p>
        </p:txBody>
      </p:sp>
      <p:sp>
        <p:nvSpPr>
          <p:cNvPr id="25" name="Shape 23"/>
          <p:cNvSpPr/>
          <p:nvPr/>
        </p:nvSpPr>
        <p:spPr>
          <a:xfrm>
            <a:off x="8074152" y="3611880"/>
            <a:ext cx="3566160" cy="2514600"/>
          </a:xfrm>
          <a:prstGeom prst="roundRect">
            <a:avLst>
              <a:gd name="adj" fmla="val 3636"/>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Text 24"/>
          <p:cNvSpPr/>
          <p:nvPr/>
        </p:nvSpPr>
        <p:spPr>
          <a:xfrm>
            <a:off x="8302752" y="384048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7" name="Text 25"/>
          <p:cNvSpPr txBox="1"/>
          <p:nvPr/>
        </p:nvSpPr>
        <p:spPr>
          <a:xfrm>
            <a:off x="8851392" y="3840480"/>
            <a:ext cx="2606040" cy="45720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What we checked</a:t>
            </a:r>
            <a:endParaRPr lang="en-US" sz="1700" dirty="0"/>
          </a:p>
        </p:txBody>
      </p:sp>
      <p:sp>
        <p:nvSpPr>
          <p:cNvPr id="28" name="Text 26"/>
          <p:cNvSpPr txBox="1"/>
          <p:nvPr/>
        </p:nvSpPr>
        <p:spPr>
          <a:xfrm>
            <a:off x="8302752" y="4480560"/>
            <a:ext cx="3108960" cy="1600200"/>
          </a:xfrm>
          <a:prstGeom prst="rect">
            <a:avLst/>
          </a:prstGeom>
          <a:noFill/>
          <a:ln/>
        </p:spPr>
        <p:txBody>
          <a:bodyPr wrap="square" lIns="0" tIns="0" rIns="0" bIns="0" rtlCol="0" anchor="t"/>
          <a:lstStyle/>
          <a:p>
            <a:pPr marL="0" indent="0">
              <a:buNone/>
            </a:pPr>
            <a:r>
              <a:rPr lang="en-US" sz="1600" dirty="0">
                <a:solidFill>
                  <a:srgbClr val="10243E"/>
                </a:solidFill>
                <a:latin typeface="Calibri" pitchFamily="34" charset="0"/>
                <a:ea typeface="Calibri" pitchFamily="34" charset="-122"/>
                <a:cs typeface="Calibri" pitchFamily="34" charset="-120"/>
              </a:rPr>
              <a:t>0 descriptions appear in both sets. Overall class mix: VE 55%, VF 22%, VS 22%, Other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MODEL BUILDING</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The coverage classifier: n-grams + logistic regression</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9</a:t>
            </a:r>
            <a:endParaRPr lang="en-US" sz="1100" dirty="0"/>
          </a:p>
        </p:txBody>
      </p:sp>
      <p:sp>
        <p:nvSpPr>
          <p:cNvPr id="5" name="Shape 3"/>
          <p:cNvSpPr/>
          <p:nvPr/>
        </p:nvSpPr>
        <p:spPr>
          <a:xfrm>
            <a:off x="548640" y="1737360"/>
            <a:ext cx="5669280" cy="960120"/>
          </a:xfrm>
          <a:prstGeom prst="roundRect">
            <a:avLst>
              <a:gd name="adj" fmla="val 952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p:nvPr/>
        </p:nvSpPr>
        <p:spPr>
          <a:xfrm>
            <a:off x="777240" y="1993392"/>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63040" y="1828800"/>
            <a:ext cx="4572000" cy="32004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Input</a:t>
            </a:r>
            <a:endParaRPr lang="en-US" sz="1700" dirty="0"/>
          </a:p>
        </p:txBody>
      </p:sp>
      <p:sp>
        <p:nvSpPr>
          <p:cNvPr id="8" name="Text 6"/>
          <p:cNvSpPr txBox="1"/>
          <p:nvPr/>
        </p:nvSpPr>
        <p:spPr>
          <a:xfrm>
            <a:off x="1463040" y="2167128"/>
            <a:ext cx="457200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The claim Description — compact text such as “lightningdamageatComm.Center”</a:t>
            </a:r>
            <a:endParaRPr lang="en-US" sz="1300" dirty="0"/>
          </a:p>
        </p:txBody>
      </p:sp>
      <p:sp>
        <p:nvSpPr>
          <p:cNvPr id="9" name="Shape 7"/>
          <p:cNvSpPr/>
          <p:nvPr/>
        </p:nvSpPr>
        <p:spPr>
          <a:xfrm>
            <a:off x="548640" y="2834640"/>
            <a:ext cx="5669280" cy="960120"/>
          </a:xfrm>
          <a:prstGeom prst="roundRect">
            <a:avLst>
              <a:gd name="adj" fmla="val 952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Text 8"/>
          <p:cNvSpPr/>
          <p:nvPr/>
        </p:nvSpPr>
        <p:spPr>
          <a:xfrm>
            <a:off x="777240" y="3090672"/>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463040" y="2926080"/>
            <a:ext cx="4572000" cy="32004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Vectorize</a:t>
            </a:r>
            <a:endParaRPr lang="en-US" sz="1700" dirty="0"/>
          </a:p>
        </p:txBody>
      </p:sp>
      <p:sp>
        <p:nvSpPr>
          <p:cNvPr id="12" name="Text 10"/>
          <p:cNvSpPr txBox="1"/>
          <p:nvPr/>
        </p:nvSpPr>
        <p:spPr>
          <a:xfrm>
            <a:off x="1463040" y="3264408"/>
            <a:ext cx="457200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TF-IDF on character 3–5-grams; works even when spaces are missing (min_df = 2)</a:t>
            </a:r>
            <a:endParaRPr lang="en-US" sz="1300" dirty="0"/>
          </a:p>
        </p:txBody>
      </p:sp>
      <p:sp>
        <p:nvSpPr>
          <p:cNvPr id="13" name="Shape 11"/>
          <p:cNvSpPr/>
          <p:nvPr/>
        </p:nvSpPr>
        <p:spPr>
          <a:xfrm>
            <a:off x="548640" y="3931920"/>
            <a:ext cx="5669280" cy="960120"/>
          </a:xfrm>
          <a:prstGeom prst="roundRect">
            <a:avLst>
              <a:gd name="adj" fmla="val 952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4" name="Text 12"/>
          <p:cNvSpPr/>
          <p:nvPr/>
        </p:nvSpPr>
        <p:spPr>
          <a:xfrm>
            <a:off x="777240" y="4187952"/>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463040" y="4023360"/>
            <a:ext cx="4572000" cy="32004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Classify</a:t>
            </a:r>
            <a:endParaRPr lang="en-US" sz="1700" dirty="0"/>
          </a:p>
        </p:txBody>
      </p:sp>
      <p:sp>
        <p:nvSpPr>
          <p:cNvPr id="16" name="Text 14"/>
          <p:cNvSpPr txBox="1"/>
          <p:nvPr/>
        </p:nvSpPr>
        <p:spPr>
          <a:xfrm>
            <a:off x="1463040" y="4361688"/>
            <a:ext cx="457200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Logistic regression with class_weight = balanced, up to 1,000 iterations</a:t>
            </a:r>
            <a:endParaRPr lang="en-US" sz="1300" dirty="0"/>
          </a:p>
        </p:txBody>
      </p:sp>
      <p:sp>
        <p:nvSpPr>
          <p:cNvPr id="17" name="Shape 15"/>
          <p:cNvSpPr/>
          <p:nvPr/>
        </p:nvSpPr>
        <p:spPr>
          <a:xfrm>
            <a:off x="548640" y="5029200"/>
            <a:ext cx="5669280" cy="960120"/>
          </a:xfrm>
          <a:prstGeom prst="roundRect">
            <a:avLst>
              <a:gd name="adj" fmla="val 952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Text 16"/>
          <p:cNvSpPr/>
          <p:nvPr/>
        </p:nvSpPr>
        <p:spPr>
          <a:xfrm>
            <a:off x="777240" y="5285232"/>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1463040" y="5120640"/>
            <a:ext cx="4572000" cy="32004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Output</a:t>
            </a:r>
            <a:endParaRPr lang="en-US" sz="1700" dirty="0"/>
          </a:p>
        </p:txBody>
      </p:sp>
      <p:sp>
        <p:nvSpPr>
          <p:cNvPr id="20" name="Text 18"/>
          <p:cNvSpPr txBox="1"/>
          <p:nvPr/>
        </p:nvSpPr>
        <p:spPr>
          <a:xfrm>
            <a:off x="1463040" y="5458968"/>
            <a:ext cx="4572000" cy="50292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Coverage class plus a probability, used as the confidence score</a:t>
            </a:r>
            <a:endParaRPr lang="en-US" sz="1300" dirty="0"/>
          </a:p>
        </p:txBody>
      </p:sp>
      <p:sp>
        <p:nvSpPr>
          <p:cNvPr id="21" name="Shape 19"/>
          <p:cNvSpPr/>
          <p:nvPr/>
        </p:nvSpPr>
        <p:spPr>
          <a:xfrm>
            <a:off x="6492240" y="1737360"/>
            <a:ext cx="1600200" cy="1051560"/>
          </a:xfrm>
          <a:prstGeom prst="roundRect">
            <a:avLst>
              <a:gd name="adj" fmla="val 8696"/>
            </a:avLst>
          </a:prstGeom>
          <a:solidFill>
            <a:srgbClr val="DCE8FB"/>
          </a:solidFill>
          <a:ln w="9525">
            <a:solidFill>
              <a:srgbClr val="DCE8FB"/>
            </a:solidFill>
            <a:prstDash val="solid"/>
          </a:ln>
        </p:spPr>
      </p:sp>
      <p:sp>
        <p:nvSpPr>
          <p:cNvPr id="22" name="Text 20"/>
          <p:cNvSpPr txBox="1"/>
          <p:nvPr/>
        </p:nvSpPr>
        <p:spPr>
          <a:xfrm>
            <a:off x="6537960" y="1810512"/>
            <a:ext cx="1508760" cy="548640"/>
          </a:xfrm>
          <a:prstGeom prst="rect">
            <a:avLst/>
          </a:prstGeom>
          <a:noFill/>
          <a:ln/>
        </p:spPr>
        <p:txBody>
          <a:bodyPr wrap="square" lIns="0" tIns="0" rIns="0" bIns="0" rtlCol="0" anchor="ctr"/>
          <a:lstStyle/>
          <a:p>
            <a:pPr marL="0" indent="0" algn="ctr">
              <a:buNone/>
            </a:pPr>
            <a:r>
              <a:rPr lang="en-US" sz="2800" b="1" dirty="0">
                <a:solidFill>
                  <a:srgbClr val="2563EB"/>
                </a:solidFill>
                <a:latin typeface="Calibri" pitchFamily="34" charset="0"/>
                <a:ea typeface="Calibri" pitchFamily="34" charset="-122"/>
                <a:cs typeface="Calibri" pitchFamily="34" charset="-120"/>
              </a:rPr>
              <a:t>86.2%</a:t>
            </a:r>
            <a:endParaRPr lang="en-US" sz="2800" dirty="0"/>
          </a:p>
        </p:txBody>
      </p:sp>
      <p:sp>
        <p:nvSpPr>
          <p:cNvPr id="23" name="Text 21"/>
          <p:cNvSpPr txBox="1"/>
          <p:nvPr/>
        </p:nvSpPr>
        <p:spPr>
          <a:xfrm>
            <a:off x="6537960" y="2377440"/>
            <a:ext cx="1508760" cy="274320"/>
          </a:xfrm>
          <a:prstGeom prst="rect">
            <a:avLst/>
          </a:prstGeom>
          <a:noFill/>
          <a:ln/>
        </p:spPr>
        <p:txBody>
          <a:bodyPr wrap="square" lIns="0" tIns="0" rIns="0" bIns="0" rtlCol="0" anchor="ctr"/>
          <a:lstStyle/>
          <a:p>
            <a:pPr marL="0" indent="0" algn="ctr">
              <a:buNone/>
            </a:pPr>
            <a:r>
              <a:rPr lang="en-US" sz="1200" dirty="0">
                <a:solidFill>
                  <a:srgbClr val="10243E"/>
                </a:solidFill>
                <a:latin typeface="Calibri" pitchFamily="34" charset="0"/>
                <a:ea typeface="Calibri" pitchFamily="34" charset="-122"/>
                <a:cs typeface="Calibri" pitchFamily="34" charset="-120"/>
              </a:rPr>
              <a:t>Accuracy</a:t>
            </a:r>
            <a:endParaRPr lang="en-US" sz="1200" dirty="0"/>
          </a:p>
        </p:txBody>
      </p:sp>
      <p:sp>
        <p:nvSpPr>
          <p:cNvPr id="24" name="Shape 22"/>
          <p:cNvSpPr/>
          <p:nvPr/>
        </p:nvSpPr>
        <p:spPr>
          <a:xfrm>
            <a:off x="8229600" y="1737360"/>
            <a:ext cx="1600200" cy="1051560"/>
          </a:xfrm>
          <a:prstGeom prst="roundRect">
            <a:avLst>
              <a:gd name="adj" fmla="val 8696"/>
            </a:avLst>
          </a:prstGeom>
          <a:solidFill>
            <a:srgbClr val="DCE8FB"/>
          </a:solidFill>
          <a:ln w="9525">
            <a:solidFill>
              <a:srgbClr val="DCE8FB"/>
            </a:solidFill>
            <a:prstDash val="solid"/>
          </a:ln>
        </p:spPr>
      </p:sp>
      <p:sp>
        <p:nvSpPr>
          <p:cNvPr id="25" name="Text 23"/>
          <p:cNvSpPr txBox="1"/>
          <p:nvPr/>
        </p:nvSpPr>
        <p:spPr>
          <a:xfrm>
            <a:off x="8275320" y="1810512"/>
            <a:ext cx="1508760" cy="548640"/>
          </a:xfrm>
          <a:prstGeom prst="rect">
            <a:avLst/>
          </a:prstGeom>
          <a:noFill/>
          <a:ln/>
        </p:spPr>
        <p:txBody>
          <a:bodyPr wrap="square" lIns="0" tIns="0" rIns="0" bIns="0" rtlCol="0" anchor="ctr"/>
          <a:lstStyle/>
          <a:p>
            <a:pPr marL="0" indent="0" algn="ctr">
              <a:buNone/>
            </a:pPr>
            <a:r>
              <a:rPr lang="en-US" sz="2800" b="1" dirty="0">
                <a:solidFill>
                  <a:srgbClr val="2563EB"/>
                </a:solidFill>
                <a:latin typeface="Calibri" pitchFamily="34" charset="0"/>
                <a:ea typeface="Calibri" pitchFamily="34" charset="-122"/>
                <a:cs typeface="Calibri" pitchFamily="34" charset="-120"/>
              </a:rPr>
              <a:t>0.87</a:t>
            </a:r>
            <a:endParaRPr lang="en-US" sz="2800" dirty="0"/>
          </a:p>
        </p:txBody>
      </p:sp>
      <p:sp>
        <p:nvSpPr>
          <p:cNvPr id="26" name="Text 24"/>
          <p:cNvSpPr txBox="1"/>
          <p:nvPr/>
        </p:nvSpPr>
        <p:spPr>
          <a:xfrm>
            <a:off x="8275320" y="2377440"/>
            <a:ext cx="1508760" cy="274320"/>
          </a:xfrm>
          <a:prstGeom prst="rect">
            <a:avLst/>
          </a:prstGeom>
          <a:noFill/>
          <a:ln/>
        </p:spPr>
        <p:txBody>
          <a:bodyPr wrap="square" lIns="0" tIns="0" rIns="0" bIns="0" rtlCol="0" anchor="ctr"/>
          <a:lstStyle/>
          <a:p>
            <a:pPr marL="0" indent="0" algn="ctr">
              <a:buNone/>
            </a:pPr>
            <a:r>
              <a:rPr lang="en-US" sz="1200" dirty="0">
                <a:solidFill>
                  <a:srgbClr val="10243E"/>
                </a:solidFill>
                <a:latin typeface="Calibri" pitchFamily="34" charset="0"/>
                <a:ea typeface="Calibri" pitchFamily="34" charset="-122"/>
                <a:cs typeface="Calibri" pitchFamily="34" charset="-120"/>
              </a:rPr>
              <a:t>Weighted F1</a:t>
            </a:r>
            <a:endParaRPr lang="en-US" sz="1200" dirty="0"/>
          </a:p>
        </p:txBody>
      </p:sp>
      <p:sp>
        <p:nvSpPr>
          <p:cNvPr id="27" name="Shape 25"/>
          <p:cNvSpPr/>
          <p:nvPr/>
        </p:nvSpPr>
        <p:spPr>
          <a:xfrm>
            <a:off x="9966960" y="1737360"/>
            <a:ext cx="1600200" cy="1051560"/>
          </a:xfrm>
          <a:prstGeom prst="roundRect">
            <a:avLst>
              <a:gd name="adj" fmla="val 8696"/>
            </a:avLst>
          </a:prstGeom>
          <a:solidFill>
            <a:srgbClr val="DCE8FB"/>
          </a:solidFill>
          <a:ln w="9525">
            <a:solidFill>
              <a:srgbClr val="DCE8FB"/>
            </a:solidFill>
            <a:prstDash val="solid"/>
          </a:ln>
        </p:spPr>
      </p:sp>
      <p:sp>
        <p:nvSpPr>
          <p:cNvPr id="28" name="Text 26"/>
          <p:cNvSpPr txBox="1"/>
          <p:nvPr/>
        </p:nvSpPr>
        <p:spPr>
          <a:xfrm>
            <a:off x="10012680" y="1810512"/>
            <a:ext cx="1508760" cy="548640"/>
          </a:xfrm>
          <a:prstGeom prst="rect">
            <a:avLst/>
          </a:prstGeom>
          <a:noFill/>
          <a:ln/>
        </p:spPr>
        <p:txBody>
          <a:bodyPr wrap="square" lIns="0" tIns="0" rIns="0" bIns="0" rtlCol="0" anchor="ctr"/>
          <a:lstStyle/>
          <a:p>
            <a:pPr marL="0" indent="0" algn="ctr">
              <a:buNone/>
            </a:pPr>
            <a:r>
              <a:rPr lang="en-US" sz="2800" b="1" dirty="0">
                <a:solidFill>
                  <a:srgbClr val="2563EB"/>
                </a:solidFill>
                <a:latin typeface="Calibri" pitchFamily="34" charset="0"/>
                <a:ea typeface="Calibri" pitchFamily="34" charset="-122"/>
                <a:cs typeface="Calibri" pitchFamily="34" charset="-120"/>
              </a:rPr>
              <a:t>0.66</a:t>
            </a:r>
            <a:endParaRPr lang="en-US" sz="2800" dirty="0"/>
          </a:p>
        </p:txBody>
      </p:sp>
      <p:sp>
        <p:nvSpPr>
          <p:cNvPr id="29" name="Text 27"/>
          <p:cNvSpPr txBox="1"/>
          <p:nvPr/>
        </p:nvSpPr>
        <p:spPr>
          <a:xfrm>
            <a:off x="10012680" y="2377440"/>
            <a:ext cx="1508760" cy="274320"/>
          </a:xfrm>
          <a:prstGeom prst="rect">
            <a:avLst/>
          </a:prstGeom>
          <a:noFill/>
          <a:ln/>
        </p:spPr>
        <p:txBody>
          <a:bodyPr wrap="square" lIns="0" tIns="0" rIns="0" bIns="0" rtlCol="0" anchor="ctr"/>
          <a:lstStyle/>
          <a:p>
            <a:pPr marL="0" indent="0" algn="ctr">
              <a:buNone/>
            </a:pPr>
            <a:r>
              <a:rPr lang="en-US" sz="1200" dirty="0">
                <a:solidFill>
                  <a:srgbClr val="10243E"/>
                </a:solidFill>
                <a:latin typeface="Calibri" pitchFamily="34" charset="0"/>
                <a:ea typeface="Calibri" pitchFamily="34" charset="-122"/>
                <a:cs typeface="Calibri" pitchFamily="34" charset="-120"/>
              </a:rPr>
              <a:t>Macro F1</a:t>
            </a:r>
            <a:endParaRPr lang="en-US" sz="1200" dirty="0"/>
          </a:p>
        </p:txBody>
      </p:sp>
      <p:sp>
        <p:nvSpPr>
          <p:cNvPr id="30" name="Shape 28"/>
          <p:cNvSpPr/>
          <p:nvPr/>
        </p:nvSpPr>
        <p:spPr>
          <a:xfrm>
            <a:off x="6492240" y="2971800"/>
            <a:ext cx="5148072" cy="3154680"/>
          </a:xfrm>
          <a:prstGeom prst="roundRect">
            <a:avLst>
              <a:gd name="adj" fmla="val 2899"/>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1" name="Text 29"/>
          <p:cNvSpPr txBox="1"/>
          <p:nvPr/>
        </p:nvSpPr>
        <p:spPr>
          <a:xfrm>
            <a:off x="6720840" y="3090672"/>
            <a:ext cx="4754880" cy="320040"/>
          </a:xfrm>
          <a:prstGeom prst="rect">
            <a:avLst/>
          </a:prstGeom>
          <a:noFill/>
          <a:ln/>
        </p:spPr>
        <p:txBody>
          <a:bodyPr wrap="square" lIns="0" tIns="0" rIns="0" bIns="0" rtlCol="0" anchor="ctr"/>
          <a:lstStyle/>
          <a:p>
            <a:pPr marL="0" indent="0">
              <a:buNone/>
            </a:pPr>
            <a:r>
              <a:rPr lang="en-US" sz="1500" b="1" dirty="0">
                <a:solidFill>
                  <a:srgbClr val="10243E"/>
                </a:solidFill>
                <a:latin typeface="Calibri" pitchFamily="34" charset="0"/>
                <a:ea typeface="Calibri" pitchFamily="34" charset="-122"/>
                <a:cs typeface="Calibri" pitchFamily="34" charset="-120"/>
              </a:rPr>
              <a:t>F1-score by class (1,127 test claims)</a:t>
            </a:r>
            <a:endParaRPr lang="en-US" sz="1500" dirty="0"/>
          </a:p>
        </p:txBody>
      </p:sp>
      <p:graphicFrame>
        <p:nvGraphicFramePr>
          <p:cNvPr id="32" name="Chart 0"/>
          <p:cNvGraphicFramePr/>
          <p:nvPr/>
        </p:nvGraphicFramePr>
        <p:xfrm>
          <a:off x="6629400" y="3429000"/>
          <a:ext cx="489204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33" name="Text 30"/>
          <p:cNvSpPr txBox="1"/>
          <p:nvPr/>
        </p:nvSpPr>
        <p:spPr>
          <a:xfrm>
            <a:off x="6720840" y="5650992"/>
            <a:ext cx="4800600" cy="411480"/>
          </a:xfrm>
          <a:prstGeom prst="rect">
            <a:avLst/>
          </a:prstGeom>
          <a:noFill/>
          <a:ln/>
        </p:spPr>
        <p:txBody>
          <a:bodyPr wrap="square" lIns="0" tIns="0" rIns="0" bIns="0" rtlCol="0" anchor="t"/>
          <a:lstStyle/>
          <a:p>
            <a:pPr marL="0" indent="0">
              <a:buNone/>
            </a:pPr>
            <a:r>
              <a:rPr lang="en-US" sz="1100" i="1" dirty="0">
                <a:solidFill>
                  <a:srgbClr val="5B6B82"/>
                </a:solidFill>
                <a:latin typeface="Calibri" pitchFamily="34" charset="0"/>
                <a:ea typeface="Calibri" pitchFamily="34" charset="-122"/>
                <a:cs typeface="Calibri" pitchFamily="34" charset="-120"/>
              </a:rPr>
              <a:t>“Other” has only 44 claims (6 in test), so its score is unstable — we report it, not hide it.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MODEL BUILDING</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Retrieval adds evidence from similar past claims</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10</a:t>
            </a:r>
            <a:endParaRPr lang="en-US" sz="1100" dirty="0"/>
          </a:p>
        </p:txBody>
      </p:sp>
      <p:sp>
        <p:nvSpPr>
          <p:cNvPr id="5" name="Shape 3"/>
          <p:cNvSpPr/>
          <p:nvPr/>
        </p:nvSpPr>
        <p:spPr>
          <a:xfrm>
            <a:off x="548640" y="173736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p:nvPr/>
        </p:nvSpPr>
        <p:spPr>
          <a:xfrm>
            <a:off x="777240" y="192024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371600" y="1920240"/>
            <a:ext cx="1645920" cy="45720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Vectorize</a:t>
            </a:r>
            <a:endParaRPr lang="en-US" sz="1800" dirty="0"/>
          </a:p>
        </p:txBody>
      </p:sp>
      <p:sp>
        <p:nvSpPr>
          <p:cNvPr id="8" name="Text 6"/>
          <p:cNvSpPr txBox="1"/>
          <p:nvPr/>
        </p:nvSpPr>
        <p:spPr>
          <a:xfrm>
            <a:off x="777240" y="2560320"/>
            <a:ext cx="2194560" cy="91440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The new claim goes through the same TF-IDF used for training</a:t>
            </a:r>
            <a:endParaRPr lang="en-US" sz="1400" dirty="0"/>
          </a:p>
        </p:txBody>
      </p:sp>
      <p:sp>
        <p:nvSpPr>
          <p:cNvPr id="9" name="Shape 7"/>
          <p:cNvSpPr/>
          <p:nvPr/>
        </p:nvSpPr>
        <p:spPr>
          <a:xfrm>
            <a:off x="3346704" y="173736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Text 8"/>
          <p:cNvSpPr/>
          <p:nvPr/>
        </p:nvSpPr>
        <p:spPr>
          <a:xfrm>
            <a:off x="3575304" y="192024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4169664" y="1920240"/>
            <a:ext cx="1645920" cy="45720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Compare</a:t>
            </a:r>
            <a:endParaRPr lang="en-US" sz="1800" dirty="0"/>
          </a:p>
        </p:txBody>
      </p:sp>
      <p:sp>
        <p:nvSpPr>
          <p:cNvPr id="12" name="Text 10"/>
          <p:cNvSpPr txBox="1"/>
          <p:nvPr/>
        </p:nvSpPr>
        <p:spPr>
          <a:xfrm>
            <a:off x="3575304" y="2560320"/>
            <a:ext cx="2194560" cy="91440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Cosine similarity against every training claim</a:t>
            </a:r>
            <a:endParaRPr lang="en-US" sz="1400" dirty="0"/>
          </a:p>
        </p:txBody>
      </p:sp>
      <p:sp>
        <p:nvSpPr>
          <p:cNvPr id="13" name="Shape 11"/>
          <p:cNvSpPr/>
          <p:nvPr/>
        </p:nvSpPr>
        <p:spPr>
          <a:xfrm>
            <a:off x="6144768" y="173736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4" name="Text 12"/>
          <p:cNvSpPr/>
          <p:nvPr/>
        </p:nvSpPr>
        <p:spPr>
          <a:xfrm>
            <a:off x="6373368" y="192024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6967728" y="1920240"/>
            <a:ext cx="1645920" cy="45720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Rank</a:t>
            </a:r>
            <a:endParaRPr lang="en-US" sz="1800" dirty="0"/>
          </a:p>
        </p:txBody>
      </p:sp>
      <p:sp>
        <p:nvSpPr>
          <p:cNvPr id="16" name="Text 14"/>
          <p:cNvSpPr txBox="1"/>
          <p:nvPr/>
        </p:nvSpPr>
        <p:spPr>
          <a:xfrm>
            <a:off x="6373368" y="2560320"/>
            <a:ext cx="2194560" cy="91440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Sort by similarity and drop repeated descriptions</a:t>
            </a:r>
            <a:endParaRPr lang="en-US" sz="1400" dirty="0"/>
          </a:p>
        </p:txBody>
      </p:sp>
      <p:sp>
        <p:nvSpPr>
          <p:cNvPr id="17" name="Shape 15"/>
          <p:cNvSpPr/>
          <p:nvPr/>
        </p:nvSpPr>
        <p:spPr>
          <a:xfrm>
            <a:off x="8942832" y="173736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Text 16"/>
          <p:cNvSpPr/>
          <p:nvPr/>
        </p:nvSpPr>
        <p:spPr>
          <a:xfrm>
            <a:off x="9171432" y="192024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txBox="1"/>
          <p:nvPr/>
        </p:nvSpPr>
        <p:spPr>
          <a:xfrm>
            <a:off x="9765792" y="1920240"/>
            <a:ext cx="1645920" cy="45720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Return</a:t>
            </a:r>
            <a:endParaRPr lang="en-US" sz="1800" dirty="0"/>
          </a:p>
        </p:txBody>
      </p:sp>
      <p:sp>
        <p:nvSpPr>
          <p:cNvPr id="20" name="Text 18"/>
          <p:cNvSpPr txBox="1"/>
          <p:nvPr/>
        </p:nvSpPr>
        <p:spPr>
          <a:xfrm>
            <a:off x="9171432" y="2560320"/>
            <a:ext cx="2194560" cy="91440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Top 5 distinct claims with coverage and similarity</a:t>
            </a:r>
            <a:endParaRPr lang="en-US" sz="1400" dirty="0"/>
          </a:p>
        </p:txBody>
      </p:sp>
      <p:sp>
        <p:nvSpPr>
          <p:cNvPr id="21" name="Shape 19"/>
          <p:cNvSpPr/>
          <p:nvPr/>
        </p:nvSpPr>
        <p:spPr>
          <a:xfrm>
            <a:off x="548640" y="3794760"/>
            <a:ext cx="7040880" cy="2423160"/>
          </a:xfrm>
          <a:prstGeom prst="roundRect">
            <a:avLst>
              <a:gd name="adj" fmla="val 377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2" name="Text 20"/>
          <p:cNvSpPr txBox="1"/>
          <p:nvPr/>
        </p:nvSpPr>
        <p:spPr>
          <a:xfrm>
            <a:off x="822960" y="3913632"/>
            <a:ext cx="649224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Example: “waterdamageatcourthouse”</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4297680"/>
          <a:ext cx="6492240" cy="1755648"/>
        </p:xfrm>
        <a:graphic>
          <a:graphicData uri="http://schemas.openxmlformats.org/drawingml/2006/table">
            <a:tbl>
              <a:tblPr/>
              <a:tblGrid>
                <a:gridCol w="3749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9260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Similar claim</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E3EAF5"/>
                      </a:solidFill>
                      <a:prstDash val="solid"/>
                      <a:round/>
                      <a:headEnd type="none" w="med" len="med"/>
                      <a:tailEnd type="none" w="med" len="med"/>
                    </a:lnB>
                    <a:solidFill>
                      <a:srgbClr val="2563E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Coverage</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E3EAF5"/>
                      </a:solidFill>
                      <a:prstDash val="solid"/>
                      <a:round/>
                      <a:headEnd type="none" w="med" len="med"/>
                      <a:tailEnd type="none" w="med" len="med"/>
                    </a:lnB>
                    <a:solidFill>
                      <a:srgbClr val="2563E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Similarity</a:t>
                      </a:r>
                      <a:endParaRPr lang="en-US" sz="13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6350" cap="flat" cmpd="sng" algn="ctr">
                      <a:solidFill>
                        <a:srgbClr val="E3EAF5"/>
                      </a:solidFill>
                      <a:prstDash val="solid"/>
                      <a:round/>
                      <a:headEnd type="none" w="med" len="med"/>
                      <a:tailEnd type="none" w="med" len="med"/>
                    </a:lnB>
                    <a:solidFill>
                      <a:srgbClr val="2563EB"/>
                    </a:solidFill>
                  </a:tcPr>
                </a:tc>
                <a:extLst>
                  <a:ext uri="{0D108BD9-81ED-4DB2-BD59-A6C34878D82A}">
                    <a16:rowId xmlns:a16="http://schemas.microsoft.com/office/drawing/2014/main" val="10000"/>
                  </a:ext>
                </a:extLst>
              </a:tr>
              <a:tr h="292608">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waterdamageatcourthouse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VS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waterdamageatCourthouse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VS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lightningdamageatCourthouse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VF</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0.831</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winddamageatcourthouse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VE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0.824</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firedamageatcourthouse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VF</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tc>
                  <a:txBody>
                    <a:bodyPr/>
                    <a:lstStyle/>
                    <a:p>
                      <a:pPr marL="0" indent="0">
                        <a:buNone/>
                      </a:pPr>
                      <a:r>
                        <a:rPr lang="en-US" sz="1300" dirty="0">
                          <a:solidFill>
                            <a:srgbClr val="10243E"/>
                          </a:solidFill>
                          <a:latin typeface="Calibri" pitchFamily="34" charset="0"/>
                          <a:ea typeface="Calibri" pitchFamily="34" charset="-122"/>
                          <a:cs typeface="Calibri" pitchFamily="34" charset="-120"/>
                        </a:rPr>
                        <a:t>0.816</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3EAF5"/>
                      </a:solidFill>
                      <a:prstDash val="solid"/>
                      <a:round/>
                      <a:headEnd type="none" w="med" len="med"/>
                      <a:tailEnd type="none" w="med" len="med"/>
                    </a:lnT>
                    <a:lnB w="6350" cap="flat" cmpd="sng" algn="ctr">
                      <a:solidFill>
                        <a:srgbClr val="E3EAF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4" name="Shape 21"/>
          <p:cNvSpPr/>
          <p:nvPr/>
        </p:nvSpPr>
        <p:spPr>
          <a:xfrm>
            <a:off x="7818120" y="3794760"/>
            <a:ext cx="3822192" cy="2423160"/>
          </a:xfrm>
          <a:prstGeom prst="roundRect">
            <a:avLst>
              <a:gd name="adj" fmla="val 3774"/>
            </a:avLst>
          </a:prstGeom>
          <a:solidFill>
            <a:srgbClr val="DCE8FB"/>
          </a:solidFill>
          <a:ln w="9525">
            <a:solidFill>
              <a:srgbClr val="DCE8FB"/>
            </a:solidFill>
            <a:prstDash val="solid"/>
          </a:ln>
        </p:spPr>
      </p:sp>
      <p:sp>
        <p:nvSpPr>
          <p:cNvPr id="25" name="Text 22"/>
          <p:cNvSpPr txBox="1"/>
          <p:nvPr/>
        </p:nvSpPr>
        <p:spPr>
          <a:xfrm>
            <a:off x="8092440" y="3913632"/>
            <a:ext cx="3291840" cy="320040"/>
          </a:xfrm>
          <a:prstGeom prst="rect">
            <a:avLst/>
          </a:prstGeom>
          <a:noFill/>
          <a:ln/>
        </p:spPr>
        <p:txBody>
          <a:bodyPr wrap="square" lIns="0" tIns="0" rIns="0" bIns="0" rtlCol="0" anchor="ctr"/>
          <a:lstStyle/>
          <a:p>
            <a:pPr marL="0" indent="0">
              <a:buNone/>
            </a:pPr>
            <a:r>
              <a:rPr lang="en-US" sz="1600" b="1" dirty="0">
                <a:solidFill>
                  <a:srgbClr val="2563EB"/>
                </a:solidFill>
                <a:latin typeface="Calibri" pitchFamily="34" charset="0"/>
                <a:ea typeface="Calibri" pitchFamily="34" charset="-122"/>
                <a:cs typeface="Calibri" pitchFamily="34" charset="-120"/>
              </a:rPr>
              <a:t>When it runs</a:t>
            </a:r>
            <a:endParaRPr lang="en-US" sz="1600" dirty="0"/>
          </a:p>
        </p:txBody>
      </p:sp>
      <p:sp>
        <p:nvSpPr>
          <p:cNvPr id="26" name="Text 23"/>
          <p:cNvSpPr txBox="1"/>
          <p:nvPr/>
        </p:nvSpPr>
        <p:spPr>
          <a:xfrm>
            <a:off x="8092440" y="4315968"/>
            <a:ext cx="32918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0243E"/>
                </a:solidFill>
                <a:latin typeface="Calibri" pitchFamily="34" charset="0"/>
                <a:ea typeface="Calibri" pitchFamily="34" charset="-122"/>
                <a:cs typeface="Calibri" pitchFamily="34" charset="-120"/>
              </a:rPr>
              <a:t>Agent calls it only when classifier confidence is below 0.5</a:t>
            </a:r>
            <a:endParaRPr lang="en-US" sz="1300" dirty="0"/>
          </a:p>
          <a:p>
            <a:pPr marL="342900" indent="-342900">
              <a:spcAft>
                <a:spcPts val="600"/>
              </a:spcAft>
              <a:buSzPct val="100000"/>
              <a:buChar char="•"/>
            </a:pPr>
            <a:r>
              <a:rPr lang="en-US" sz="1300" dirty="0">
                <a:solidFill>
                  <a:srgbClr val="10243E"/>
                </a:solidFill>
                <a:latin typeface="Calibri" pitchFamily="34" charset="0"/>
                <a:ea typeface="Calibri" pitchFamily="34" charset="-122"/>
                <a:cs typeface="Calibri" pitchFamily="34" charset="-120"/>
              </a:rPr>
              <a:t>Dashboard adds a coverage vote and a peer amount benchmark</a:t>
            </a:r>
            <a:endParaRPr lang="en-US" sz="1300" dirty="0"/>
          </a:p>
          <a:p>
            <a:pPr marL="342900" indent="-342900">
              <a:spcAft>
                <a:spcPts val="600"/>
              </a:spcAft>
              <a:buSzPct val="100000"/>
              <a:buChar char="•"/>
            </a:pPr>
            <a:r>
              <a:rPr lang="en-US" sz="1300" dirty="0">
                <a:solidFill>
                  <a:srgbClr val="10243E"/>
                </a:solidFill>
                <a:latin typeface="Calibri" pitchFamily="34" charset="0"/>
                <a:ea typeface="Calibri" pitchFamily="34" charset="-122"/>
                <a:cs typeface="Calibri" pitchFamily="34" charset="-120"/>
              </a:rPr>
              <a:t>Neighbours with a different coverage show where the text is ambiguous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MODEL BUILDING</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Rule checks and a risk score decide who needs a human</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11</a:t>
            </a:r>
            <a:endParaRPr lang="en-US" sz="1100" dirty="0"/>
          </a:p>
        </p:txBody>
      </p:sp>
      <p:sp>
        <p:nvSpPr>
          <p:cNvPr id="5" name="Shape 3"/>
          <p:cNvSpPr/>
          <p:nvPr/>
        </p:nvSpPr>
        <p:spPr>
          <a:xfrm>
            <a:off x="548640" y="1737360"/>
            <a:ext cx="576072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Shape 4"/>
          <p:cNvSpPr/>
          <p:nvPr/>
        </p:nvSpPr>
        <p:spPr>
          <a:xfrm>
            <a:off x="777240" y="2103120"/>
            <a:ext cx="640080" cy="640080"/>
          </a:xfrm>
          <a:prstGeom prst="ellipse">
            <a:avLst/>
          </a:prstGeom>
          <a:solidFill>
            <a:srgbClr val="2563EB"/>
          </a:solidFill>
          <a:ln w="12700">
            <a:solidFill>
              <a:srgbClr val="2563EB"/>
            </a:solidFill>
            <a:prstDash val="solid"/>
          </a:ln>
        </p:spPr>
      </p:sp>
      <p:pic>
        <p:nvPicPr>
          <p:cNvPr id="7" name="Image 0" descr="preencoded.png"/>
          <p:cNvPicPr>
            <a:picLocks noChangeAspect="1"/>
          </p:cNvPicPr>
          <p:nvPr/>
        </p:nvPicPr>
        <p:blipFill>
          <a:blip r:embed="rId3"/>
          <a:stretch>
            <a:fillRect/>
          </a:stretch>
        </p:blipFill>
        <p:spPr>
          <a:xfrm>
            <a:off x="937260" y="2263140"/>
            <a:ext cx="320040" cy="320040"/>
          </a:xfrm>
          <a:prstGeom prst="rect">
            <a:avLst/>
          </a:prstGeom>
        </p:spPr>
      </p:pic>
      <p:sp>
        <p:nvSpPr>
          <p:cNvPr id="8" name="Text 5"/>
          <p:cNvSpPr txBox="1"/>
          <p:nvPr/>
        </p:nvSpPr>
        <p:spPr>
          <a:xfrm>
            <a:off x="1645920" y="1874520"/>
            <a:ext cx="4480560" cy="36576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Coverage consistency</a:t>
            </a:r>
            <a:endParaRPr lang="en-US" sz="1800" dirty="0"/>
          </a:p>
        </p:txBody>
      </p:sp>
      <p:sp>
        <p:nvSpPr>
          <p:cNvPr id="9" name="Text 6"/>
          <p:cNvSpPr txBox="1"/>
          <p:nvPr/>
        </p:nvSpPr>
        <p:spPr>
          <a:xfrm>
            <a:off x="1645920" y="2267712"/>
            <a:ext cx="4480560" cy="77724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Keywords in the text (water, fire, wind, theft…) suggest a coverage. If it differs from the recorded one, the claim is flagged.</a:t>
            </a:r>
            <a:endParaRPr lang="en-US" sz="1300" dirty="0"/>
          </a:p>
        </p:txBody>
      </p:sp>
      <p:sp>
        <p:nvSpPr>
          <p:cNvPr id="10" name="Shape 7"/>
          <p:cNvSpPr/>
          <p:nvPr/>
        </p:nvSpPr>
        <p:spPr>
          <a:xfrm>
            <a:off x="548640" y="3246120"/>
            <a:ext cx="576072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1" name="Shape 8"/>
          <p:cNvSpPr/>
          <p:nvPr/>
        </p:nvSpPr>
        <p:spPr>
          <a:xfrm>
            <a:off x="777240" y="3611880"/>
            <a:ext cx="640080" cy="640080"/>
          </a:xfrm>
          <a:prstGeom prst="ellipse">
            <a:avLst/>
          </a:prstGeom>
          <a:solidFill>
            <a:srgbClr val="2563EB"/>
          </a:solidFill>
          <a:ln w="12700">
            <a:solidFill>
              <a:srgbClr val="2563EB"/>
            </a:solidFill>
            <a:prstDash val="solid"/>
          </a:ln>
        </p:spPr>
      </p:sp>
      <p:pic>
        <p:nvPicPr>
          <p:cNvPr id="12" name="Image 1" descr="preencoded.png"/>
          <p:cNvPicPr>
            <a:picLocks noChangeAspect="1"/>
          </p:cNvPicPr>
          <p:nvPr/>
        </p:nvPicPr>
        <p:blipFill>
          <a:blip r:embed="rId4"/>
          <a:stretch>
            <a:fillRect/>
          </a:stretch>
        </p:blipFill>
        <p:spPr>
          <a:xfrm>
            <a:off x="937260" y="3771900"/>
            <a:ext cx="320040" cy="320040"/>
          </a:xfrm>
          <a:prstGeom prst="rect">
            <a:avLst/>
          </a:prstGeom>
        </p:spPr>
      </p:pic>
      <p:sp>
        <p:nvSpPr>
          <p:cNvPr id="13" name="Text 9"/>
          <p:cNvSpPr txBox="1"/>
          <p:nvPr/>
        </p:nvSpPr>
        <p:spPr>
          <a:xfrm>
            <a:off x="1645920" y="3383280"/>
            <a:ext cx="4480560" cy="36576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Amount anomaly</a:t>
            </a:r>
            <a:endParaRPr lang="en-US" sz="1800" dirty="0"/>
          </a:p>
        </p:txBody>
      </p:sp>
      <p:sp>
        <p:nvSpPr>
          <p:cNvPr id="14" name="Text 10"/>
          <p:cNvSpPr txBox="1"/>
          <p:nvPr/>
        </p:nvSpPr>
        <p:spPr>
          <a:xfrm>
            <a:off x="1645920" y="3776472"/>
            <a:ext cx="4480560" cy="77724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Log amount vs. the median and MAD of claims in the predicted coverage gives a robust z-score. Above 3 = unusual.</a:t>
            </a:r>
            <a:endParaRPr lang="en-US" sz="1300" dirty="0"/>
          </a:p>
        </p:txBody>
      </p:sp>
      <p:sp>
        <p:nvSpPr>
          <p:cNvPr id="15" name="Shape 11"/>
          <p:cNvSpPr/>
          <p:nvPr/>
        </p:nvSpPr>
        <p:spPr>
          <a:xfrm>
            <a:off x="548640" y="4754880"/>
            <a:ext cx="5760720" cy="1371600"/>
          </a:xfrm>
          <a:prstGeom prst="roundRect">
            <a:avLst>
              <a:gd name="adj" fmla="val 666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6" name="Shape 12"/>
          <p:cNvSpPr/>
          <p:nvPr/>
        </p:nvSpPr>
        <p:spPr>
          <a:xfrm>
            <a:off x="777240" y="5120640"/>
            <a:ext cx="640080" cy="640080"/>
          </a:xfrm>
          <a:prstGeom prst="ellipse">
            <a:avLst/>
          </a:prstGeom>
          <a:solidFill>
            <a:srgbClr val="2563EB"/>
          </a:solidFill>
          <a:ln w="12700">
            <a:solidFill>
              <a:srgbClr val="2563EB"/>
            </a:solidFill>
            <a:prstDash val="solid"/>
          </a:ln>
        </p:spPr>
      </p:sp>
      <p:pic>
        <p:nvPicPr>
          <p:cNvPr id="17" name="Image 2" descr="preencoded.png"/>
          <p:cNvPicPr>
            <a:picLocks noChangeAspect="1"/>
          </p:cNvPicPr>
          <p:nvPr/>
        </p:nvPicPr>
        <p:blipFill>
          <a:blip r:embed="rId5"/>
          <a:stretch>
            <a:fillRect/>
          </a:stretch>
        </p:blipFill>
        <p:spPr>
          <a:xfrm>
            <a:off x="937260" y="5280660"/>
            <a:ext cx="320040" cy="320040"/>
          </a:xfrm>
          <a:prstGeom prst="rect">
            <a:avLst/>
          </a:prstGeom>
        </p:spPr>
      </p:pic>
      <p:sp>
        <p:nvSpPr>
          <p:cNvPr id="18" name="Text 13"/>
          <p:cNvSpPr txBox="1"/>
          <p:nvPr/>
        </p:nvSpPr>
        <p:spPr>
          <a:xfrm>
            <a:off x="1645920" y="4892040"/>
            <a:ext cx="4480560" cy="36576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Confidence &amp; agreement</a:t>
            </a:r>
            <a:endParaRPr lang="en-US" sz="1800" dirty="0"/>
          </a:p>
        </p:txBody>
      </p:sp>
      <p:sp>
        <p:nvSpPr>
          <p:cNvPr id="19" name="Text 14"/>
          <p:cNvSpPr txBox="1"/>
          <p:nvPr/>
        </p:nvSpPr>
        <p:spPr>
          <a:xfrm>
            <a:off x="1645920" y="5285232"/>
            <a:ext cx="4480560" cy="777240"/>
          </a:xfrm>
          <a:prstGeom prst="rect">
            <a:avLst/>
          </a:prstGeom>
          <a:noFill/>
          <a:ln/>
        </p:spPr>
        <p:txBody>
          <a:bodyPr wrap="square" lIns="0" tIns="0" rIns="0" bIns="0" rtlCol="0" anchor="t"/>
          <a:lstStyle/>
          <a:p>
            <a:pPr marL="0" indent="0">
              <a:buNone/>
            </a:pPr>
            <a:r>
              <a:rPr lang="en-US" sz="1300" dirty="0">
                <a:solidFill>
                  <a:srgbClr val="5B6B82"/>
                </a:solidFill>
                <a:latin typeface="Calibri" pitchFamily="34" charset="0"/>
                <a:ea typeface="Calibri" pitchFamily="34" charset="-122"/>
                <a:cs typeface="Calibri" pitchFamily="34" charset="-120"/>
              </a:rPr>
              <a:t>Classifier probability below 0.5 flags uncertainty. Classifier and neighbour vote disagreeing is a conflict.</a:t>
            </a:r>
            <a:endParaRPr lang="en-US" sz="1300" dirty="0"/>
          </a:p>
        </p:txBody>
      </p:sp>
      <p:sp>
        <p:nvSpPr>
          <p:cNvPr id="20" name="Shape 15"/>
          <p:cNvSpPr/>
          <p:nvPr/>
        </p:nvSpPr>
        <p:spPr>
          <a:xfrm>
            <a:off x="6537960" y="1737360"/>
            <a:ext cx="5102352" cy="4389120"/>
          </a:xfrm>
          <a:prstGeom prst="roundRect">
            <a:avLst>
              <a:gd name="adj" fmla="val 2083"/>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1" name="Text 16"/>
          <p:cNvSpPr txBox="1"/>
          <p:nvPr/>
        </p:nvSpPr>
        <p:spPr>
          <a:xfrm>
            <a:off x="6766560" y="1874520"/>
            <a:ext cx="4663440" cy="36576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Review priority score (0–100)</a:t>
            </a:r>
            <a:endParaRPr lang="en-US" sz="1800" dirty="0"/>
          </a:p>
        </p:txBody>
      </p:sp>
      <p:sp>
        <p:nvSpPr>
          <p:cNvPr id="22" name="Text 17"/>
          <p:cNvSpPr txBox="1"/>
          <p:nvPr/>
        </p:nvSpPr>
        <p:spPr>
          <a:xfrm>
            <a:off x="6766560" y="2423160"/>
            <a:ext cx="1828800" cy="365760"/>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Amount anomaly</a:t>
            </a:r>
            <a:endParaRPr lang="en-US" sz="1400" dirty="0"/>
          </a:p>
        </p:txBody>
      </p:sp>
      <p:sp>
        <p:nvSpPr>
          <p:cNvPr id="23" name="Shape 18"/>
          <p:cNvSpPr/>
          <p:nvPr/>
        </p:nvSpPr>
        <p:spPr>
          <a:xfrm>
            <a:off x="8641080" y="2496312"/>
            <a:ext cx="2194560" cy="219456"/>
          </a:xfrm>
          <a:prstGeom prst="roundRect">
            <a:avLst>
              <a:gd name="adj" fmla="val 25000"/>
            </a:avLst>
          </a:prstGeom>
          <a:solidFill>
            <a:srgbClr val="DCE8FB"/>
          </a:solidFill>
          <a:ln w="12700">
            <a:solidFill>
              <a:srgbClr val="DCE8FB"/>
            </a:solidFill>
            <a:prstDash val="solid"/>
          </a:ln>
        </p:spPr>
      </p:sp>
      <p:sp>
        <p:nvSpPr>
          <p:cNvPr id="24" name="Shape 19"/>
          <p:cNvSpPr/>
          <p:nvPr/>
        </p:nvSpPr>
        <p:spPr>
          <a:xfrm>
            <a:off x="8641080" y="2496312"/>
            <a:ext cx="2194560" cy="219456"/>
          </a:xfrm>
          <a:prstGeom prst="roundRect">
            <a:avLst>
              <a:gd name="adj" fmla="val 25000"/>
            </a:avLst>
          </a:prstGeom>
          <a:solidFill>
            <a:srgbClr val="2563EB"/>
          </a:solidFill>
          <a:ln w="12700">
            <a:solidFill>
              <a:srgbClr val="2563EB"/>
            </a:solidFill>
            <a:prstDash val="solid"/>
          </a:ln>
        </p:spPr>
      </p:sp>
      <p:sp>
        <p:nvSpPr>
          <p:cNvPr id="25" name="Text 20"/>
          <p:cNvSpPr txBox="1"/>
          <p:nvPr/>
        </p:nvSpPr>
        <p:spPr>
          <a:xfrm>
            <a:off x="10927080" y="2423160"/>
            <a:ext cx="548640" cy="365760"/>
          </a:xfrm>
          <a:prstGeom prst="rect">
            <a:avLst/>
          </a:prstGeom>
          <a:noFill/>
          <a:ln/>
        </p:spPr>
        <p:txBody>
          <a:bodyPr wrap="square" lIns="0" tIns="0" rIns="0" bIns="0" rtlCol="0" anchor="ctr"/>
          <a:lstStyle/>
          <a:p>
            <a:pPr marL="0" indent="0" algn="r">
              <a:buNone/>
            </a:pPr>
            <a:r>
              <a:rPr lang="en-US" sz="1400" b="1" dirty="0">
                <a:solidFill>
                  <a:srgbClr val="2563EB"/>
                </a:solidFill>
                <a:latin typeface="Calibri" pitchFamily="34" charset="0"/>
                <a:ea typeface="Calibri" pitchFamily="34" charset="-122"/>
                <a:cs typeface="Calibri" pitchFamily="34" charset="-120"/>
              </a:rPr>
              <a:t>40%</a:t>
            </a:r>
            <a:endParaRPr lang="en-US" sz="1400" dirty="0"/>
          </a:p>
        </p:txBody>
      </p:sp>
      <p:sp>
        <p:nvSpPr>
          <p:cNvPr id="26" name="Text 21"/>
          <p:cNvSpPr txBox="1"/>
          <p:nvPr/>
        </p:nvSpPr>
        <p:spPr>
          <a:xfrm>
            <a:off x="6766560" y="2971800"/>
            <a:ext cx="1828800" cy="365760"/>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Coverage mismatch</a:t>
            </a:r>
            <a:endParaRPr lang="en-US" sz="1400" dirty="0"/>
          </a:p>
        </p:txBody>
      </p:sp>
      <p:sp>
        <p:nvSpPr>
          <p:cNvPr id="27" name="Shape 22"/>
          <p:cNvSpPr/>
          <p:nvPr/>
        </p:nvSpPr>
        <p:spPr>
          <a:xfrm>
            <a:off x="8641080" y="3044952"/>
            <a:ext cx="2194560" cy="219456"/>
          </a:xfrm>
          <a:prstGeom prst="roundRect">
            <a:avLst>
              <a:gd name="adj" fmla="val 25000"/>
            </a:avLst>
          </a:prstGeom>
          <a:solidFill>
            <a:srgbClr val="DCE8FB"/>
          </a:solidFill>
          <a:ln w="12700">
            <a:solidFill>
              <a:srgbClr val="DCE8FB"/>
            </a:solidFill>
            <a:prstDash val="solid"/>
          </a:ln>
        </p:spPr>
      </p:sp>
      <p:sp>
        <p:nvSpPr>
          <p:cNvPr id="28" name="Shape 23"/>
          <p:cNvSpPr/>
          <p:nvPr/>
        </p:nvSpPr>
        <p:spPr>
          <a:xfrm>
            <a:off x="8641080" y="3044952"/>
            <a:ext cx="1097280" cy="219456"/>
          </a:xfrm>
          <a:prstGeom prst="roundRect">
            <a:avLst>
              <a:gd name="adj" fmla="val 25000"/>
            </a:avLst>
          </a:prstGeom>
          <a:solidFill>
            <a:srgbClr val="2563EB"/>
          </a:solidFill>
          <a:ln w="12700">
            <a:solidFill>
              <a:srgbClr val="2563EB"/>
            </a:solidFill>
            <a:prstDash val="solid"/>
          </a:ln>
        </p:spPr>
      </p:sp>
      <p:sp>
        <p:nvSpPr>
          <p:cNvPr id="29" name="Text 24"/>
          <p:cNvSpPr txBox="1"/>
          <p:nvPr/>
        </p:nvSpPr>
        <p:spPr>
          <a:xfrm>
            <a:off x="10927080" y="2971800"/>
            <a:ext cx="548640" cy="365760"/>
          </a:xfrm>
          <a:prstGeom prst="rect">
            <a:avLst/>
          </a:prstGeom>
          <a:noFill/>
          <a:ln/>
        </p:spPr>
        <p:txBody>
          <a:bodyPr wrap="square" lIns="0" tIns="0" rIns="0" bIns="0" rtlCol="0" anchor="ctr"/>
          <a:lstStyle/>
          <a:p>
            <a:pPr marL="0" indent="0" algn="r">
              <a:buNone/>
            </a:pPr>
            <a:r>
              <a:rPr lang="en-US" sz="1400" b="1" dirty="0">
                <a:solidFill>
                  <a:srgbClr val="2563EB"/>
                </a:solidFill>
                <a:latin typeface="Calibri" pitchFamily="34" charset="0"/>
                <a:ea typeface="Calibri" pitchFamily="34" charset="-122"/>
                <a:cs typeface="Calibri" pitchFamily="34" charset="-120"/>
              </a:rPr>
              <a:t>20%</a:t>
            </a:r>
            <a:endParaRPr lang="en-US" sz="1400" dirty="0"/>
          </a:p>
        </p:txBody>
      </p:sp>
      <p:sp>
        <p:nvSpPr>
          <p:cNvPr id="30" name="Text 25"/>
          <p:cNvSpPr txBox="1"/>
          <p:nvPr/>
        </p:nvSpPr>
        <p:spPr>
          <a:xfrm>
            <a:off x="6766560" y="3520440"/>
            <a:ext cx="1828800" cy="365760"/>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Low confidence</a:t>
            </a:r>
            <a:endParaRPr lang="en-US" sz="1400" dirty="0"/>
          </a:p>
        </p:txBody>
      </p:sp>
      <p:sp>
        <p:nvSpPr>
          <p:cNvPr id="31" name="Shape 26"/>
          <p:cNvSpPr/>
          <p:nvPr/>
        </p:nvSpPr>
        <p:spPr>
          <a:xfrm>
            <a:off x="8641080" y="3593592"/>
            <a:ext cx="2194560" cy="219456"/>
          </a:xfrm>
          <a:prstGeom prst="roundRect">
            <a:avLst>
              <a:gd name="adj" fmla="val 25000"/>
            </a:avLst>
          </a:prstGeom>
          <a:solidFill>
            <a:srgbClr val="DCE8FB"/>
          </a:solidFill>
          <a:ln w="12700">
            <a:solidFill>
              <a:srgbClr val="DCE8FB"/>
            </a:solidFill>
            <a:prstDash val="solid"/>
          </a:ln>
        </p:spPr>
      </p:sp>
      <p:sp>
        <p:nvSpPr>
          <p:cNvPr id="32" name="Shape 27"/>
          <p:cNvSpPr/>
          <p:nvPr/>
        </p:nvSpPr>
        <p:spPr>
          <a:xfrm>
            <a:off x="8641080" y="3593592"/>
            <a:ext cx="1097280" cy="219456"/>
          </a:xfrm>
          <a:prstGeom prst="roundRect">
            <a:avLst>
              <a:gd name="adj" fmla="val 25000"/>
            </a:avLst>
          </a:prstGeom>
          <a:solidFill>
            <a:srgbClr val="2563EB"/>
          </a:solidFill>
          <a:ln w="12700">
            <a:solidFill>
              <a:srgbClr val="2563EB"/>
            </a:solidFill>
            <a:prstDash val="solid"/>
          </a:ln>
        </p:spPr>
      </p:sp>
      <p:sp>
        <p:nvSpPr>
          <p:cNvPr id="33" name="Text 28"/>
          <p:cNvSpPr txBox="1"/>
          <p:nvPr/>
        </p:nvSpPr>
        <p:spPr>
          <a:xfrm>
            <a:off x="10927080" y="3520440"/>
            <a:ext cx="548640" cy="365760"/>
          </a:xfrm>
          <a:prstGeom prst="rect">
            <a:avLst/>
          </a:prstGeom>
          <a:noFill/>
          <a:ln/>
        </p:spPr>
        <p:txBody>
          <a:bodyPr wrap="square" lIns="0" tIns="0" rIns="0" bIns="0" rtlCol="0" anchor="ctr"/>
          <a:lstStyle/>
          <a:p>
            <a:pPr marL="0" indent="0" algn="r">
              <a:buNone/>
            </a:pPr>
            <a:r>
              <a:rPr lang="en-US" sz="1400" b="1" dirty="0">
                <a:solidFill>
                  <a:srgbClr val="2563EB"/>
                </a:solidFill>
                <a:latin typeface="Calibri" pitchFamily="34" charset="0"/>
                <a:ea typeface="Calibri" pitchFamily="34" charset="-122"/>
                <a:cs typeface="Calibri" pitchFamily="34" charset="-120"/>
              </a:rPr>
              <a:t>20%</a:t>
            </a:r>
            <a:endParaRPr lang="en-US" sz="1400" dirty="0"/>
          </a:p>
        </p:txBody>
      </p:sp>
      <p:sp>
        <p:nvSpPr>
          <p:cNvPr id="34" name="Text 29"/>
          <p:cNvSpPr txBox="1"/>
          <p:nvPr/>
        </p:nvSpPr>
        <p:spPr>
          <a:xfrm>
            <a:off x="6766560" y="4069080"/>
            <a:ext cx="1828800" cy="365760"/>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Signal conflict</a:t>
            </a:r>
            <a:endParaRPr lang="en-US" sz="1400" dirty="0"/>
          </a:p>
        </p:txBody>
      </p:sp>
      <p:sp>
        <p:nvSpPr>
          <p:cNvPr id="35" name="Shape 30"/>
          <p:cNvSpPr/>
          <p:nvPr/>
        </p:nvSpPr>
        <p:spPr>
          <a:xfrm>
            <a:off x="8641080" y="4142232"/>
            <a:ext cx="2194560" cy="219456"/>
          </a:xfrm>
          <a:prstGeom prst="roundRect">
            <a:avLst>
              <a:gd name="adj" fmla="val 25000"/>
            </a:avLst>
          </a:prstGeom>
          <a:solidFill>
            <a:srgbClr val="DCE8FB"/>
          </a:solidFill>
          <a:ln w="12700">
            <a:solidFill>
              <a:srgbClr val="DCE8FB"/>
            </a:solidFill>
            <a:prstDash val="solid"/>
          </a:ln>
        </p:spPr>
      </p:sp>
      <p:sp>
        <p:nvSpPr>
          <p:cNvPr id="36" name="Shape 31"/>
          <p:cNvSpPr/>
          <p:nvPr/>
        </p:nvSpPr>
        <p:spPr>
          <a:xfrm>
            <a:off x="8641080" y="4142232"/>
            <a:ext cx="1097280" cy="219456"/>
          </a:xfrm>
          <a:prstGeom prst="roundRect">
            <a:avLst>
              <a:gd name="adj" fmla="val 25000"/>
            </a:avLst>
          </a:prstGeom>
          <a:solidFill>
            <a:srgbClr val="2563EB"/>
          </a:solidFill>
          <a:ln w="12700">
            <a:solidFill>
              <a:srgbClr val="2563EB"/>
            </a:solidFill>
            <a:prstDash val="solid"/>
          </a:ln>
        </p:spPr>
      </p:sp>
      <p:sp>
        <p:nvSpPr>
          <p:cNvPr id="37" name="Text 32"/>
          <p:cNvSpPr txBox="1"/>
          <p:nvPr/>
        </p:nvSpPr>
        <p:spPr>
          <a:xfrm>
            <a:off x="10927080" y="4069080"/>
            <a:ext cx="548640" cy="365760"/>
          </a:xfrm>
          <a:prstGeom prst="rect">
            <a:avLst/>
          </a:prstGeom>
          <a:noFill/>
          <a:ln/>
        </p:spPr>
        <p:txBody>
          <a:bodyPr wrap="square" lIns="0" tIns="0" rIns="0" bIns="0" rtlCol="0" anchor="ctr"/>
          <a:lstStyle/>
          <a:p>
            <a:pPr marL="0" indent="0" algn="r">
              <a:buNone/>
            </a:pPr>
            <a:r>
              <a:rPr lang="en-US" sz="1400" b="1" dirty="0">
                <a:solidFill>
                  <a:srgbClr val="2563EB"/>
                </a:solidFill>
                <a:latin typeface="Calibri" pitchFamily="34" charset="0"/>
                <a:ea typeface="Calibri" pitchFamily="34" charset="-122"/>
                <a:cs typeface="Calibri" pitchFamily="34" charset="-120"/>
              </a:rPr>
              <a:t>20%</a:t>
            </a:r>
            <a:endParaRPr lang="en-US" sz="1400" dirty="0"/>
          </a:p>
        </p:txBody>
      </p:sp>
      <p:sp>
        <p:nvSpPr>
          <p:cNvPr id="38" name="Text 33"/>
          <p:cNvSpPr txBox="1"/>
          <p:nvPr/>
        </p:nvSpPr>
        <p:spPr>
          <a:xfrm>
            <a:off x="6766560" y="4709160"/>
            <a:ext cx="2743200" cy="228600"/>
          </a:xfrm>
          <a:prstGeom prst="rect">
            <a:avLst/>
          </a:prstGeom>
          <a:noFill/>
          <a:ln/>
        </p:spPr>
        <p:txBody>
          <a:bodyPr wrap="square" lIns="0" tIns="0" rIns="0" bIns="0" rtlCol="0" anchor="ctr"/>
          <a:lstStyle/>
          <a:p>
            <a:pPr marL="0" indent="0">
              <a:buNone/>
            </a:pPr>
            <a:r>
              <a:rPr lang="en-US" sz="1100" b="1" kern="0" spc="200" dirty="0">
                <a:solidFill>
                  <a:srgbClr val="5B6B82"/>
                </a:solidFill>
                <a:latin typeface="Calibri" pitchFamily="34" charset="0"/>
                <a:ea typeface="Calibri" pitchFamily="34" charset="-122"/>
                <a:cs typeface="Calibri" pitchFamily="34" charset="-120"/>
              </a:rPr>
              <a:t>ROUTING BANDS</a:t>
            </a:r>
            <a:endParaRPr lang="en-US" sz="1100" dirty="0"/>
          </a:p>
        </p:txBody>
      </p:sp>
      <p:sp>
        <p:nvSpPr>
          <p:cNvPr id="39" name="Shape 34"/>
          <p:cNvSpPr/>
          <p:nvPr/>
        </p:nvSpPr>
        <p:spPr>
          <a:xfrm>
            <a:off x="6766560" y="4983480"/>
            <a:ext cx="1481328" cy="685800"/>
          </a:xfrm>
          <a:prstGeom prst="roundRect">
            <a:avLst>
              <a:gd name="adj" fmla="val 10667"/>
            </a:avLst>
          </a:prstGeom>
          <a:solidFill>
            <a:srgbClr val="16A34A"/>
          </a:solidFill>
          <a:ln w="12700">
            <a:solidFill>
              <a:srgbClr val="16A34A"/>
            </a:solidFill>
            <a:prstDash val="solid"/>
          </a:ln>
        </p:spPr>
      </p:sp>
      <p:sp>
        <p:nvSpPr>
          <p:cNvPr id="40" name="Text 35"/>
          <p:cNvSpPr txBox="1"/>
          <p:nvPr/>
        </p:nvSpPr>
        <p:spPr>
          <a:xfrm>
            <a:off x="6766560" y="502920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LOW 0–29</a:t>
            </a:r>
            <a:endParaRPr lang="en-US" sz="1100" dirty="0"/>
          </a:p>
        </p:txBody>
      </p:sp>
      <p:sp>
        <p:nvSpPr>
          <p:cNvPr id="41" name="Text 36"/>
          <p:cNvSpPr txBox="1"/>
          <p:nvPr/>
        </p:nvSpPr>
        <p:spPr>
          <a:xfrm>
            <a:off x="6766560" y="5330952"/>
            <a:ext cx="1481328"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Proceed</a:t>
            </a:r>
            <a:endParaRPr lang="en-US" sz="1200" dirty="0"/>
          </a:p>
        </p:txBody>
      </p:sp>
      <p:sp>
        <p:nvSpPr>
          <p:cNvPr id="42" name="Shape 37"/>
          <p:cNvSpPr/>
          <p:nvPr/>
        </p:nvSpPr>
        <p:spPr>
          <a:xfrm>
            <a:off x="8339328" y="4983480"/>
            <a:ext cx="1481328" cy="685800"/>
          </a:xfrm>
          <a:prstGeom prst="roundRect">
            <a:avLst>
              <a:gd name="adj" fmla="val 10667"/>
            </a:avLst>
          </a:prstGeom>
          <a:solidFill>
            <a:srgbClr val="F59E0B"/>
          </a:solidFill>
          <a:ln w="12700">
            <a:solidFill>
              <a:srgbClr val="F59E0B"/>
            </a:solidFill>
            <a:prstDash val="solid"/>
          </a:ln>
        </p:spPr>
      </p:sp>
      <p:sp>
        <p:nvSpPr>
          <p:cNvPr id="43" name="Text 38"/>
          <p:cNvSpPr txBox="1"/>
          <p:nvPr/>
        </p:nvSpPr>
        <p:spPr>
          <a:xfrm>
            <a:off x="8339328" y="502920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MEDIUM 30–59</a:t>
            </a:r>
            <a:endParaRPr lang="en-US" sz="1100" dirty="0"/>
          </a:p>
        </p:txBody>
      </p:sp>
      <p:sp>
        <p:nvSpPr>
          <p:cNvPr id="44" name="Text 39"/>
          <p:cNvSpPr txBox="1"/>
          <p:nvPr/>
        </p:nvSpPr>
        <p:spPr>
          <a:xfrm>
            <a:off x="8339328" y="5330952"/>
            <a:ext cx="1481328"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Review</a:t>
            </a:r>
            <a:endParaRPr lang="en-US" sz="1200" dirty="0"/>
          </a:p>
        </p:txBody>
      </p:sp>
      <p:sp>
        <p:nvSpPr>
          <p:cNvPr id="45" name="Shape 40"/>
          <p:cNvSpPr/>
          <p:nvPr/>
        </p:nvSpPr>
        <p:spPr>
          <a:xfrm>
            <a:off x="9912096" y="4983480"/>
            <a:ext cx="1481328" cy="685800"/>
          </a:xfrm>
          <a:prstGeom prst="roundRect">
            <a:avLst>
              <a:gd name="adj" fmla="val 10667"/>
            </a:avLst>
          </a:prstGeom>
          <a:solidFill>
            <a:srgbClr val="DC2626"/>
          </a:solidFill>
          <a:ln w="12700">
            <a:solidFill>
              <a:srgbClr val="DC2626"/>
            </a:solidFill>
            <a:prstDash val="solid"/>
          </a:ln>
        </p:spPr>
      </p:sp>
      <p:sp>
        <p:nvSpPr>
          <p:cNvPr id="46" name="Text 41"/>
          <p:cNvSpPr txBox="1"/>
          <p:nvPr/>
        </p:nvSpPr>
        <p:spPr>
          <a:xfrm>
            <a:off x="9912096" y="5029200"/>
            <a:ext cx="14813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HIGH 60–100</a:t>
            </a:r>
            <a:endParaRPr lang="en-US" sz="1100" dirty="0"/>
          </a:p>
        </p:txBody>
      </p:sp>
      <p:sp>
        <p:nvSpPr>
          <p:cNvPr id="47" name="Text 42"/>
          <p:cNvSpPr txBox="1"/>
          <p:nvPr/>
        </p:nvSpPr>
        <p:spPr>
          <a:xfrm>
            <a:off x="9912096" y="5330952"/>
            <a:ext cx="1481328" cy="2743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Priority review</a:t>
            </a:r>
            <a:endParaRPr lang="en-US" sz="1200" dirty="0"/>
          </a:p>
        </p:txBody>
      </p:sp>
      <p:sp>
        <p:nvSpPr>
          <p:cNvPr id="48" name="Text 43"/>
          <p:cNvSpPr txBox="1"/>
          <p:nvPr/>
        </p:nvSpPr>
        <p:spPr>
          <a:xfrm>
            <a:off x="6766560" y="5742432"/>
            <a:ext cx="4663440" cy="274320"/>
          </a:xfrm>
          <a:prstGeom prst="rect">
            <a:avLst/>
          </a:prstGeom>
          <a:noFill/>
          <a:ln/>
        </p:spPr>
        <p:txBody>
          <a:bodyPr wrap="square" lIns="0" tIns="0" rIns="0" bIns="0" rtlCol="0" anchor="ctr"/>
          <a:lstStyle/>
          <a:p>
            <a:pPr marL="0" indent="0">
              <a:buNone/>
            </a:pPr>
            <a:r>
              <a:rPr lang="en-US" sz="1200" i="1" dirty="0">
                <a:solidFill>
                  <a:srgbClr val="5B6B82"/>
                </a:solidFill>
                <a:latin typeface="Calibri" pitchFamily="34" charset="0"/>
                <a:ea typeface="Calibri" pitchFamily="34" charset="-122"/>
                <a:cs typeface="Calibri" pitchFamily="34" charset="-120"/>
              </a:rPr>
              <a:t>Prioritises human review — not a fraud probability or an approval.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3 · DETAILS — SYSTEM &amp; DASHBOARD</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One inference service powers the API and the dashboard</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12</a:t>
            </a:r>
            <a:endParaRPr lang="en-US" sz="1100" dirty="0"/>
          </a:p>
        </p:txBody>
      </p:sp>
      <p:sp>
        <p:nvSpPr>
          <p:cNvPr id="5" name="Shape 3"/>
          <p:cNvSpPr/>
          <p:nvPr/>
        </p:nvSpPr>
        <p:spPr>
          <a:xfrm>
            <a:off x="548640" y="1691640"/>
            <a:ext cx="2011680" cy="1600200"/>
          </a:xfrm>
          <a:prstGeom prst="roundRect">
            <a:avLst>
              <a:gd name="adj" fmla="val 571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txBox="1"/>
          <p:nvPr/>
        </p:nvSpPr>
        <p:spPr>
          <a:xfrm>
            <a:off x="685800" y="1810512"/>
            <a:ext cx="1737360" cy="365760"/>
          </a:xfrm>
          <a:prstGeom prst="rect">
            <a:avLst/>
          </a:prstGeom>
          <a:noFill/>
          <a:ln/>
        </p:spPr>
        <p:txBody>
          <a:bodyPr wrap="square" lIns="0" tIns="0" rIns="0" bIns="0" rtlCol="0" anchor="ctr"/>
          <a:lstStyle/>
          <a:p>
            <a:pPr marL="0" indent="0" algn="ctr">
              <a:buNone/>
            </a:pPr>
            <a:r>
              <a:rPr lang="en-US" sz="1600" b="1" dirty="0">
                <a:solidFill>
                  <a:srgbClr val="10243E"/>
                </a:solidFill>
                <a:latin typeface="Calibri" pitchFamily="34" charset="0"/>
                <a:ea typeface="Calibri" pitchFamily="34" charset="-122"/>
                <a:cs typeface="Calibri" pitchFamily="34" charset="-120"/>
              </a:rPr>
              <a:t>training.py</a:t>
            </a:r>
            <a:endParaRPr lang="en-US" sz="1600" dirty="0"/>
          </a:p>
        </p:txBody>
      </p:sp>
      <p:sp>
        <p:nvSpPr>
          <p:cNvPr id="7" name="Text 5"/>
          <p:cNvSpPr txBox="1"/>
          <p:nvPr/>
        </p:nvSpPr>
        <p:spPr>
          <a:xfrm>
            <a:off x="685800" y="2212848"/>
            <a:ext cx="1737360" cy="100584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Train and evaluate</a:t>
            </a:r>
            <a:endParaRPr lang="en-US" sz="1300" dirty="0"/>
          </a:p>
        </p:txBody>
      </p:sp>
      <p:sp>
        <p:nvSpPr>
          <p:cNvPr id="8" name="Shape 6"/>
          <p:cNvSpPr/>
          <p:nvPr/>
        </p:nvSpPr>
        <p:spPr>
          <a:xfrm>
            <a:off x="2578608" y="2487168"/>
            <a:ext cx="221742" cy="0"/>
          </a:xfrm>
          <a:prstGeom prst="line">
            <a:avLst/>
          </a:prstGeom>
          <a:noFill/>
          <a:ln w="22225">
            <a:solidFill>
              <a:srgbClr val="2563EB"/>
            </a:solidFill>
            <a:prstDash val="solid"/>
            <a:tailEnd type="triangle"/>
          </a:ln>
        </p:spPr>
      </p:sp>
      <p:sp>
        <p:nvSpPr>
          <p:cNvPr id="9" name="Shape 7"/>
          <p:cNvSpPr/>
          <p:nvPr/>
        </p:nvSpPr>
        <p:spPr>
          <a:xfrm>
            <a:off x="2818638" y="1691640"/>
            <a:ext cx="2011680" cy="1600200"/>
          </a:xfrm>
          <a:prstGeom prst="roundRect">
            <a:avLst>
              <a:gd name="adj" fmla="val 571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Text 8"/>
          <p:cNvSpPr txBox="1"/>
          <p:nvPr/>
        </p:nvSpPr>
        <p:spPr>
          <a:xfrm>
            <a:off x="2955798" y="1810512"/>
            <a:ext cx="1737360" cy="365760"/>
          </a:xfrm>
          <a:prstGeom prst="rect">
            <a:avLst/>
          </a:prstGeom>
          <a:noFill/>
          <a:ln/>
        </p:spPr>
        <p:txBody>
          <a:bodyPr wrap="square" lIns="0" tIns="0" rIns="0" bIns="0" rtlCol="0" anchor="ctr"/>
          <a:lstStyle/>
          <a:p>
            <a:pPr marL="0" indent="0" algn="ctr">
              <a:buNone/>
            </a:pPr>
            <a:r>
              <a:rPr lang="en-US" sz="1600" b="1" dirty="0">
                <a:solidFill>
                  <a:srgbClr val="10243E"/>
                </a:solidFill>
                <a:latin typeface="Calibri" pitchFamily="34" charset="0"/>
                <a:ea typeface="Calibri" pitchFamily="34" charset="-122"/>
                <a:cs typeface="Calibri" pitchFamily="34" charset="-120"/>
              </a:rPr>
              <a:t>Model bundle</a:t>
            </a:r>
            <a:endParaRPr lang="en-US" sz="1600" dirty="0"/>
          </a:p>
        </p:txBody>
      </p:sp>
      <p:sp>
        <p:nvSpPr>
          <p:cNvPr id="11" name="Text 9"/>
          <p:cNvSpPr txBox="1"/>
          <p:nvPr/>
        </p:nvSpPr>
        <p:spPr>
          <a:xfrm>
            <a:off x="2955798" y="2212848"/>
            <a:ext cx="1737360" cy="100584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Versioned artifact</a:t>
            </a:r>
            <a:endParaRPr lang="en-US" sz="1300" dirty="0"/>
          </a:p>
        </p:txBody>
      </p:sp>
      <p:sp>
        <p:nvSpPr>
          <p:cNvPr id="12" name="Shape 10"/>
          <p:cNvSpPr/>
          <p:nvPr/>
        </p:nvSpPr>
        <p:spPr>
          <a:xfrm>
            <a:off x="4848606" y="2487168"/>
            <a:ext cx="221742" cy="0"/>
          </a:xfrm>
          <a:prstGeom prst="line">
            <a:avLst/>
          </a:prstGeom>
          <a:noFill/>
          <a:ln w="22225">
            <a:solidFill>
              <a:srgbClr val="2563EB"/>
            </a:solidFill>
            <a:prstDash val="solid"/>
            <a:tailEnd type="triangle"/>
          </a:ln>
        </p:spPr>
      </p:sp>
      <p:sp>
        <p:nvSpPr>
          <p:cNvPr id="13" name="Shape 11"/>
          <p:cNvSpPr/>
          <p:nvPr/>
        </p:nvSpPr>
        <p:spPr>
          <a:xfrm>
            <a:off x="5088636" y="1691640"/>
            <a:ext cx="2011680" cy="1600200"/>
          </a:xfrm>
          <a:prstGeom prst="roundRect">
            <a:avLst>
              <a:gd name="adj" fmla="val 571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4" name="Text 12"/>
          <p:cNvSpPr txBox="1"/>
          <p:nvPr/>
        </p:nvSpPr>
        <p:spPr>
          <a:xfrm>
            <a:off x="5225796" y="1810512"/>
            <a:ext cx="1737360" cy="365760"/>
          </a:xfrm>
          <a:prstGeom prst="rect">
            <a:avLst/>
          </a:prstGeom>
          <a:noFill/>
          <a:ln/>
        </p:spPr>
        <p:txBody>
          <a:bodyPr wrap="square" lIns="0" tIns="0" rIns="0" bIns="0" rtlCol="0" anchor="ctr"/>
          <a:lstStyle/>
          <a:p>
            <a:pPr marL="0" indent="0" algn="ctr">
              <a:buNone/>
            </a:pPr>
            <a:r>
              <a:rPr lang="en-US" sz="1600" b="1" dirty="0">
                <a:solidFill>
                  <a:srgbClr val="10243E"/>
                </a:solidFill>
                <a:latin typeface="Calibri" pitchFamily="34" charset="0"/>
                <a:ea typeface="Calibri" pitchFamily="34" charset="-122"/>
                <a:cs typeface="Calibri" pitchFamily="34" charset="-120"/>
              </a:rPr>
              <a:t>inference.py</a:t>
            </a:r>
            <a:endParaRPr lang="en-US" sz="1600" dirty="0"/>
          </a:p>
        </p:txBody>
      </p:sp>
      <p:sp>
        <p:nvSpPr>
          <p:cNvPr id="15" name="Text 13"/>
          <p:cNvSpPr txBox="1"/>
          <p:nvPr/>
        </p:nvSpPr>
        <p:spPr>
          <a:xfrm>
            <a:off x="5225796" y="2212848"/>
            <a:ext cx="1737360" cy="100584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Prediction service</a:t>
            </a:r>
            <a:endParaRPr lang="en-US" sz="1300" dirty="0"/>
          </a:p>
        </p:txBody>
      </p:sp>
      <p:sp>
        <p:nvSpPr>
          <p:cNvPr id="16" name="Shape 14"/>
          <p:cNvSpPr/>
          <p:nvPr/>
        </p:nvSpPr>
        <p:spPr>
          <a:xfrm>
            <a:off x="7118604" y="2487168"/>
            <a:ext cx="221742" cy="0"/>
          </a:xfrm>
          <a:prstGeom prst="line">
            <a:avLst/>
          </a:prstGeom>
          <a:noFill/>
          <a:ln w="22225">
            <a:solidFill>
              <a:srgbClr val="2563EB"/>
            </a:solidFill>
            <a:prstDash val="solid"/>
            <a:tailEnd type="triangle"/>
          </a:ln>
        </p:spPr>
      </p:sp>
      <p:sp>
        <p:nvSpPr>
          <p:cNvPr id="17" name="Shape 15"/>
          <p:cNvSpPr/>
          <p:nvPr/>
        </p:nvSpPr>
        <p:spPr>
          <a:xfrm>
            <a:off x="7358634" y="1691640"/>
            <a:ext cx="2011680" cy="1600200"/>
          </a:xfrm>
          <a:prstGeom prst="roundRect">
            <a:avLst>
              <a:gd name="adj" fmla="val 5714"/>
            </a:avLst>
          </a:prstGeom>
          <a:solidFill>
            <a:srgbClr val="2563EB"/>
          </a:solidFill>
          <a:ln w="9525">
            <a:solidFill>
              <a:srgbClr val="2563EB"/>
            </a:solidFill>
            <a:prstDash val="solid"/>
          </a:ln>
        </p:spPr>
      </p:sp>
      <p:sp>
        <p:nvSpPr>
          <p:cNvPr id="18" name="Text 16"/>
          <p:cNvSpPr txBox="1"/>
          <p:nvPr/>
        </p:nvSpPr>
        <p:spPr>
          <a:xfrm>
            <a:off x="7495794" y="1810512"/>
            <a:ext cx="17373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FastAPI</a:t>
            </a:r>
            <a:endParaRPr lang="en-US" sz="1600" dirty="0"/>
          </a:p>
        </p:txBody>
      </p:sp>
      <p:sp>
        <p:nvSpPr>
          <p:cNvPr id="19" name="Text 17"/>
          <p:cNvSpPr txBox="1"/>
          <p:nvPr/>
        </p:nvSpPr>
        <p:spPr>
          <a:xfrm>
            <a:off x="7495794" y="2212848"/>
            <a:ext cx="1737360" cy="100584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/predict</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/similar-claims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/risk-score</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/claim-intelligence</a:t>
            </a:r>
            <a:endParaRPr lang="en-US" sz="1100" dirty="0"/>
          </a:p>
        </p:txBody>
      </p:sp>
      <p:sp>
        <p:nvSpPr>
          <p:cNvPr id="20" name="Shape 18"/>
          <p:cNvSpPr/>
          <p:nvPr/>
        </p:nvSpPr>
        <p:spPr>
          <a:xfrm>
            <a:off x="9388602" y="2487168"/>
            <a:ext cx="221742" cy="0"/>
          </a:xfrm>
          <a:prstGeom prst="line">
            <a:avLst/>
          </a:prstGeom>
          <a:noFill/>
          <a:ln w="22225">
            <a:solidFill>
              <a:srgbClr val="2563EB"/>
            </a:solidFill>
            <a:prstDash val="solid"/>
            <a:tailEnd type="triangle"/>
          </a:ln>
        </p:spPr>
      </p:sp>
      <p:sp>
        <p:nvSpPr>
          <p:cNvPr id="21" name="Shape 19"/>
          <p:cNvSpPr/>
          <p:nvPr/>
        </p:nvSpPr>
        <p:spPr>
          <a:xfrm>
            <a:off x="9628632" y="1691640"/>
            <a:ext cx="2011680" cy="1600200"/>
          </a:xfrm>
          <a:prstGeom prst="roundRect">
            <a:avLst>
              <a:gd name="adj" fmla="val 571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2" name="Text 20"/>
          <p:cNvSpPr txBox="1"/>
          <p:nvPr/>
        </p:nvSpPr>
        <p:spPr>
          <a:xfrm>
            <a:off x="9765792" y="1810512"/>
            <a:ext cx="1737360" cy="365760"/>
          </a:xfrm>
          <a:prstGeom prst="rect">
            <a:avLst/>
          </a:prstGeom>
          <a:noFill/>
          <a:ln/>
        </p:spPr>
        <p:txBody>
          <a:bodyPr wrap="square" lIns="0" tIns="0" rIns="0" bIns="0" rtlCol="0" anchor="ctr"/>
          <a:lstStyle/>
          <a:p>
            <a:pPr marL="0" indent="0" algn="ctr">
              <a:buNone/>
            </a:pPr>
            <a:r>
              <a:rPr lang="en-US" sz="1600" b="1" dirty="0">
                <a:solidFill>
                  <a:srgbClr val="10243E"/>
                </a:solidFill>
                <a:latin typeface="Calibri" pitchFamily="34" charset="0"/>
                <a:ea typeface="Calibri" pitchFamily="34" charset="-122"/>
                <a:cs typeface="Calibri" pitchFamily="34" charset="-120"/>
              </a:rPr>
              <a:t>Streamlit UI</a:t>
            </a:r>
            <a:endParaRPr lang="en-US" sz="1600" dirty="0"/>
          </a:p>
        </p:txBody>
      </p:sp>
      <p:sp>
        <p:nvSpPr>
          <p:cNvPr id="23" name="Text 21"/>
          <p:cNvSpPr txBox="1"/>
          <p:nvPr/>
        </p:nvSpPr>
        <p:spPr>
          <a:xfrm>
            <a:off x="9765792" y="2212848"/>
            <a:ext cx="1737360" cy="1005840"/>
          </a:xfrm>
          <a:prstGeom prst="rect">
            <a:avLst/>
          </a:prstGeom>
          <a:noFill/>
          <a:ln/>
        </p:spPr>
        <p:txBody>
          <a:bodyPr wrap="square" lIns="0" tIns="0" rIns="0" bIns="0" rtlCol="0" anchor="t"/>
          <a:lstStyle/>
          <a:p>
            <a:pPr marL="0" indent="0" algn="ctr">
              <a:buNone/>
            </a:pPr>
            <a:r>
              <a:rPr lang="en-US" sz="1300" dirty="0">
                <a:solidFill>
                  <a:srgbClr val="5B6B82"/>
                </a:solidFill>
                <a:latin typeface="Calibri" pitchFamily="34" charset="0"/>
                <a:ea typeface="Calibri" pitchFamily="34" charset="-122"/>
                <a:cs typeface="Calibri" pitchFamily="34" charset="-120"/>
              </a:rPr>
              <a:t>Reviewer experience</a:t>
            </a:r>
            <a:endParaRPr lang="en-US" sz="1300" dirty="0"/>
          </a:p>
        </p:txBody>
      </p:sp>
      <p:sp>
        <p:nvSpPr>
          <p:cNvPr id="24" name="Text 22"/>
          <p:cNvSpPr txBox="1"/>
          <p:nvPr/>
        </p:nvSpPr>
        <p:spPr>
          <a:xfrm>
            <a:off x="548640" y="3520440"/>
            <a:ext cx="7315200" cy="365760"/>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Streamlit dashboard — four pages</a:t>
            </a:r>
            <a:endParaRPr lang="en-US" sz="1800" dirty="0"/>
          </a:p>
        </p:txBody>
      </p:sp>
      <p:sp>
        <p:nvSpPr>
          <p:cNvPr id="25" name="Shape 23"/>
          <p:cNvSpPr/>
          <p:nvPr/>
        </p:nvSpPr>
        <p:spPr>
          <a:xfrm>
            <a:off x="548640" y="397764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Shape 24"/>
          <p:cNvSpPr/>
          <p:nvPr/>
        </p:nvSpPr>
        <p:spPr>
          <a:xfrm>
            <a:off x="777240" y="4160520"/>
            <a:ext cx="530352" cy="530352"/>
          </a:xfrm>
          <a:prstGeom prst="ellipse">
            <a:avLst/>
          </a:prstGeom>
          <a:solidFill>
            <a:srgbClr val="2563EB"/>
          </a:solidFill>
          <a:ln w="12700">
            <a:solidFill>
              <a:srgbClr val="2563EB"/>
            </a:solidFill>
            <a:prstDash val="solid"/>
          </a:ln>
        </p:spPr>
      </p:sp>
      <p:pic>
        <p:nvPicPr>
          <p:cNvPr id="27" name="Image 0" descr="preencoded.png"/>
          <p:cNvPicPr>
            <a:picLocks noChangeAspect="1"/>
          </p:cNvPicPr>
          <p:nvPr/>
        </p:nvPicPr>
        <p:blipFill>
          <a:blip r:embed="rId3"/>
          <a:stretch>
            <a:fillRect/>
          </a:stretch>
        </p:blipFill>
        <p:spPr>
          <a:xfrm>
            <a:off x="909828" y="4293108"/>
            <a:ext cx="265176" cy="265176"/>
          </a:xfrm>
          <a:prstGeom prst="rect">
            <a:avLst/>
          </a:prstGeom>
        </p:spPr>
      </p:pic>
      <p:sp>
        <p:nvSpPr>
          <p:cNvPr id="28" name="Text 25"/>
          <p:cNvSpPr txBox="1"/>
          <p:nvPr/>
        </p:nvSpPr>
        <p:spPr>
          <a:xfrm>
            <a:off x="777240" y="4754880"/>
            <a:ext cx="21945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Executive Overview</a:t>
            </a:r>
            <a:endParaRPr lang="en-US" sz="1600" dirty="0"/>
          </a:p>
        </p:txBody>
      </p:sp>
      <p:sp>
        <p:nvSpPr>
          <p:cNvPr id="29" name="Text 26"/>
          <p:cNvSpPr txBox="1"/>
          <p:nvPr/>
        </p:nvSpPr>
        <p:spPr>
          <a:xfrm>
            <a:off x="777240" y="5093208"/>
            <a:ext cx="2194560" cy="6400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Premium, exposure, claims and trend KPIs</a:t>
            </a:r>
            <a:endParaRPr lang="en-US" sz="1200" dirty="0"/>
          </a:p>
        </p:txBody>
      </p:sp>
      <p:sp>
        <p:nvSpPr>
          <p:cNvPr id="30" name="Shape 27"/>
          <p:cNvSpPr/>
          <p:nvPr/>
        </p:nvSpPr>
        <p:spPr>
          <a:xfrm>
            <a:off x="3346704" y="397764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1" name="Shape 28"/>
          <p:cNvSpPr/>
          <p:nvPr/>
        </p:nvSpPr>
        <p:spPr>
          <a:xfrm>
            <a:off x="3575304" y="4160520"/>
            <a:ext cx="530352" cy="530352"/>
          </a:xfrm>
          <a:prstGeom prst="ellipse">
            <a:avLst/>
          </a:prstGeom>
          <a:solidFill>
            <a:srgbClr val="2563EB"/>
          </a:solidFill>
          <a:ln w="12700">
            <a:solidFill>
              <a:srgbClr val="2563EB"/>
            </a:solidFill>
            <a:prstDash val="solid"/>
          </a:ln>
        </p:spPr>
      </p:sp>
      <p:pic>
        <p:nvPicPr>
          <p:cNvPr id="32" name="Image 1" descr="preencoded.png"/>
          <p:cNvPicPr>
            <a:picLocks noChangeAspect="1"/>
          </p:cNvPicPr>
          <p:nvPr/>
        </p:nvPicPr>
        <p:blipFill>
          <a:blip r:embed="rId4"/>
          <a:stretch>
            <a:fillRect/>
          </a:stretch>
        </p:blipFill>
        <p:spPr>
          <a:xfrm>
            <a:off x="3707892" y="4293108"/>
            <a:ext cx="265176" cy="265176"/>
          </a:xfrm>
          <a:prstGeom prst="rect">
            <a:avLst/>
          </a:prstGeom>
        </p:spPr>
      </p:pic>
      <p:sp>
        <p:nvSpPr>
          <p:cNvPr id="33" name="Text 29"/>
          <p:cNvSpPr txBox="1"/>
          <p:nvPr/>
        </p:nvSpPr>
        <p:spPr>
          <a:xfrm>
            <a:off x="3575304" y="4754880"/>
            <a:ext cx="21945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Historical Analytics</a:t>
            </a:r>
            <a:endParaRPr lang="en-US" sz="1600" dirty="0"/>
          </a:p>
        </p:txBody>
      </p:sp>
      <p:sp>
        <p:nvSpPr>
          <p:cNvPr id="34" name="Text 30"/>
          <p:cNvSpPr txBox="1"/>
          <p:nvPr/>
        </p:nvSpPr>
        <p:spPr>
          <a:xfrm>
            <a:off x="3575304" y="5093208"/>
            <a:ext cx="2194560" cy="6400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Portfolio distributions and policy drill-down</a:t>
            </a:r>
            <a:endParaRPr lang="en-US" sz="1200" dirty="0"/>
          </a:p>
        </p:txBody>
      </p:sp>
      <p:sp>
        <p:nvSpPr>
          <p:cNvPr id="35" name="Shape 31"/>
          <p:cNvSpPr/>
          <p:nvPr/>
        </p:nvSpPr>
        <p:spPr>
          <a:xfrm>
            <a:off x="6144768" y="397764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6" name="Shape 32"/>
          <p:cNvSpPr/>
          <p:nvPr/>
        </p:nvSpPr>
        <p:spPr>
          <a:xfrm>
            <a:off x="6373368" y="4160520"/>
            <a:ext cx="530352" cy="530352"/>
          </a:xfrm>
          <a:prstGeom prst="ellipse">
            <a:avLst/>
          </a:prstGeom>
          <a:solidFill>
            <a:srgbClr val="2563EB"/>
          </a:solidFill>
          <a:ln w="12700">
            <a:solidFill>
              <a:srgbClr val="2563EB"/>
            </a:solidFill>
            <a:prstDash val="solid"/>
          </a:ln>
        </p:spPr>
      </p:sp>
      <p:pic>
        <p:nvPicPr>
          <p:cNvPr id="37" name="Image 2" descr="preencoded.png"/>
          <p:cNvPicPr>
            <a:picLocks noChangeAspect="1"/>
          </p:cNvPicPr>
          <p:nvPr/>
        </p:nvPicPr>
        <p:blipFill>
          <a:blip r:embed="rId5"/>
          <a:stretch>
            <a:fillRect/>
          </a:stretch>
        </p:blipFill>
        <p:spPr>
          <a:xfrm>
            <a:off x="6505956" y="4293108"/>
            <a:ext cx="265176" cy="265176"/>
          </a:xfrm>
          <a:prstGeom prst="rect">
            <a:avLst/>
          </a:prstGeom>
        </p:spPr>
      </p:pic>
      <p:sp>
        <p:nvSpPr>
          <p:cNvPr id="38" name="Text 33"/>
          <p:cNvSpPr txBox="1"/>
          <p:nvPr/>
        </p:nvSpPr>
        <p:spPr>
          <a:xfrm>
            <a:off x="6373368" y="4754880"/>
            <a:ext cx="21945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AI Claim Assessment</a:t>
            </a:r>
            <a:endParaRPr lang="en-US" sz="1600" dirty="0"/>
          </a:p>
        </p:txBody>
      </p:sp>
      <p:sp>
        <p:nvSpPr>
          <p:cNvPr id="39" name="Text 34"/>
          <p:cNvSpPr txBox="1"/>
          <p:nvPr/>
        </p:nvSpPr>
        <p:spPr>
          <a:xfrm>
            <a:off x="6373368" y="5093208"/>
            <a:ext cx="2194560" cy="6400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OCR upload, prediction, retrieval and benchmark</a:t>
            </a:r>
            <a:endParaRPr lang="en-US" sz="1200" dirty="0"/>
          </a:p>
        </p:txBody>
      </p:sp>
      <p:sp>
        <p:nvSpPr>
          <p:cNvPr id="40" name="Shape 35"/>
          <p:cNvSpPr/>
          <p:nvPr/>
        </p:nvSpPr>
        <p:spPr>
          <a:xfrm>
            <a:off x="8942832" y="3977640"/>
            <a:ext cx="2606040" cy="1828800"/>
          </a:xfrm>
          <a:prstGeom prst="roundRect">
            <a:avLst>
              <a:gd name="adj" fmla="val 500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41" name="Shape 36"/>
          <p:cNvSpPr/>
          <p:nvPr/>
        </p:nvSpPr>
        <p:spPr>
          <a:xfrm>
            <a:off x="9171432" y="4160520"/>
            <a:ext cx="530352" cy="530352"/>
          </a:xfrm>
          <a:prstGeom prst="ellipse">
            <a:avLst/>
          </a:prstGeom>
          <a:solidFill>
            <a:srgbClr val="2563EB"/>
          </a:solidFill>
          <a:ln w="12700">
            <a:solidFill>
              <a:srgbClr val="2563EB"/>
            </a:solidFill>
            <a:prstDash val="solid"/>
          </a:ln>
        </p:spPr>
      </p:sp>
      <p:pic>
        <p:nvPicPr>
          <p:cNvPr id="42" name="Image 3" descr="preencoded.png"/>
          <p:cNvPicPr>
            <a:picLocks noChangeAspect="1"/>
          </p:cNvPicPr>
          <p:nvPr/>
        </p:nvPicPr>
        <p:blipFill>
          <a:blip r:embed="rId6"/>
          <a:stretch>
            <a:fillRect/>
          </a:stretch>
        </p:blipFill>
        <p:spPr>
          <a:xfrm>
            <a:off x="9304020" y="4293108"/>
            <a:ext cx="265176" cy="265176"/>
          </a:xfrm>
          <a:prstGeom prst="rect">
            <a:avLst/>
          </a:prstGeom>
        </p:spPr>
      </p:pic>
      <p:sp>
        <p:nvSpPr>
          <p:cNvPr id="43" name="Text 37"/>
          <p:cNvSpPr txBox="1"/>
          <p:nvPr/>
        </p:nvSpPr>
        <p:spPr>
          <a:xfrm>
            <a:off x="9171432" y="4754880"/>
            <a:ext cx="21945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Agent Decision Center</a:t>
            </a:r>
            <a:endParaRPr lang="en-US" sz="1600" dirty="0"/>
          </a:p>
        </p:txBody>
      </p:sp>
      <p:sp>
        <p:nvSpPr>
          <p:cNvPr id="44" name="Text 38"/>
          <p:cNvSpPr txBox="1"/>
          <p:nvPr/>
        </p:nvSpPr>
        <p:spPr>
          <a:xfrm>
            <a:off x="9171432" y="5093208"/>
            <a:ext cx="2194560" cy="64008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Transparent workflow trace and routing</a:t>
            </a:r>
            <a:endParaRPr lang="en-US" sz="1200" dirty="0"/>
          </a:p>
        </p:txBody>
      </p:sp>
      <p:sp>
        <p:nvSpPr>
          <p:cNvPr id="45" name="Shape 39"/>
          <p:cNvSpPr/>
          <p:nvPr/>
        </p:nvSpPr>
        <p:spPr>
          <a:xfrm>
            <a:off x="548640" y="5989320"/>
            <a:ext cx="329184" cy="329184"/>
          </a:xfrm>
          <a:prstGeom prst="ellipse">
            <a:avLst/>
          </a:prstGeom>
          <a:solidFill>
            <a:srgbClr val="16A34A"/>
          </a:solidFill>
          <a:ln w="12700">
            <a:solidFill>
              <a:srgbClr val="16A34A"/>
            </a:solidFill>
            <a:prstDash val="solid"/>
          </a:ln>
        </p:spPr>
      </p:sp>
      <p:pic>
        <p:nvPicPr>
          <p:cNvPr id="46" name="Image 4" descr="preencoded.png"/>
          <p:cNvPicPr>
            <a:picLocks noChangeAspect="1"/>
          </p:cNvPicPr>
          <p:nvPr/>
        </p:nvPicPr>
        <p:blipFill>
          <a:blip r:embed="rId7"/>
          <a:stretch>
            <a:fillRect/>
          </a:stretch>
        </p:blipFill>
        <p:spPr>
          <a:xfrm>
            <a:off x="630936" y="6071616"/>
            <a:ext cx="164592" cy="164592"/>
          </a:xfrm>
          <a:prstGeom prst="rect">
            <a:avLst/>
          </a:prstGeom>
        </p:spPr>
      </p:pic>
      <p:sp>
        <p:nvSpPr>
          <p:cNvPr id="47" name="Text 40"/>
          <p:cNvSpPr txBox="1"/>
          <p:nvPr/>
        </p:nvSpPr>
        <p:spPr>
          <a:xfrm>
            <a:off x="1005840" y="5989320"/>
            <a:ext cx="6400800" cy="329184"/>
          </a:xfrm>
          <a:prstGeom prst="rect">
            <a:avLst/>
          </a:prstGeom>
          <a:noFill/>
          <a:ln/>
        </p:spPr>
        <p:txBody>
          <a:bodyPr wrap="square" lIns="0" tIns="0" rIns="0" bIns="0" rtlCol="0" anchor="ctr"/>
          <a:lstStyle/>
          <a:p>
            <a:pPr marL="0" indent="0">
              <a:buNone/>
            </a:pPr>
            <a:r>
              <a:rPr lang="en-US" sz="1400" b="1" dirty="0">
                <a:solidFill>
                  <a:srgbClr val="10243E"/>
                </a:solidFill>
                <a:latin typeface="Calibri" pitchFamily="34" charset="0"/>
                <a:ea typeface="Calibri" pitchFamily="34" charset="-122"/>
                <a:cs typeface="Calibri" pitchFamily="34" charset="-120"/>
              </a:rPr>
              <a:t>10 automated tests passed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4 · AGENTIC AI</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The agent chooses its path from confidence and risk</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13</a:t>
            </a:r>
            <a:endParaRPr lang="en-US" sz="1100" dirty="0"/>
          </a:p>
        </p:txBody>
      </p:sp>
      <p:sp>
        <p:nvSpPr>
          <p:cNvPr id="5" name="Shape 3"/>
          <p:cNvSpPr/>
          <p:nvPr/>
        </p:nvSpPr>
        <p:spPr>
          <a:xfrm>
            <a:off x="548640" y="1737360"/>
            <a:ext cx="6858000" cy="777240"/>
          </a:xfrm>
          <a:prstGeom prst="roundRect">
            <a:avLst>
              <a:gd name="adj" fmla="val 1176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p:nvPr/>
        </p:nvSpPr>
        <p:spPr>
          <a:xfrm>
            <a:off x="731520" y="1901952"/>
            <a:ext cx="438912" cy="438912"/>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810512"/>
            <a:ext cx="58521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Intake routing</a:t>
            </a:r>
            <a:endParaRPr lang="en-US" sz="1600" dirty="0"/>
          </a:p>
        </p:txBody>
      </p:sp>
      <p:sp>
        <p:nvSpPr>
          <p:cNvPr id="8" name="Text 6"/>
          <p:cNvSpPr txBox="1"/>
          <p:nvPr/>
        </p:nvSpPr>
        <p:spPr>
          <a:xfrm>
            <a:off x="1371600" y="2130552"/>
            <a:ext cx="5852160" cy="320040"/>
          </a:xfrm>
          <a:prstGeom prst="rect">
            <a:avLst/>
          </a:prstGeom>
          <a:noFill/>
          <a:ln/>
        </p:spPr>
        <p:txBody>
          <a:bodyPr wrap="square" lIns="0" tIns="0" rIns="0" bIns="0" rtlCol="0" anchor="ctr"/>
          <a:lstStyle/>
          <a:p>
            <a:pPr marL="0" indent="0">
              <a:buNone/>
            </a:pPr>
            <a:r>
              <a:rPr lang="en-US" sz="1300" dirty="0">
                <a:solidFill>
                  <a:srgbClr val="5B6B82"/>
                </a:solidFill>
                <a:latin typeface="Calibri" pitchFamily="34" charset="0"/>
                <a:ea typeface="Calibri" pitchFamily="34" charset="-122"/>
                <a:cs typeface="Calibri" pitchFamily="34" charset="-120"/>
              </a:rPr>
              <a:t>Image → OCR first. Plain text skips OCR.</a:t>
            </a:r>
            <a:endParaRPr lang="en-US" sz="1300" dirty="0"/>
          </a:p>
        </p:txBody>
      </p:sp>
      <p:sp>
        <p:nvSpPr>
          <p:cNvPr id="9" name="Shape 7"/>
          <p:cNvSpPr/>
          <p:nvPr/>
        </p:nvSpPr>
        <p:spPr>
          <a:xfrm>
            <a:off x="548640" y="2624328"/>
            <a:ext cx="6858000" cy="777240"/>
          </a:xfrm>
          <a:prstGeom prst="roundRect">
            <a:avLst>
              <a:gd name="adj" fmla="val 1176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Text 8"/>
          <p:cNvSpPr/>
          <p:nvPr/>
        </p:nvSpPr>
        <p:spPr>
          <a:xfrm>
            <a:off x="731520" y="2788920"/>
            <a:ext cx="438912" cy="438912"/>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371600" y="2697480"/>
            <a:ext cx="58521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OCR quality gate</a:t>
            </a:r>
            <a:endParaRPr lang="en-US" sz="1600" dirty="0"/>
          </a:p>
        </p:txBody>
      </p:sp>
      <p:sp>
        <p:nvSpPr>
          <p:cNvPr id="12" name="Text 10"/>
          <p:cNvSpPr txBox="1"/>
          <p:nvPr/>
        </p:nvSpPr>
        <p:spPr>
          <a:xfrm>
            <a:off x="1371600" y="3017520"/>
            <a:ext cx="5852160" cy="320040"/>
          </a:xfrm>
          <a:prstGeom prst="rect">
            <a:avLst/>
          </a:prstGeom>
          <a:noFill/>
          <a:ln/>
        </p:spPr>
        <p:txBody>
          <a:bodyPr wrap="square" lIns="0" tIns="0" rIns="0" bIns="0" rtlCol="0" anchor="ctr"/>
          <a:lstStyle/>
          <a:p>
            <a:pPr marL="0" indent="0">
              <a:buNone/>
            </a:pPr>
            <a:r>
              <a:rPr lang="en-US" sz="1300" dirty="0">
                <a:solidFill>
                  <a:srgbClr val="5B6B82"/>
                </a:solidFill>
                <a:latin typeface="Calibri" pitchFamily="34" charset="0"/>
                <a:ea typeface="Calibri" pitchFamily="34" charset="-122"/>
                <a:cs typeface="Calibri" pitchFamily="34" charset="-120"/>
              </a:rPr>
              <a:t>Confidence below 0.6 → stop and request a re-upload.</a:t>
            </a:r>
            <a:endParaRPr lang="en-US" sz="1300" dirty="0"/>
          </a:p>
        </p:txBody>
      </p:sp>
      <p:sp>
        <p:nvSpPr>
          <p:cNvPr id="13" name="Shape 11"/>
          <p:cNvSpPr/>
          <p:nvPr/>
        </p:nvSpPr>
        <p:spPr>
          <a:xfrm>
            <a:off x="548640" y="3511296"/>
            <a:ext cx="6858000" cy="777240"/>
          </a:xfrm>
          <a:prstGeom prst="roundRect">
            <a:avLst>
              <a:gd name="adj" fmla="val 1176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4" name="Text 12"/>
          <p:cNvSpPr/>
          <p:nvPr/>
        </p:nvSpPr>
        <p:spPr>
          <a:xfrm>
            <a:off x="731520" y="3675888"/>
            <a:ext cx="438912" cy="438912"/>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371600" y="3584448"/>
            <a:ext cx="58521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Confidence branch</a:t>
            </a:r>
            <a:endParaRPr lang="en-US" sz="1600" dirty="0"/>
          </a:p>
        </p:txBody>
      </p:sp>
      <p:sp>
        <p:nvSpPr>
          <p:cNvPr id="16" name="Text 14"/>
          <p:cNvSpPr txBox="1"/>
          <p:nvPr/>
        </p:nvSpPr>
        <p:spPr>
          <a:xfrm>
            <a:off x="1371600" y="3904488"/>
            <a:ext cx="5852160" cy="320040"/>
          </a:xfrm>
          <a:prstGeom prst="rect">
            <a:avLst/>
          </a:prstGeom>
          <a:noFill/>
          <a:ln/>
        </p:spPr>
        <p:txBody>
          <a:bodyPr wrap="square" lIns="0" tIns="0" rIns="0" bIns="0" rtlCol="0" anchor="ctr"/>
          <a:lstStyle/>
          <a:p>
            <a:pPr marL="0" indent="0">
              <a:buNone/>
            </a:pPr>
            <a:r>
              <a:rPr lang="en-US" sz="1300" dirty="0">
                <a:solidFill>
                  <a:srgbClr val="5B6B82"/>
                </a:solidFill>
                <a:latin typeface="Calibri" pitchFamily="34" charset="0"/>
                <a:ea typeface="Calibri" pitchFamily="34" charset="-122"/>
                <a:cs typeface="Calibri" pitchFamily="34" charset="-120"/>
              </a:rPr>
              <a:t>Classifier ≥ 0.5 → continue. Below 0.5 → “unsure”.</a:t>
            </a:r>
            <a:endParaRPr lang="en-US" sz="1300" dirty="0"/>
          </a:p>
        </p:txBody>
      </p:sp>
      <p:sp>
        <p:nvSpPr>
          <p:cNvPr id="17" name="Shape 15"/>
          <p:cNvSpPr/>
          <p:nvPr/>
        </p:nvSpPr>
        <p:spPr>
          <a:xfrm>
            <a:off x="548640" y="4398264"/>
            <a:ext cx="6858000" cy="777240"/>
          </a:xfrm>
          <a:prstGeom prst="roundRect">
            <a:avLst>
              <a:gd name="adj" fmla="val 1176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Text 16"/>
          <p:cNvSpPr/>
          <p:nvPr/>
        </p:nvSpPr>
        <p:spPr>
          <a:xfrm>
            <a:off x="731520" y="4562856"/>
            <a:ext cx="438912" cy="438912"/>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371600" y="4471416"/>
            <a:ext cx="58521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Conditional retrieval</a:t>
            </a:r>
            <a:endParaRPr lang="en-US" sz="1600" dirty="0"/>
          </a:p>
        </p:txBody>
      </p:sp>
      <p:sp>
        <p:nvSpPr>
          <p:cNvPr id="20" name="Text 18"/>
          <p:cNvSpPr txBox="1"/>
          <p:nvPr/>
        </p:nvSpPr>
        <p:spPr>
          <a:xfrm>
            <a:off x="1371600" y="4791456"/>
            <a:ext cx="5852160" cy="320040"/>
          </a:xfrm>
          <a:prstGeom prst="rect">
            <a:avLst/>
          </a:prstGeom>
          <a:noFill/>
          <a:ln/>
        </p:spPr>
        <p:txBody>
          <a:bodyPr wrap="square" lIns="0" tIns="0" rIns="0" bIns="0" rtlCol="0" anchor="ctr"/>
          <a:lstStyle/>
          <a:p>
            <a:pPr marL="0" indent="0">
              <a:buNone/>
            </a:pPr>
            <a:r>
              <a:rPr lang="en-US" sz="1300" dirty="0">
                <a:solidFill>
                  <a:srgbClr val="5B6B82"/>
                </a:solidFill>
                <a:latin typeface="Calibri" pitchFamily="34" charset="0"/>
                <a:ea typeface="Calibri" pitchFamily="34" charset="-122"/>
                <a:cs typeface="Calibri" pitchFamily="34" charset="-120"/>
              </a:rPr>
              <a:t>Only when unsure: fetch 5 similar past claims.</a:t>
            </a:r>
            <a:endParaRPr lang="en-US" sz="1300" dirty="0"/>
          </a:p>
        </p:txBody>
      </p:sp>
      <p:sp>
        <p:nvSpPr>
          <p:cNvPr id="21" name="Shape 19"/>
          <p:cNvSpPr/>
          <p:nvPr/>
        </p:nvSpPr>
        <p:spPr>
          <a:xfrm>
            <a:off x="548640" y="5285232"/>
            <a:ext cx="6858000" cy="777240"/>
          </a:xfrm>
          <a:prstGeom prst="roundRect">
            <a:avLst>
              <a:gd name="adj" fmla="val 1176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2" name="Text 20"/>
          <p:cNvSpPr/>
          <p:nvPr/>
        </p:nvSpPr>
        <p:spPr>
          <a:xfrm>
            <a:off x="731520" y="5449824"/>
            <a:ext cx="438912" cy="438912"/>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371600" y="5358384"/>
            <a:ext cx="5852160" cy="320040"/>
          </a:xfrm>
          <a:prstGeom prst="rect">
            <a:avLst/>
          </a:prstGeom>
          <a:noFill/>
          <a:ln/>
        </p:spPr>
        <p:txBody>
          <a:bodyPr wrap="square" lIns="0" tIns="0" rIns="0" bIns="0" rtlCol="0" anchor="ctr"/>
          <a:lstStyle/>
          <a:p>
            <a:pPr marL="0" indent="0">
              <a:buNone/>
            </a:pPr>
            <a:r>
              <a:rPr lang="en-US" sz="1600" b="1" dirty="0">
                <a:solidFill>
                  <a:srgbClr val="10243E"/>
                </a:solidFill>
                <a:latin typeface="Calibri" pitchFamily="34" charset="0"/>
                <a:ea typeface="Calibri" pitchFamily="34" charset="-122"/>
                <a:cs typeface="Calibri" pitchFamily="34" charset="-120"/>
              </a:rPr>
              <a:t>Risk routing</a:t>
            </a:r>
            <a:endParaRPr lang="en-US" sz="1600" dirty="0"/>
          </a:p>
        </p:txBody>
      </p:sp>
      <p:sp>
        <p:nvSpPr>
          <p:cNvPr id="24" name="Text 22"/>
          <p:cNvSpPr txBox="1"/>
          <p:nvPr/>
        </p:nvSpPr>
        <p:spPr>
          <a:xfrm>
            <a:off x="1371600" y="5678424"/>
            <a:ext cx="5852160" cy="320040"/>
          </a:xfrm>
          <a:prstGeom prst="rect">
            <a:avLst/>
          </a:prstGeom>
          <a:noFill/>
          <a:ln/>
        </p:spPr>
        <p:txBody>
          <a:bodyPr wrap="square" lIns="0" tIns="0" rIns="0" bIns="0" rtlCol="0" anchor="ctr"/>
          <a:lstStyle/>
          <a:p>
            <a:pPr marL="0" indent="0">
              <a:buNone/>
            </a:pPr>
            <a:r>
              <a:rPr lang="en-US" sz="1300" dirty="0">
                <a:solidFill>
                  <a:srgbClr val="5B6B82"/>
                </a:solidFill>
                <a:latin typeface="Calibri" pitchFamily="34" charset="0"/>
                <a:ea typeface="Calibri" pitchFamily="34" charset="-122"/>
                <a:cs typeface="Calibri" pitchFamily="34" charset="-120"/>
              </a:rPr>
              <a:t>Risk ≥ 40 → human investigation. Otherwise auto-clear.</a:t>
            </a:r>
            <a:endParaRPr lang="en-US" sz="1300" dirty="0"/>
          </a:p>
        </p:txBody>
      </p:sp>
      <p:sp>
        <p:nvSpPr>
          <p:cNvPr id="25" name="Shape 23"/>
          <p:cNvSpPr/>
          <p:nvPr/>
        </p:nvSpPr>
        <p:spPr>
          <a:xfrm>
            <a:off x="7635240" y="1737360"/>
            <a:ext cx="4005072" cy="4343400"/>
          </a:xfrm>
          <a:prstGeom prst="roundRect">
            <a:avLst>
              <a:gd name="adj" fmla="val 2283"/>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Text 24"/>
          <p:cNvSpPr txBox="1"/>
          <p:nvPr/>
        </p:nvSpPr>
        <p:spPr>
          <a:xfrm>
            <a:off x="7863840" y="1874520"/>
            <a:ext cx="3566160" cy="365760"/>
          </a:xfrm>
          <a:prstGeom prst="rect">
            <a:avLst/>
          </a:prstGeom>
          <a:noFill/>
          <a:ln/>
        </p:spPr>
        <p:txBody>
          <a:bodyPr wrap="square" lIns="0" tIns="0" rIns="0" bIns="0" rtlCol="0" anchor="ctr"/>
          <a:lstStyle/>
          <a:p>
            <a:pPr marL="0" indent="0">
              <a:buNone/>
            </a:pPr>
            <a:r>
              <a:rPr lang="en-US" sz="1700" b="1" dirty="0">
                <a:solidFill>
                  <a:srgbClr val="10243E"/>
                </a:solidFill>
                <a:latin typeface="Calibri" pitchFamily="34" charset="0"/>
                <a:ea typeface="Calibri" pitchFamily="34" charset="-122"/>
                <a:cs typeface="Calibri" pitchFamily="34" charset="-120"/>
              </a:rPr>
              <a:t>Routing on the test set</a:t>
            </a:r>
            <a:endParaRPr lang="en-US" sz="1700" dirty="0"/>
          </a:p>
        </p:txBody>
      </p:sp>
      <p:graphicFrame>
        <p:nvGraphicFramePr>
          <p:cNvPr id="27" name="Chart 0"/>
          <p:cNvGraphicFramePr/>
          <p:nvPr/>
        </p:nvGraphicFramePr>
        <p:xfrm>
          <a:off x="7955280" y="2286000"/>
          <a:ext cx="33832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 25"/>
          <p:cNvSpPr txBox="1"/>
          <p:nvPr/>
        </p:nvSpPr>
        <p:spPr>
          <a:xfrm>
            <a:off x="8778240" y="3127248"/>
            <a:ext cx="1737360" cy="457200"/>
          </a:xfrm>
          <a:prstGeom prst="rect">
            <a:avLst/>
          </a:prstGeom>
          <a:noFill/>
          <a:ln/>
        </p:spPr>
        <p:txBody>
          <a:bodyPr wrap="square" lIns="0" tIns="0" rIns="0" bIns="0" rtlCol="0" anchor="ctr"/>
          <a:lstStyle/>
          <a:p>
            <a:pPr marL="0" indent="0" algn="ctr">
              <a:buNone/>
            </a:pPr>
            <a:r>
              <a:rPr lang="en-US" sz="2600" b="1" dirty="0">
                <a:solidFill>
                  <a:srgbClr val="10243E"/>
                </a:solidFill>
                <a:latin typeface="Calibri" pitchFamily="34" charset="0"/>
                <a:ea typeface="Calibri" pitchFamily="34" charset="-122"/>
                <a:cs typeface="Calibri" pitchFamily="34" charset="-120"/>
              </a:rPr>
              <a:t>1,127</a:t>
            </a:r>
            <a:endParaRPr lang="en-US" sz="2600" dirty="0"/>
          </a:p>
        </p:txBody>
      </p:sp>
      <p:sp>
        <p:nvSpPr>
          <p:cNvPr id="29" name="Text 26"/>
          <p:cNvSpPr txBox="1"/>
          <p:nvPr/>
        </p:nvSpPr>
        <p:spPr>
          <a:xfrm>
            <a:off x="8778240" y="3566160"/>
            <a:ext cx="1737360" cy="27432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test claims</a:t>
            </a:r>
            <a:endParaRPr lang="en-US" sz="1200" dirty="0"/>
          </a:p>
        </p:txBody>
      </p:sp>
      <p:sp>
        <p:nvSpPr>
          <p:cNvPr id="30" name="Text 27"/>
          <p:cNvSpPr txBox="1"/>
          <p:nvPr/>
        </p:nvSpPr>
        <p:spPr>
          <a:xfrm>
            <a:off x="7863840" y="4663440"/>
            <a:ext cx="1371600" cy="457200"/>
          </a:xfrm>
          <a:prstGeom prst="rect">
            <a:avLst/>
          </a:prstGeom>
          <a:noFill/>
          <a:ln/>
        </p:spPr>
        <p:txBody>
          <a:bodyPr wrap="square" lIns="0" tIns="0" rIns="0" bIns="0" rtlCol="0" anchor="ctr"/>
          <a:lstStyle/>
          <a:p>
            <a:pPr marL="0" indent="0">
              <a:buNone/>
            </a:pPr>
            <a:r>
              <a:rPr lang="en-US" sz="2600" b="1" dirty="0">
                <a:solidFill>
                  <a:srgbClr val="2563EB"/>
                </a:solidFill>
                <a:latin typeface="Calibri" pitchFamily="34" charset="0"/>
                <a:ea typeface="Calibri" pitchFamily="34" charset="-122"/>
                <a:cs typeface="Calibri" pitchFamily="34" charset="-120"/>
              </a:rPr>
              <a:t>97.2%</a:t>
            </a:r>
            <a:endParaRPr lang="en-US" sz="2600" dirty="0"/>
          </a:p>
        </p:txBody>
      </p:sp>
      <p:sp>
        <p:nvSpPr>
          <p:cNvPr id="31" name="Text 28"/>
          <p:cNvSpPr txBox="1"/>
          <p:nvPr/>
        </p:nvSpPr>
        <p:spPr>
          <a:xfrm>
            <a:off x="9281160" y="4663440"/>
            <a:ext cx="2194560" cy="457200"/>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auto-cleared (1,096)</a:t>
            </a:r>
            <a:endParaRPr lang="en-US" sz="1400" dirty="0"/>
          </a:p>
        </p:txBody>
      </p:sp>
      <p:sp>
        <p:nvSpPr>
          <p:cNvPr id="32" name="Text 29"/>
          <p:cNvSpPr txBox="1"/>
          <p:nvPr/>
        </p:nvSpPr>
        <p:spPr>
          <a:xfrm>
            <a:off x="7863840" y="5212080"/>
            <a:ext cx="1371600" cy="457200"/>
          </a:xfrm>
          <a:prstGeom prst="rect">
            <a:avLst/>
          </a:prstGeom>
          <a:noFill/>
          <a:ln/>
        </p:spPr>
        <p:txBody>
          <a:bodyPr wrap="square" lIns="0" tIns="0" rIns="0" bIns="0" rtlCol="0" anchor="ctr"/>
          <a:lstStyle/>
          <a:p>
            <a:pPr marL="0" indent="0">
              <a:buNone/>
            </a:pPr>
            <a:r>
              <a:rPr lang="en-US" sz="2600" b="1" dirty="0">
                <a:solidFill>
                  <a:srgbClr val="F59E0B"/>
                </a:solidFill>
                <a:latin typeface="Calibri" pitchFamily="34" charset="0"/>
                <a:ea typeface="Calibri" pitchFamily="34" charset="-122"/>
                <a:cs typeface="Calibri" pitchFamily="34" charset="-120"/>
              </a:rPr>
              <a:t>2.8%</a:t>
            </a:r>
            <a:endParaRPr lang="en-US" sz="2600" dirty="0"/>
          </a:p>
        </p:txBody>
      </p:sp>
      <p:sp>
        <p:nvSpPr>
          <p:cNvPr id="33" name="Text 30"/>
          <p:cNvSpPr txBox="1"/>
          <p:nvPr/>
        </p:nvSpPr>
        <p:spPr>
          <a:xfrm>
            <a:off x="9281160" y="5212080"/>
            <a:ext cx="2194560" cy="457200"/>
          </a:xfrm>
          <a:prstGeom prst="rect">
            <a:avLst/>
          </a:prstGeom>
          <a:noFill/>
          <a:ln/>
        </p:spPr>
        <p:txBody>
          <a:bodyPr wrap="square" lIns="0" tIns="0" rIns="0" bIns="0" rtlCol="0" anchor="ctr"/>
          <a:lstStyle/>
          <a:p>
            <a:pPr marL="0" indent="0">
              <a:buNone/>
            </a:pPr>
            <a:r>
              <a:rPr lang="en-US" sz="1400" dirty="0">
                <a:solidFill>
                  <a:srgbClr val="10243E"/>
                </a:solidFill>
                <a:latin typeface="Calibri" pitchFamily="34" charset="0"/>
                <a:ea typeface="Calibri" pitchFamily="34" charset="-122"/>
                <a:cs typeface="Calibri" pitchFamily="34" charset="-120"/>
              </a:rPr>
              <a:t>escalated (31)</a:t>
            </a:r>
            <a:endParaRPr lang="en-US" sz="1400" dirty="0"/>
          </a:p>
        </p:txBody>
      </p:sp>
      <p:sp>
        <p:nvSpPr>
          <p:cNvPr id="34" name="Text 31"/>
          <p:cNvSpPr txBox="1"/>
          <p:nvPr/>
        </p:nvSpPr>
        <p:spPr>
          <a:xfrm>
            <a:off x="7863840" y="5715000"/>
            <a:ext cx="3611880" cy="274320"/>
          </a:xfrm>
          <a:prstGeom prst="rect">
            <a:avLst/>
          </a:prstGeom>
          <a:noFill/>
          <a:ln/>
        </p:spPr>
        <p:txBody>
          <a:bodyPr wrap="square" lIns="0" tIns="0" rIns="0" bIns="0" rtlCol="0" anchor="ctr"/>
          <a:lstStyle/>
          <a:p>
            <a:pPr marL="0" indent="0">
              <a:buNone/>
            </a:pPr>
            <a:r>
              <a:rPr lang="en-US" sz="1100" i="1" dirty="0">
                <a:solidFill>
                  <a:srgbClr val="5B6B82"/>
                </a:solidFill>
                <a:latin typeface="Calibri" pitchFamily="34" charset="0"/>
                <a:ea typeface="Calibri" pitchFamily="34" charset="-122"/>
                <a:cs typeface="Calibri" pitchFamily="34" charset="-120"/>
              </a:rPr>
              <a:t>Only the claims that need a person reach one.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144000" cy="274320"/>
          </a:xfrm>
          <a:prstGeom prst="rect">
            <a:avLst/>
          </a:prstGeom>
          <a:noFill/>
        </p:spPr>
        <p:txBody>
          <a:bodyPr wrap="square" lIns="0" tIns="0" rIns="0" bIns="0" anchor="ctr">
            <a:spAutoFit/>
          </a:bodyPr>
          <a:lstStyle/>
          <a:p>
            <a:pPr algn="l"/>
            <a:r>
              <a:rPr sz="1100" b="1" i="0" spc="180">
                <a:solidFill>
                  <a:srgbClr val="2563EB"/>
                </a:solidFill>
                <a:latin typeface="Calibri"/>
              </a:rPr>
              <a:t>4 · AGENTIC AI — ARCHITECTURE</a:t>
            </a:r>
          </a:p>
        </p:txBody>
      </p:sp>
      <p:sp>
        <p:nvSpPr>
          <p:cNvPr id="3" name="TextBox 2"/>
          <p:cNvSpPr txBox="1"/>
          <p:nvPr/>
        </p:nvSpPr>
        <p:spPr>
          <a:xfrm>
            <a:off x="548640" y="640080"/>
            <a:ext cx="11064240" cy="700000"/>
          </a:xfrm>
          <a:prstGeom prst="rect">
            <a:avLst/>
          </a:prstGeom>
          <a:noFill/>
        </p:spPr>
        <p:txBody>
          <a:bodyPr wrap="square" lIns="0" tIns="0" rIns="0" bIns="0" anchor="ctr">
            <a:spAutoFit/>
          </a:bodyPr>
          <a:lstStyle/>
          <a:p>
            <a:pPr algn="l"/>
            <a:r>
              <a:rPr sz="2800" b="1" i="0">
                <a:solidFill>
                  <a:srgbClr val="10243E"/>
                </a:solidFill>
                <a:latin typeface="Calibri"/>
              </a:rPr>
              <a:t>One orchestrator, eight callable tools, one audit trail</a:t>
            </a:r>
          </a:p>
        </p:txBody>
      </p:sp>
      <p:sp>
        <p:nvSpPr>
          <p:cNvPr id="4" name="TextBox 3"/>
          <p:cNvSpPr txBox="1"/>
          <p:nvPr/>
        </p:nvSpPr>
        <p:spPr>
          <a:xfrm>
            <a:off x="11155680" y="6419088"/>
            <a:ext cx="484632" cy="274320"/>
          </a:xfrm>
          <a:prstGeom prst="rect">
            <a:avLst/>
          </a:prstGeom>
          <a:noFill/>
        </p:spPr>
        <p:txBody>
          <a:bodyPr wrap="square" lIns="0" tIns="0" rIns="0" bIns="0" anchor="ctr">
            <a:spAutoFit/>
          </a:bodyPr>
          <a:lstStyle/>
          <a:p>
            <a:pPr algn="r"/>
            <a:r>
              <a:rPr sz="1000" b="0" i="0">
                <a:solidFill>
                  <a:srgbClr val="5B6B82"/>
                </a:solidFill>
                <a:latin typeface="Calibri"/>
              </a:rPr>
              <a:t>14</a:t>
            </a:r>
          </a:p>
        </p:txBody>
      </p:sp>
      <p:sp>
        <p:nvSpPr>
          <p:cNvPr id="5" name="TextBox 4"/>
          <p:cNvSpPr txBox="1"/>
          <p:nvPr/>
        </p:nvSpPr>
        <p:spPr>
          <a:xfrm>
            <a:off x="548640" y="1554480"/>
            <a:ext cx="5000000" cy="228600"/>
          </a:xfrm>
          <a:prstGeom prst="rect">
            <a:avLst/>
          </a:prstGeom>
          <a:noFill/>
        </p:spPr>
        <p:txBody>
          <a:bodyPr wrap="square" lIns="0" tIns="0" rIns="0" bIns="0" anchor="ctr">
            <a:spAutoFit/>
          </a:bodyPr>
          <a:lstStyle/>
          <a:p>
            <a:pPr algn="l"/>
            <a:r>
              <a:rPr sz="1000" b="1" i="0" spc="140">
                <a:solidFill>
                  <a:srgbClr val="5B6B82"/>
                </a:solidFill>
                <a:latin typeface="Calibri"/>
              </a:rPr>
              <a:t>HOW THE LAYERS STACK</a:t>
            </a:r>
          </a:p>
        </p:txBody>
      </p:sp>
      <p:sp>
        <p:nvSpPr>
          <p:cNvPr id="6" name="Rounded Rectangle 5"/>
          <p:cNvSpPr/>
          <p:nvPr/>
        </p:nvSpPr>
        <p:spPr>
          <a:xfrm>
            <a:off x="548640" y="1856232"/>
            <a:ext cx="5443728" cy="640080"/>
          </a:xfrm>
          <a:prstGeom prst="roundRect">
            <a:avLst>
              <a:gd name="adj" fmla="val 8000"/>
            </a:avLst>
          </a:prstGeom>
          <a:solidFill>
            <a:srgbClr val="1B35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984248"/>
            <a:ext cx="4895088" cy="219456"/>
          </a:xfrm>
          <a:prstGeom prst="rect">
            <a:avLst/>
          </a:prstGeom>
          <a:noFill/>
        </p:spPr>
        <p:txBody>
          <a:bodyPr wrap="square" lIns="0" tIns="0" rIns="0" bIns="0" anchor="ctr">
            <a:spAutoFit/>
          </a:bodyPr>
          <a:lstStyle/>
          <a:p>
            <a:pPr algn="l"/>
            <a:r>
              <a:rPr sz="1200" b="1" i="0">
                <a:solidFill>
                  <a:srgbClr val="FFFFFF"/>
                </a:solidFill>
                <a:latin typeface="Calibri"/>
              </a:rPr>
              <a:t>Consumer</a:t>
            </a:r>
          </a:p>
        </p:txBody>
      </p:sp>
      <p:sp>
        <p:nvSpPr>
          <p:cNvPr id="8" name="TextBox 7"/>
          <p:cNvSpPr txBox="1"/>
          <p:nvPr/>
        </p:nvSpPr>
        <p:spPr>
          <a:xfrm>
            <a:off x="822960" y="2203704"/>
            <a:ext cx="4895088" cy="192024"/>
          </a:xfrm>
          <a:prstGeom prst="rect">
            <a:avLst/>
          </a:prstGeom>
          <a:noFill/>
        </p:spPr>
        <p:txBody>
          <a:bodyPr wrap="square" lIns="0" tIns="0" rIns="0" bIns="0" anchor="ctr">
            <a:spAutoFit/>
          </a:bodyPr>
          <a:lstStyle/>
          <a:p>
            <a:pPr algn="l"/>
            <a:r>
              <a:rPr sz="950" b="0" i="0">
                <a:solidFill>
                  <a:srgbClr val="CADCFC"/>
                </a:solidFill>
                <a:latin typeface="Calibri"/>
              </a:rPr>
              <a:t>Streamlit reviewer dashboard · external systems</a:t>
            </a:r>
          </a:p>
        </p:txBody>
      </p:sp>
      <p:cxnSp>
        <p:nvCxnSpPr>
          <p:cNvPr id="9" name="Connector 8"/>
          <p:cNvCxnSpPr/>
          <p:nvPr/>
        </p:nvCxnSpPr>
        <p:spPr>
          <a:xfrm flipV="1">
            <a:off x="3270504" y="2496312"/>
            <a:ext cx="0" cy="9144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 y="2587752"/>
            <a:ext cx="5443728" cy="640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60" y="2715768"/>
            <a:ext cx="4895088" cy="219456"/>
          </a:xfrm>
          <a:prstGeom prst="rect">
            <a:avLst/>
          </a:prstGeom>
          <a:noFill/>
        </p:spPr>
        <p:txBody>
          <a:bodyPr wrap="square" lIns="0" tIns="0" rIns="0" bIns="0" anchor="ctr">
            <a:spAutoFit/>
          </a:bodyPr>
          <a:lstStyle/>
          <a:p>
            <a:pPr algn="l"/>
            <a:r>
              <a:rPr sz="1200" b="1" i="0">
                <a:solidFill>
                  <a:srgbClr val="10243E"/>
                </a:solidFill>
                <a:latin typeface="Calibri"/>
              </a:rPr>
              <a:t>Transport · FastAPI</a:t>
            </a:r>
          </a:p>
        </p:txBody>
      </p:sp>
      <p:sp>
        <p:nvSpPr>
          <p:cNvPr id="12" name="TextBox 11"/>
          <p:cNvSpPr txBox="1"/>
          <p:nvPr/>
        </p:nvSpPr>
        <p:spPr>
          <a:xfrm>
            <a:off x="822960" y="2935224"/>
            <a:ext cx="4895088" cy="192024"/>
          </a:xfrm>
          <a:prstGeom prst="rect">
            <a:avLst/>
          </a:prstGeom>
          <a:noFill/>
        </p:spPr>
        <p:txBody>
          <a:bodyPr wrap="square" lIns="0" tIns="0" rIns="0" bIns="0" anchor="ctr">
            <a:spAutoFit/>
          </a:bodyPr>
          <a:lstStyle/>
          <a:p>
            <a:pPr algn="l"/>
            <a:r>
              <a:rPr sz="950" b="0" i="0">
                <a:solidFill>
                  <a:srgbClr val="5B6B82"/>
                </a:solidFill>
                <a:latin typeface="Calibri"/>
              </a:rPr>
              <a:t>/agent/assess · /assess-batch · /ocr-demo · /tools · /config</a:t>
            </a:r>
          </a:p>
        </p:txBody>
      </p:sp>
      <p:cxnSp>
        <p:nvCxnSpPr>
          <p:cNvPr id="13" name="Connector 12"/>
          <p:cNvCxnSpPr/>
          <p:nvPr/>
        </p:nvCxnSpPr>
        <p:spPr>
          <a:xfrm flipV="1">
            <a:off x="3270504" y="3227832"/>
            <a:ext cx="0" cy="9144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319272"/>
            <a:ext cx="5443728" cy="640080"/>
          </a:xfrm>
          <a:prstGeom prst="roundRect">
            <a:avLst>
              <a:gd name="adj" fmla="val 8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22960" y="3447288"/>
            <a:ext cx="4895088" cy="219456"/>
          </a:xfrm>
          <a:prstGeom prst="rect">
            <a:avLst/>
          </a:prstGeom>
          <a:noFill/>
        </p:spPr>
        <p:txBody>
          <a:bodyPr wrap="square" lIns="0" tIns="0" rIns="0" bIns="0" anchor="ctr">
            <a:spAutoFit/>
          </a:bodyPr>
          <a:lstStyle/>
          <a:p>
            <a:pPr algn="l"/>
            <a:r>
              <a:rPr sz="1200" b="1" i="0">
                <a:solidFill>
                  <a:srgbClr val="FFFFFF"/>
                </a:solidFill>
                <a:latin typeface="Calibri"/>
              </a:rPr>
              <a:t>Agent · ClaimAgent</a:t>
            </a:r>
          </a:p>
        </p:txBody>
      </p:sp>
      <p:sp>
        <p:nvSpPr>
          <p:cNvPr id="16" name="TextBox 15"/>
          <p:cNvSpPr txBox="1"/>
          <p:nvPr/>
        </p:nvSpPr>
        <p:spPr>
          <a:xfrm>
            <a:off x="822960" y="3666744"/>
            <a:ext cx="4895088" cy="192024"/>
          </a:xfrm>
          <a:prstGeom prst="rect">
            <a:avLst/>
          </a:prstGeom>
          <a:noFill/>
        </p:spPr>
        <p:txBody>
          <a:bodyPr wrap="square" lIns="0" tIns="0" rIns="0" bIns="0" anchor="ctr">
            <a:spAutoFit/>
          </a:bodyPr>
          <a:lstStyle/>
          <a:p>
            <a:pPr algn="l"/>
            <a:r>
              <a:rPr sz="950" b="0" i="0">
                <a:solidFill>
                  <a:srgbClr val="CADCFC"/>
                </a:solidFill>
                <a:latin typeface="Calibri"/>
              </a:rPr>
              <a:t>6 decision points · thresholds · tool selection · trace</a:t>
            </a:r>
          </a:p>
        </p:txBody>
      </p:sp>
      <p:cxnSp>
        <p:nvCxnSpPr>
          <p:cNvPr id="17" name="Connector 16"/>
          <p:cNvCxnSpPr/>
          <p:nvPr/>
        </p:nvCxnSpPr>
        <p:spPr>
          <a:xfrm flipV="1">
            <a:off x="3270504" y="3959352"/>
            <a:ext cx="0" cy="9144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 y="4050792"/>
            <a:ext cx="5443728" cy="640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22960" y="4178808"/>
            <a:ext cx="4895088" cy="219456"/>
          </a:xfrm>
          <a:prstGeom prst="rect">
            <a:avLst/>
          </a:prstGeom>
          <a:noFill/>
        </p:spPr>
        <p:txBody>
          <a:bodyPr wrap="square" lIns="0" tIns="0" rIns="0" bIns="0" anchor="ctr">
            <a:spAutoFit/>
          </a:bodyPr>
          <a:lstStyle/>
          <a:p>
            <a:pPr algn="l"/>
            <a:r>
              <a:rPr sz="1200" b="1" i="0">
                <a:solidFill>
                  <a:srgbClr val="10243E"/>
                </a:solidFill>
                <a:latin typeface="Calibri"/>
              </a:rPr>
              <a:t>Tools · ToolRegistry</a:t>
            </a:r>
          </a:p>
        </p:txBody>
      </p:sp>
      <p:sp>
        <p:nvSpPr>
          <p:cNvPr id="20" name="TextBox 19"/>
          <p:cNvSpPr txBox="1"/>
          <p:nvPr/>
        </p:nvSpPr>
        <p:spPr>
          <a:xfrm>
            <a:off x="822960" y="4398264"/>
            <a:ext cx="4895088" cy="192024"/>
          </a:xfrm>
          <a:prstGeom prst="rect">
            <a:avLst/>
          </a:prstGeom>
          <a:noFill/>
        </p:spPr>
        <p:txBody>
          <a:bodyPr wrap="square" lIns="0" tIns="0" rIns="0" bIns="0" anchor="ctr">
            <a:spAutoFit/>
          </a:bodyPr>
          <a:lstStyle/>
          <a:p>
            <a:pPr algn="l"/>
            <a:r>
              <a:rPr sz="950" b="0" i="0">
                <a:solidFill>
                  <a:srgbClr val="5B6B82"/>
                </a:solidFill>
                <a:latin typeface="Calibri"/>
              </a:rPr>
              <a:t>8 named, independently testable callables</a:t>
            </a:r>
          </a:p>
        </p:txBody>
      </p:sp>
      <p:cxnSp>
        <p:nvCxnSpPr>
          <p:cNvPr id="21" name="Connector 20"/>
          <p:cNvCxnSpPr/>
          <p:nvPr/>
        </p:nvCxnSpPr>
        <p:spPr>
          <a:xfrm flipV="1">
            <a:off x="3270504" y="4690872"/>
            <a:ext cx="0" cy="9144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48640" y="4782312"/>
            <a:ext cx="5443728" cy="640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60" y="4910328"/>
            <a:ext cx="4895088" cy="219456"/>
          </a:xfrm>
          <a:prstGeom prst="rect">
            <a:avLst/>
          </a:prstGeom>
          <a:noFill/>
        </p:spPr>
        <p:txBody>
          <a:bodyPr wrap="square" lIns="0" tIns="0" rIns="0" bIns="0" anchor="ctr">
            <a:spAutoFit/>
          </a:bodyPr>
          <a:lstStyle/>
          <a:p>
            <a:pPr algn="l"/>
            <a:r>
              <a:rPr sz="1200" b="1" i="0">
                <a:solidFill>
                  <a:srgbClr val="10243E"/>
                </a:solidFill>
                <a:latin typeface="Calibri"/>
              </a:rPr>
              <a:t>Service · inference.py</a:t>
            </a:r>
          </a:p>
        </p:txBody>
      </p:sp>
      <p:sp>
        <p:nvSpPr>
          <p:cNvPr id="24" name="TextBox 23"/>
          <p:cNvSpPr txBox="1"/>
          <p:nvPr/>
        </p:nvSpPr>
        <p:spPr>
          <a:xfrm>
            <a:off x="822960" y="5129784"/>
            <a:ext cx="4895088" cy="192024"/>
          </a:xfrm>
          <a:prstGeom prst="rect">
            <a:avLst/>
          </a:prstGeom>
          <a:noFill/>
        </p:spPr>
        <p:txBody>
          <a:bodyPr wrap="square" lIns="0" tIns="0" rIns="0" bIns="0" anchor="ctr">
            <a:spAutoFit/>
          </a:bodyPr>
          <a:lstStyle/>
          <a:p>
            <a:pPr algn="l"/>
            <a:r>
              <a:rPr sz="950" b="0" i="0">
                <a:solidFill>
                  <a:srgbClr val="5B6B82"/>
                </a:solidFill>
                <a:latin typeface="Calibri"/>
              </a:rPr>
              <a:t>loads claims_model_bundle.joblib — no training at runtime</a:t>
            </a:r>
          </a:p>
        </p:txBody>
      </p:sp>
      <p:cxnSp>
        <p:nvCxnSpPr>
          <p:cNvPr id="25" name="Connector 24"/>
          <p:cNvCxnSpPr/>
          <p:nvPr/>
        </p:nvCxnSpPr>
        <p:spPr>
          <a:xfrm flipV="1">
            <a:off x="3270504" y="5422392"/>
            <a:ext cx="0" cy="9144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5513832"/>
            <a:ext cx="5443728" cy="640080"/>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2960" y="5641848"/>
            <a:ext cx="4895088" cy="219456"/>
          </a:xfrm>
          <a:prstGeom prst="rect">
            <a:avLst/>
          </a:prstGeom>
          <a:noFill/>
        </p:spPr>
        <p:txBody>
          <a:bodyPr wrap="square" lIns="0" tIns="0" rIns="0" bIns="0" anchor="ctr">
            <a:spAutoFit/>
          </a:bodyPr>
          <a:lstStyle/>
          <a:p>
            <a:pPr algn="l"/>
            <a:r>
              <a:rPr sz="1200" b="1" i="0">
                <a:solidFill>
                  <a:srgbClr val="10243E"/>
                </a:solidFill>
                <a:latin typeface="Calibri"/>
              </a:rPr>
              <a:t>Model · training.py</a:t>
            </a:r>
          </a:p>
        </p:txBody>
      </p:sp>
      <p:sp>
        <p:nvSpPr>
          <p:cNvPr id="28" name="TextBox 27"/>
          <p:cNvSpPr txBox="1"/>
          <p:nvPr/>
        </p:nvSpPr>
        <p:spPr>
          <a:xfrm>
            <a:off x="822960" y="5861304"/>
            <a:ext cx="4895088" cy="192024"/>
          </a:xfrm>
          <a:prstGeom prst="rect">
            <a:avLst/>
          </a:prstGeom>
          <a:noFill/>
        </p:spPr>
        <p:txBody>
          <a:bodyPr wrap="square" lIns="0" tIns="0" rIns="0" bIns="0" anchor="ctr">
            <a:spAutoFit/>
          </a:bodyPr>
          <a:lstStyle/>
          <a:p>
            <a:pPr algn="l"/>
            <a:r>
              <a:rPr sz="950" b="0" i="0">
                <a:solidFill>
                  <a:srgbClr val="5B6B82"/>
                </a:solidFill>
                <a:latin typeface="Calibri"/>
              </a:rPr>
              <a:t>CLAIMLEVEL.csv → classifier + retrieval index + risk stats</a:t>
            </a:r>
          </a:p>
        </p:txBody>
      </p:sp>
      <p:sp>
        <p:nvSpPr>
          <p:cNvPr id="29" name="TextBox 28"/>
          <p:cNvSpPr txBox="1"/>
          <p:nvPr/>
        </p:nvSpPr>
        <p:spPr>
          <a:xfrm>
            <a:off x="6248400" y="1554480"/>
            <a:ext cx="5395344" cy="228600"/>
          </a:xfrm>
          <a:prstGeom prst="rect">
            <a:avLst/>
          </a:prstGeom>
          <a:noFill/>
        </p:spPr>
        <p:txBody>
          <a:bodyPr wrap="square" lIns="0" tIns="0" rIns="0" bIns="0" anchor="ctr">
            <a:spAutoFit/>
          </a:bodyPr>
          <a:lstStyle/>
          <a:p>
            <a:pPr algn="l"/>
            <a:r>
              <a:rPr sz="1000" b="1" i="0" spc="140">
                <a:solidFill>
                  <a:srgbClr val="5B6B82"/>
                </a:solidFill>
                <a:latin typeface="Calibri"/>
              </a:rPr>
              <a:t>THE TOOL REGISTRY — WHAT THE AGENT MAY CALL</a:t>
            </a:r>
          </a:p>
        </p:txBody>
      </p:sp>
      <p:sp>
        <p:nvSpPr>
          <p:cNvPr id="30" name="Rounded Rectangle 29"/>
          <p:cNvSpPr/>
          <p:nvPr/>
        </p:nvSpPr>
        <p:spPr>
          <a:xfrm>
            <a:off x="6248400" y="1856232"/>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58712" y="1956816"/>
            <a:ext cx="1920240" cy="283464"/>
          </a:xfrm>
          <a:prstGeom prst="rect">
            <a:avLst/>
          </a:prstGeom>
          <a:noFill/>
        </p:spPr>
        <p:txBody>
          <a:bodyPr wrap="square" lIns="0" tIns="0" rIns="0" bIns="0" anchor="ctr">
            <a:spAutoFit/>
          </a:bodyPr>
          <a:lstStyle/>
          <a:p>
            <a:pPr algn="l"/>
            <a:r>
              <a:rPr sz="1050" b="1" i="0">
                <a:solidFill>
                  <a:srgbClr val="2563EB"/>
                </a:solidFill>
                <a:latin typeface="Calibri"/>
              </a:rPr>
              <a:t>ocr</a:t>
            </a:r>
          </a:p>
        </p:txBody>
      </p:sp>
      <p:sp>
        <p:nvSpPr>
          <p:cNvPr id="32" name="TextBox 31"/>
          <p:cNvSpPr txBox="1"/>
          <p:nvPr/>
        </p:nvSpPr>
        <p:spPr>
          <a:xfrm>
            <a:off x="8442960" y="1956816"/>
            <a:ext cx="1965960" cy="283464"/>
          </a:xfrm>
          <a:prstGeom prst="rect">
            <a:avLst/>
          </a:prstGeom>
          <a:noFill/>
        </p:spPr>
        <p:txBody>
          <a:bodyPr wrap="square" lIns="0" tIns="0" rIns="0" bIns="0" anchor="ctr">
            <a:spAutoFit/>
          </a:bodyPr>
          <a:lstStyle/>
          <a:p>
            <a:pPr algn="l"/>
            <a:r>
              <a:rPr sz="900" b="0" i="0">
                <a:solidFill>
                  <a:srgbClr val="5B6B82"/>
                </a:solidFill>
                <a:latin typeface="Calibri"/>
              </a:rPr>
              <a:t>reads a scanned form, returns extraction confidence</a:t>
            </a:r>
          </a:p>
        </p:txBody>
      </p:sp>
      <p:sp>
        <p:nvSpPr>
          <p:cNvPr id="33" name="TextBox 32"/>
          <p:cNvSpPr txBox="1"/>
          <p:nvPr/>
        </p:nvSpPr>
        <p:spPr>
          <a:xfrm>
            <a:off x="10454640" y="1956816"/>
            <a:ext cx="1005840" cy="283464"/>
          </a:xfrm>
          <a:prstGeom prst="rect">
            <a:avLst/>
          </a:prstGeom>
          <a:noFill/>
        </p:spPr>
        <p:txBody>
          <a:bodyPr wrap="square" lIns="0" tIns="0" rIns="0" bIns="0" anchor="ctr">
            <a:spAutoFit/>
          </a:bodyPr>
          <a:lstStyle/>
          <a:p>
            <a:pPr algn="r"/>
            <a:r>
              <a:rPr sz="850" b="0" i="1">
                <a:solidFill>
                  <a:srgbClr val="10243E"/>
                </a:solidFill>
                <a:latin typeface="Calibri"/>
              </a:rPr>
              <a:t>image intake only</a:t>
            </a:r>
          </a:p>
        </p:txBody>
      </p:sp>
      <p:sp>
        <p:nvSpPr>
          <p:cNvPr id="34" name="Rounded Rectangle 33"/>
          <p:cNvSpPr/>
          <p:nvPr/>
        </p:nvSpPr>
        <p:spPr>
          <a:xfrm>
            <a:off x="6248400" y="2386584"/>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58712" y="2487168"/>
            <a:ext cx="1920240" cy="283464"/>
          </a:xfrm>
          <a:prstGeom prst="rect">
            <a:avLst/>
          </a:prstGeom>
          <a:noFill/>
        </p:spPr>
        <p:txBody>
          <a:bodyPr wrap="square" lIns="0" tIns="0" rIns="0" bIns="0" anchor="ctr">
            <a:spAutoFit/>
          </a:bodyPr>
          <a:lstStyle/>
          <a:p>
            <a:pPr algn="l"/>
            <a:r>
              <a:rPr sz="1050" b="1" i="0">
                <a:solidFill>
                  <a:srgbClr val="2563EB"/>
                </a:solidFill>
                <a:latin typeface="Calibri"/>
              </a:rPr>
              <a:t>classify</a:t>
            </a:r>
          </a:p>
        </p:txBody>
      </p:sp>
      <p:sp>
        <p:nvSpPr>
          <p:cNvPr id="36" name="TextBox 35"/>
          <p:cNvSpPr txBox="1"/>
          <p:nvPr/>
        </p:nvSpPr>
        <p:spPr>
          <a:xfrm>
            <a:off x="8442960" y="2487168"/>
            <a:ext cx="1965960" cy="283464"/>
          </a:xfrm>
          <a:prstGeom prst="rect">
            <a:avLst/>
          </a:prstGeom>
          <a:noFill/>
        </p:spPr>
        <p:txBody>
          <a:bodyPr wrap="square" lIns="0" tIns="0" rIns="0" bIns="0" anchor="ctr">
            <a:spAutoFit/>
          </a:bodyPr>
          <a:lstStyle/>
          <a:p>
            <a:pPr algn="l"/>
            <a:r>
              <a:rPr sz="900" b="0" i="0">
                <a:solidFill>
                  <a:srgbClr val="5B6B82"/>
                </a:solidFill>
                <a:latin typeface="Calibri"/>
              </a:rPr>
              <a:t>predicts the coverage code from the description</a:t>
            </a:r>
          </a:p>
        </p:txBody>
      </p:sp>
      <p:sp>
        <p:nvSpPr>
          <p:cNvPr id="37" name="TextBox 36"/>
          <p:cNvSpPr txBox="1"/>
          <p:nvPr/>
        </p:nvSpPr>
        <p:spPr>
          <a:xfrm>
            <a:off x="10454640" y="2487168"/>
            <a:ext cx="1005840" cy="283464"/>
          </a:xfrm>
          <a:prstGeom prst="rect">
            <a:avLst/>
          </a:prstGeom>
          <a:noFill/>
        </p:spPr>
        <p:txBody>
          <a:bodyPr wrap="square" lIns="0" tIns="0" rIns="0" bIns="0" anchor="ctr">
            <a:spAutoFit/>
          </a:bodyPr>
          <a:lstStyle/>
          <a:p>
            <a:pPr algn="r"/>
            <a:r>
              <a:rPr sz="850" b="0" i="1">
                <a:solidFill>
                  <a:srgbClr val="10243E"/>
                </a:solidFill>
                <a:latin typeface="Calibri"/>
              </a:rPr>
              <a:t>always</a:t>
            </a:r>
          </a:p>
        </p:txBody>
      </p:sp>
      <p:sp>
        <p:nvSpPr>
          <p:cNvPr id="38" name="Rounded Rectangle 37"/>
          <p:cNvSpPr/>
          <p:nvPr/>
        </p:nvSpPr>
        <p:spPr>
          <a:xfrm>
            <a:off x="6248400" y="2916936"/>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58712" y="3017520"/>
            <a:ext cx="1920240" cy="283464"/>
          </a:xfrm>
          <a:prstGeom prst="rect">
            <a:avLst/>
          </a:prstGeom>
          <a:noFill/>
        </p:spPr>
        <p:txBody>
          <a:bodyPr wrap="square" lIns="0" tIns="0" rIns="0" bIns="0" anchor="ctr">
            <a:spAutoFit/>
          </a:bodyPr>
          <a:lstStyle/>
          <a:p>
            <a:pPr algn="l"/>
            <a:r>
              <a:rPr sz="1050" b="1" i="0">
                <a:solidFill>
                  <a:srgbClr val="2563EB"/>
                </a:solidFill>
                <a:latin typeface="Calibri"/>
              </a:rPr>
              <a:t>retrieve</a:t>
            </a:r>
          </a:p>
        </p:txBody>
      </p:sp>
      <p:sp>
        <p:nvSpPr>
          <p:cNvPr id="40" name="TextBox 39"/>
          <p:cNvSpPr txBox="1"/>
          <p:nvPr/>
        </p:nvSpPr>
        <p:spPr>
          <a:xfrm>
            <a:off x="8442960" y="3017520"/>
            <a:ext cx="1965960" cy="283464"/>
          </a:xfrm>
          <a:prstGeom prst="rect">
            <a:avLst/>
          </a:prstGeom>
          <a:noFill/>
        </p:spPr>
        <p:txBody>
          <a:bodyPr wrap="square" lIns="0" tIns="0" rIns="0" bIns="0" anchor="ctr">
            <a:spAutoFit/>
          </a:bodyPr>
          <a:lstStyle/>
          <a:p>
            <a:pPr algn="l"/>
            <a:r>
              <a:rPr sz="900" b="0" i="0">
                <a:solidFill>
                  <a:srgbClr val="5B6B82"/>
                </a:solidFill>
                <a:latin typeface="Calibri"/>
              </a:rPr>
              <a:t>fetches the most similar historical claims</a:t>
            </a:r>
          </a:p>
        </p:txBody>
      </p:sp>
      <p:sp>
        <p:nvSpPr>
          <p:cNvPr id="41" name="TextBox 40"/>
          <p:cNvSpPr txBox="1"/>
          <p:nvPr/>
        </p:nvSpPr>
        <p:spPr>
          <a:xfrm>
            <a:off x="10454640" y="3017520"/>
            <a:ext cx="1005840" cy="283464"/>
          </a:xfrm>
          <a:prstGeom prst="rect">
            <a:avLst/>
          </a:prstGeom>
          <a:noFill/>
        </p:spPr>
        <p:txBody>
          <a:bodyPr wrap="square" lIns="0" tIns="0" rIns="0" bIns="0" anchor="ctr">
            <a:spAutoFit/>
          </a:bodyPr>
          <a:lstStyle/>
          <a:p>
            <a:pPr algn="r"/>
            <a:r>
              <a:rPr sz="850" b="0" i="1">
                <a:solidFill>
                  <a:srgbClr val="10243E"/>
                </a:solidFill>
                <a:latin typeface="Calibri"/>
              </a:rPr>
              <a:t>only when unsure</a:t>
            </a:r>
          </a:p>
        </p:txBody>
      </p:sp>
      <p:sp>
        <p:nvSpPr>
          <p:cNvPr id="42" name="Rounded Rectangle 41"/>
          <p:cNvSpPr/>
          <p:nvPr/>
        </p:nvSpPr>
        <p:spPr>
          <a:xfrm>
            <a:off x="6248400" y="3447288"/>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458712" y="3547872"/>
            <a:ext cx="1920240" cy="283464"/>
          </a:xfrm>
          <a:prstGeom prst="rect">
            <a:avLst/>
          </a:prstGeom>
          <a:noFill/>
        </p:spPr>
        <p:txBody>
          <a:bodyPr wrap="square" lIns="0" tIns="0" rIns="0" bIns="0" anchor="ctr">
            <a:spAutoFit/>
          </a:bodyPr>
          <a:lstStyle/>
          <a:p>
            <a:pPr algn="l"/>
            <a:r>
              <a:rPr sz="1050" b="1" i="0">
                <a:solidFill>
                  <a:srgbClr val="2563EB"/>
                </a:solidFill>
                <a:latin typeface="Calibri"/>
              </a:rPr>
              <a:t>validate</a:t>
            </a:r>
          </a:p>
        </p:txBody>
      </p:sp>
      <p:sp>
        <p:nvSpPr>
          <p:cNvPr id="44" name="TextBox 43"/>
          <p:cNvSpPr txBox="1"/>
          <p:nvPr/>
        </p:nvSpPr>
        <p:spPr>
          <a:xfrm>
            <a:off x="8442960" y="3547872"/>
            <a:ext cx="1965960" cy="283464"/>
          </a:xfrm>
          <a:prstGeom prst="rect">
            <a:avLst/>
          </a:prstGeom>
          <a:noFill/>
        </p:spPr>
        <p:txBody>
          <a:bodyPr wrap="square" lIns="0" tIns="0" rIns="0" bIns="0" anchor="ctr">
            <a:spAutoFit/>
          </a:bodyPr>
          <a:lstStyle/>
          <a:p>
            <a:pPr algn="l"/>
            <a:r>
              <a:rPr sz="900" b="0" i="0">
                <a:solidFill>
                  <a:srgbClr val="5B6B82"/>
                </a:solidFill>
                <a:latin typeface="Calibri"/>
              </a:rPr>
              <a:t>recorded coverage vs keyword evidence</a:t>
            </a:r>
          </a:p>
        </p:txBody>
      </p:sp>
      <p:sp>
        <p:nvSpPr>
          <p:cNvPr id="45" name="TextBox 44"/>
          <p:cNvSpPr txBox="1"/>
          <p:nvPr/>
        </p:nvSpPr>
        <p:spPr>
          <a:xfrm>
            <a:off x="10454640" y="3547872"/>
            <a:ext cx="1005840" cy="283464"/>
          </a:xfrm>
          <a:prstGeom prst="rect">
            <a:avLst/>
          </a:prstGeom>
          <a:noFill/>
        </p:spPr>
        <p:txBody>
          <a:bodyPr wrap="square" lIns="0" tIns="0" rIns="0" bIns="0" anchor="ctr">
            <a:spAutoFit/>
          </a:bodyPr>
          <a:lstStyle/>
          <a:p>
            <a:pPr algn="r"/>
            <a:r>
              <a:rPr sz="850" b="0" i="1">
                <a:solidFill>
                  <a:srgbClr val="10243E"/>
                </a:solidFill>
                <a:latin typeface="Calibri"/>
              </a:rPr>
              <a:t>always</a:t>
            </a:r>
          </a:p>
        </p:txBody>
      </p:sp>
      <p:sp>
        <p:nvSpPr>
          <p:cNvPr id="46" name="Rounded Rectangle 45"/>
          <p:cNvSpPr/>
          <p:nvPr/>
        </p:nvSpPr>
        <p:spPr>
          <a:xfrm>
            <a:off x="6248400" y="3977640"/>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6458712" y="4078224"/>
            <a:ext cx="1920240" cy="283464"/>
          </a:xfrm>
          <a:prstGeom prst="rect">
            <a:avLst/>
          </a:prstGeom>
          <a:noFill/>
        </p:spPr>
        <p:txBody>
          <a:bodyPr wrap="square" lIns="0" tIns="0" rIns="0" bIns="0" anchor="ctr">
            <a:spAutoFit/>
          </a:bodyPr>
          <a:lstStyle/>
          <a:p>
            <a:pPr algn="l"/>
            <a:r>
              <a:rPr sz="1050" b="1" i="0">
                <a:solidFill>
                  <a:srgbClr val="2563EB"/>
                </a:solidFill>
                <a:latin typeface="Calibri"/>
              </a:rPr>
              <a:t>amount_anomaly</a:t>
            </a:r>
          </a:p>
        </p:txBody>
      </p:sp>
      <p:sp>
        <p:nvSpPr>
          <p:cNvPr id="48" name="TextBox 47"/>
          <p:cNvSpPr txBox="1"/>
          <p:nvPr/>
        </p:nvSpPr>
        <p:spPr>
          <a:xfrm>
            <a:off x="8442960" y="4078224"/>
            <a:ext cx="1965960" cy="283464"/>
          </a:xfrm>
          <a:prstGeom prst="rect">
            <a:avLst/>
          </a:prstGeom>
          <a:noFill/>
        </p:spPr>
        <p:txBody>
          <a:bodyPr wrap="square" lIns="0" tIns="0" rIns="0" bIns="0" anchor="ctr">
            <a:spAutoFit/>
          </a:bodyPr>
          <a:lstStyle/>
          <a:p>
            <a:pPr algn="l"/>
            <a:r>
              <a:rPr sz="900" b="0" i="0">
                <a:solidFill>
                  <a:srgbClr val="5B6B82"/>
                </a:solidFill>
                <a:latin typeface="Calibri"/>
              </a:rPr>
              <a:t>deviation of the amount from its peer group</a:t>
            </a:r>
          </a:p>
        </p:txBody>
      </p:sp>
      <p:sp>
        <p:nvSpPr>
          <p:cNvPr id="49" name="TextBox 48"/>
          <p:cNvSpPr txBox="1"/>
          <p:nvPr/>
        </p:nvSpPr>
        <p:spPr>
          <a:xfrm>
            <a:off x="10454640" y="4078224"/>
            <a:ext cx="1005840" cy="283464"/>
          </a:xfrm>
          <a:prstGeom prst="rect">
            <a:avLst/>
          </a:prstGeom>
          <a:noFill/>
        </p:spPr>
        <p:txBody>
          <a:bodyPr wrap="square" lIns="0" tIns="0" rIns="0" bIns="0" anchor="ctr">
            <a:spAutoFit/>
          </a:bodyPr>
          <a:lstStyle/>
          <a:p>
            <a:pPr algn="r"/>
            <a:r>
              <a:rPr sz="850" b="0" i="1">
                <a:solidFill>
                  <a:srgbClr val="10243E"/>
                </a:solidFill>
                <a:latin typeface="Calibri"/>
              </a:rPr>
              <a:t>always</a:t>
            </a:r>
          </a:p>
        </p:txBody>
      </p:sp>
      <p:sp>
        <p:nvSpPr>
          <p:cNvPr id="50" name="Rounded Rectangle 49"/>
          <p:cNvSpPr/>
          <p:nvPr/>
        </p:nvSpPr>
        <p:spPr>
          <a:xfrm>
            <a:off x="6248400" y="4507992"/>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458712" y="4608576"/>
            <a:ext cx="1920240" cy="283464"/>
          </a:xfrm>
          <a:prstGeom prst="rect">
            <a:avLst/>
          </a:prstGeom>
          <a:noFill/>
        </p:spPr>
        <p:txBody>
          <a:bodyPr wrap="square" lIns="0" tIns="0" rIns="0" bIns="0" anchor="ctr">
            <a:spAutoFit/>
          </a:bodyPr>
          <a:lstStyle/>
          <a:p>
            <a:pPr algn="l"/>
            <a:r>
              <a:rPr sz="1050" b="1" i="0">
                <a:solidFill>
                  <a:srgbClr val="2563EB"/>
                </a:solidFill>
                <a:latin typeface="Calibri"/>
              </a:rPr>
              <a:t>risk</a:t>
            </a:r>
          </a:p>
        </p:txBody>
      </p:sp>
      <p:sp>
        <p:nvSpPr>
          <p:cNvPr id="52" name="TextBox 51"/>
          <p:cNvSpPr txBox="1"/>
          <p:nvPr/>
        </p:nvSpPr>
        <p:spPr>
          <a:xfrm>
            <a:off x="8442960" y="4608576"/>
            <a:ext cx="1965960" cy="283464"/>
          </a:xfrm>
          <a:prstGeom prst="rect">
            <a:avLst/>
          </a:prstGeom>
          <a:noFill/>
        </p:spPr>
        <p:txBody>
          <a:bodyPr wrap="square" lIns="0" tIns="0" rIns="0" bIns="0" anchor="ctr">
            <a:spAutoFit/>
          </a:bodyPr>
          <a:lstStyle/>
          <a:p>
            <a:pPr algn="l"/>
            <a:r>
              <a:rPr sz="900" b="0" i="0">
                <a:solidFill>
                  <a:srgbClr val="5B6B82"/>
                </a:solidFill>
                <a:latin typeface="Calibri"/>
              </a:rPr>
              <a:t>blends four signals into a 0–100 score</a:t>
            </a:r>
          </a:p>
        </p:txBody>
      </p:sp>
      <p:sp>
        <p:nvSpPr>
          <p:cNvPr id="53" name="TextBox 52"/>
          <p:cNvSpPr txBox="1"/>
          <p:nvPr/>
        </p:nvSpPr>
        <p:spPr>
          <a:xfrm>
            <a:off x="10454640" y="4608576"/>
            <a:ext cx="1005840" cy="283464"/>
          </a:xfrm>
          <a:prstGeom prst="rect">
            <a:avLst/>
          </a:prstGeom>
          <a:noFill/>
        </p:spPr>
        <p:txBody>
          <a:bodyPr wrap="square" lIns="0" tIns="0" rIns="0" bIns="0" anchor="ctr">
            <a:spAutoFit/>
          </a:bodyPr>
          <a:lstStyle/>
          <a:p>
            <a:pPr algn="r"/>
            <a:r>
              <a:rPr sz="850" b="0" i="1">
                <a:solidFill>
                  <a:srgbClr val="10243E"/>
                </a:solidFill>
                <a:latin typeface="Calibri"/>
              </a:rPr>
              <a:t>always</a:t>
            </a:r>
          </a:p>
        </p:txBody>
      </p:sp>
      <p:sp>
        <p:nvSpPr>
          <p:cNvPr id="54" name="Rounded Rectangle 53"/>
          <p:cNvSpPr/>
          <p:nvPr/>
        </p:nvSpPr>
        <p:spPr>
          <a:xfrm>
            <a:off x="6248400" y="5038344"/>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6458712" y="5138928"/>
            <a:ext cx="1920240" cy="283464"/>
          </a:xfrm>
          <a:prstGeom prst="rect">
            <a:avLst/>
          </a:prstGeom>
          <a:noFill/>
        </p:spPr>
        <p:txBody>
          <a:bodyPr wrap="square" lIns="0" tIns="0" rIns="0" bIns="0" anchor="ctr">
            <a:spAutoFit/>
          </a:bodyPr>
          <a:lstStyle/>
          <a:p>
            <a:pPr algn="l"/>
            <a:r>
              <a:rPr sz="1050" b="1" i="0">
                <a:solidFill>
                  <a:srgbClr val="2563EB"/>
                </a:solidFill>
                <a:latin typeface="Calibri"/>
              </a:rPr>
              <a:t>claim_intelligence</a:t>
            </a:r>
          </a:p>
        </p:txBody>
      </p:sp>
      <p:sp>
        <p:nvSpPr>
          <p:cNvPr id="56" name="TextBox 55"/>
          <p:cNvSpPr txBox="1"/>
          <p:nvPr/>
        </p:nvSpPr>
        <p:spPr>
          <a:xfrm>
            <a:off x="8442960" y="5138928"/>
            <a:ext cx="1965960" cy="283464"/>
          </a:xfrm>
          <a:prstGeom prst="rect">
            <a:avLst/>
          </a:prstGeom>
          <a:noFill/>
        </p:spPr>
        <p:txBody>
          <a:bodyPr wrap="square" lIns="0" tIns="0" rIns="0" bIns="0" anchor="ctr">
            <a:spAutoFit/>
          </a:bodyPr>
          <a:lstStyle/>
          <a:p>
            <a:pPr algn="l"/>
            <a:r>
              <a:rPr sz="900" b="0" i="0">
                <a:solidFill>
                  <a:srgbClr val="5B6B82"/>
                </a:solidFill>
                <a:latin typeface="Calibri"/>
              </a:rPr>
              <a:t>full agreement + peer benchmark bundle</a:t>
            </a:r>
          </a:p>
        </p:txBody>
      </p:sp>
      <p:sp>
        <p:nvSpPr>
          <p:cNvPr id="57" name="TextBox 56"/>
          <p:cNvSpPr txBox="1"/>
          <p:nvPr/>
        </p:nvSpPr>
        <p:spPr>
          <a:xfrm>
            <a:off x="10454640" y="5138928"/>
            <a:ext cx="1005840" cy="283464"/>
          </a:xfrm>
          <a:prstGeom prst="rect">
            <a:avLst/>
          </a:prstGeom>
          <a:noFill/>
        </p:spPr>
        <p:txBody>
          <a:bodyPr wrap="square" lIns="0" tIns="0" rIns="0" bIns="0" anchor="ctr">
            <a:spAutoFit/>
          </a:bodyPr>
          <a:lstStyle/>
          <a:p>
            <a:pPr algn="r"/>
            <a:r>
              <a:rPr sz="850" b="0" i="1">
                <a:solidFill>
                  <a:srgbClr val="10243E"/>
                </a:solidFill>
                <a:latin typeface="Calibri"/>
              </a:rPr>
              <a:t>on deep dive</a:t>
            </a:r>
          </a:p>
        </p:txBody>
      </p:sp>
      <p:sp>
        <p:nvSpPr>
          <p:cNvPr id="58" name="Rounded Rectangle 57"/>
          <p:cNvSpPr/>
          <p:nvPr/>
        </p:nvSpPr>
        <p:spPr>
          <a:xfrm>
            <a:off x="6248400" y="5568696"/>
            <a:ext cx="5395344" cy="484632"/>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58712" y="5669280"/>
            <a:ext cx="1920240" cy="283464"/>
          </a:xfrm>
          <a:prstGeom prst="rect">
            <a:avLst/>
          </a:prstGeom>
          <a:noFill/>
        </p:spPr>
        <p:txBody>
          <a:bodyPr wrap="square" lIns="0" tIns="0" rIns="0" bIns="0" anchor="ctr">
            <a:spAutoFit/>
          </a:bodyPr>
          <a:lstStyle/>
          <a:p>
            <a:pPr algn="l"/>
            <a:r>
              <a:rPr sz="1050" b="1" i="0">
                <a:solidFill>
                  <a:srgbClr val="2563EB"/>
                </a:solidFill>
                <a:latin typeface="Calibri"/>
              </a:rPr>
              <a:t>explain_rules</a:t>
            </a:r>
          </a:p>
        </p:txBody>
      </p:sp>
      <p:sp>
        <p:nvSpPr>
          <p:cNvPr id="60" name="TextBox 59"/>
          <p:cNvSpPr txBox="1"/>
          <p:nvPr/>
        </p:nvSpPr>
        <p:spPr>
          <a:xfrm>
            <a:off x="8442960" y="5669280"/>
            <a:ext cx="1965960" cy="283464"/>
          </a:xfrm>
          <a:prstGeom prst="rect">
            <a:avLst/>
          </a:prstGeom>
          <a:noFill/>
        </p:spPr>
        <p:txBody>
          <a:bodyPr wrap="square" lIns="0" tIns="0" rIns="0" bIns="0" anchor="ctr">
            <a:spAutoFit/>
          </a:bodyPr>
          <a:lstStyle/>
          <a:p>
            <a:pPr algn="l"/>
            <a:r>
              <a:rPr sz="900" b="0" i="0">
                <a:solidFill>
                  <a:srgbClr val="5B6B82"/>
                </a:solidFill>
                <a:latin typeface="Calibri"/>
              </a:rPr>
              <a:t>deterministic reason text for the reviewer</a:t>
            </a:r>
          </a:p>
        </p:txBody>
      </p:sp>
      <p:sp>
        <p:nvSpPr>
          <p:cNvPr id="61" name="TextBox 60"/>
          <p:cNvSpPr txBox="1"/>
          <p:nvPr/>
        </p:nvSpPr>
        <p:spPr>
          <a:xfrm>
            <a:off x="10454640" y="5669280"/>
            <a:ext cx="1005840" cy="283464"/>
          </a:xfrm>
          <a:prstGeom prst="rect">
            <a:avLst/>
          </a:prstGeom>
          <a:noFill/>
        </p:spPr>
        <p:txBody>
          <a:bodyPr wrap="square" lIns="0" tIns="0" rIns="0" bIns="0" anchor="ctr">
            <a:spAutoFit/>
          </a:bodyPr>
          <a:lstStyle/>
          <a:p>
            <a:pPr algn="r"/>
            <a:r>
              <a:rPr sz="850" b="0" i="1">
                <a:solidFill>
                  <a:srgbClr val="10243E"/>
                </a:solidFill>
                <a:latin typeface="Calibri"/>
              </a:rPr>
              <a:t>always</a:t>
            </a:r>
          </a:p>
        </p:txBody>
      </p:sp>
      <p:sp>
        <p:nvSpPr>
          <p:cNvPr id="62" name="TextBox 61"/>
          <p:cNvSpPr txBox="1"/>
          <p:nvPr/>
        </p:nvSpPr>
        <p:spPr>
          <a:xfrm>
            <a:off x="6248400" y="6135624"/>
            <a:ext cx="5395344" cy="274320"/>
          </a:xfrm>
          <a:prstGeom prst="rect">
            <a:avLst/>
          </a:prstGeom>
          <a:noFill/>
        </p:spPr>
        <p:txBody>
          <a:bodyPr wrap="square" lIns="0" tIns="0" rIns="0" bIns="0" anchor="ctr">
            <a:spAutoFit/>
          </a:bodyPr>
          <a:lstStyle/>
          <a:p>
            <a:pPr algn="l"/>
            <a:r>
              <a:rPr sz="1000" b="0" i="1">
                <a:solidFill>
                  <a:srgbClr val="2563EB"/>
                </a:solidFill>
                <a:latin typeface="Calibri"/>
              </a:rPr>
              <a:t>GET /agent/tools returns exactly this list — the agent’s permissions are inspectable.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TextBox 1"/>
          <p:cNvSpPr txBox="1"/>
          <p:nvPr/>
        </p:nvSpPr>
        <p:spPr>
          <a:xfrm>
            <a:off x="548640" y="320040"/>
            <a:ext cx="9144000" cy="274320"/>
          </a:xfrm>
          <a:prstGeom prst="rect">
            <a:avLst/>
          </a:prstGeom>
          <a:noFill/>
        </p:spPr>
        <p:txBody>
          <a:bodyPr wrap="square" lIns="0" tIns="0" rIns="0" bIns="0" anchor="ctr">
            <a:spAutoFit/>
          </a:bodyPr>
          <a:lstStyle/>
          <a:p>
            <a:pPr algn="l"/>
            <a:r>
              <a:rPr sz="1100" b="1" i="0" spc="180">
                <a:solidFill>
                  <a:srgbClr val="2563EB"/>
                </a:solidFill>
                <a:latin typeface="Calibri"/>
              </a:rPr>
              <a:t>4 · AGENTIC AI — CONTROL FLOW</a:t>
            </a:r>
          </a:p>
        </p:txBody>
      </p:sp>
      <p:sp>
        <p:nvSpPr>
          <p:cNvPr id="3" name="TextBox 2"/>
          <p:cNvSpPr txBox="1"/>
          <p:nvPr/>
        </p:nvSpPr>
        <p:spPr>
          <a:xfrm>
            <a:off x="548640" y="640080"/>
            <a:ext cx="11064240" cy="700000"/>
          </a:xfrm>
          <a:prstGeom prst="rect">
            <a:avLst/>
          </a:prstGeom>
          <a:noFill/>
        </p:spPr>
        <p:txBody>
          <a:bodyPr wrap="square" lIns="0" tIns="0" rIns="0" bIns="0" anchor="ctr">
            <a:spAutoFit/>
          </a:bodyPr>
          <a:lstStyle/>
          <a:p>
            <a:pPr algn="l"/>
            <a:r>
              <a:rPr sz="2800" b="1" i="0">
                <a:solidFill>
                  <a:srgbClr val="10243E"/>
                </a:solidFill>
                <a:latin typeface="Calibri"/>
              </a:rPr>
              <a:t>Six decision points decide the path, the tools and the outcome</a:t>
            </a:r>
          </a:p>
        </p:txBody>
      </p:sp>
      <p:sp>
        <p:nvSpPr>
          <p:cNvPr id="4" name="TextBox 3"/>
          <p:cNvSpPr txBox="1"/>
          <p:nvPr/>
        </p:nvSpPr>
        <p:spPr>
          <a:xfrm>
            <a:off x="11155680" y="6419088"/>
            <a:ext cx="484632" cy="274320"/>
          </a:xfrm>
          <a:prstGeom prst="rect">
            <a:avLst/>
          </a:prstGeom>
          <a:noFill/>
        </p:spPr>
        <p:txBody>
          <a:bodyPr wrap="square" lIns="0" tIns="0" rIns="0" bIns="0" anchor="ctr">
            <a:spAutoFit/>
          </a:bodyPr>
          <a:lstStyle/>
          <a:p>
            <a:pPr algn="r"/>
            <a:r>
              <a:rPr sz="1000" b="0" i="0">
                <a:solidFill>
                  <a:srgbClr val="5B6B82"/>
                </a:solidFill>
                <a:latin typeface="Calibri"/>
              </a:rPr>
              <a:t>15</a:t>
            </a:r>
          </a:p>
        </p:txBody>
      </p:sp>
      <p:sp>
        <p:nvSpPr>
          <p:cNvPr id="5" name="Rounded Rectangle 4"/>
          <p:cNvSpPr/>
          <p:nvPr/>
        </p:nvSpPr>
        <p:spPr>
          <a:xfrm>
            <a:off x="548640" y="1554480"/>
            <a:ext cx="3566160" cy="131673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777240" y="1737360"/>
            <a:ext cx="356616" cy="3566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1</a:t>
            </a:r>
          </a:p>
        </p:txBody>
      </p:sp>
      <p:sp>
        <p:nvSpPr>
          <p:cNvPr id="7" name="TextBox 6"/>
          <p:cNvSpPr txBox="1"/>
          <p:nvPr/>
        </p:nvSpPr>
        <p:spPr>
          <a:xfrm>
            <a:off x="1234440" y="1728216"/>
            <a:ext cx="2651760" cy="274320"/>
          </a:xfrm>
          <a:prstGeom prst="rect">
            <a:avLst/>
          </a:prstGeom>
          <a:noFill/>
        </p:spPr>
        <p:txBody>
          <a:bodyPr wrap="square" lIns="0" tIns="0" rIns="0" bIns="0" anchor="ctr">
            <a:spAutoFit/>
          </a:bodyPr>
          <a:lstStyle/>
          <a:p>
            <a:pPr algn="l"/>
            <a:r>
              <a:rPr sz="1250" b="1" i="0">
                <a:solidFill>
                  <a:srgbClr val="10243E"/>
                </a:solidFill>
                <a:latin typeface="Calibri"/>
              </a:rPr>
              <a:t>Intake routing</a:t>
            </a:r>
          </a:p>
        </p:txBody>
      </p:sp>
      <p:sp>
        <p:nvSpPr>
          <p:cNvPr id="8" name="TextBox 7"/>
          <p:cNvSpPr txBox="1"/>
          <p:nvPr/>
        </p:nvSpPr>
        <p:spPr>
          <a:xfrm>
            <a:off x="777240" y="2148840"/>
            <a:ext cx="3108960" cy="228600"/>
          </a:xfrm>
          <a:prstGeom prst="rect">
            <a:avLst/>
          </a:prstGeom>
          <a:noFill/>
        </p:spPr>
        <p:txBody>
          <a:bodyPr wrap="square" lIns="0" tIns="0" rIns="0" bIns="0" anchor="ctr">
            <a:spAutoFit/>
          </a:bodyPr>
          <a:lstStyle/>
          <a:p>
            <a:pPr algn="l"/>
            <a:r>
              <a:rPr sz="1000" b="0" i="1">
                <a:solidFill>
                  <a:srgbClr val="5B6B82"/>
                </a:solidFill>
                <a:latin typeface="Calibri"/>
              </a:rPr>
              <a:t>Is the claim an image or plain text?</a:t>
            </a:r>
          </a:p>
        </p:txBody>
      </p:sp>
      <p:sp>
        <p:nvSpPr>
          <p:cNvPr id="9" name="TextBox 8"/>
          <p:cNvSpPr txBox="1"/>
          <p:nvPr/>
        </p:nvSpPr>
        <p:spPr>
          <a:xfrm>
            <a:off x="777240" y="2404872"/>
            <a:ext cx="3108960" cy="320040"/>
          </a:xfrm>
          <a:prstGeom prst="rect">
            <a:avLst/>
          </a:prstGeom>
          <a:noFill/>
        </p:spPr>
        <p:txBody>
          <a:bodyPr wrap="square" lIns="0" tIns="0" rIns="0" bIns="0" anchor="t">
            <a:spAutoFit/>
          </a:bodyPr>
          <a:lstStyle/>
          <a:p>
            <a:pPr algn="l"/>
            <a:r>
              <a:rPr sz="1000" b="1" i="0">
                <a:solidFill>
                  <a:srgbClr val="2563EB"/>
                </a:solidFill>
                <a:latin typeface="Calibri"/>
              </a:rPr>
              <a:t>Image → call ocr.   Text → skip ocr entirely.</a:t>
            </a:r>
          </a:p>
        </p:txBody>
      </p:sp>
      <p:cxnSp>
        <p:nvCxnSpPr>
          <p:cNvPr id="10" name="Connector 9"/>
          <p:cNvCxnSpPr/>
          <p:nvPr/>
        </p:nvCxnSpPr>
        <p:spPr>
          <a:xfrm>
            <a:off x="4114800" y="2212848"/>
            <a:ext cx="219456" cy="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34256" y="1554480"/>
            <a:ext cx="3566160" cy="131673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4562856" y="1737360"/>
            <a:ext cx="356616" cy="3566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2</a:t>
            </a:r>
          </a:p>
        </p:txBody>
      </p:sp>
      <p:sp>
        <p:nvSpPr>
          <p:cNvPr id="13" name="TextBox 12"/>
          <p:cNvSpPr txBox="1"/>
          <p:nvPr/>
        </p:nvSpPr>
        <p:spPr>
          <a:xfrm>
            <a:off x="5020056" y="1728216"/>
            <a:ext cx="2651760" cy="274320"/>
          </a:xfrm>
          <a:prstGeom prst="rect">
            <a:avLst/>
          </a:prstGeom>
          <a:noFill/>
        </p:spPr>
        <p:txBody>
          <a:bodyPr wrap="square" lIns="0" tIns="0" rIns="0" bIns="0" anchor="ctr">
            <a:spAutoFit/>
          </a:bodyPr>
          <a:lstStyle/>
          <a:p>
            <a:pPr algn="l"/>
            <a:r>
              <a:rPr sz="1250" b="1" i="0">
                <a:solidFill>
                  <a:srgbClr val="10243E"/>
                </a:solidFill>
                <a:latin typeface="Calibri"/>
              </a:rPr>
              <a:t>OCR quality gate</a:t>
            </a:r>
          </a:p>
        </p:txBody>
      </p:sp>
      <p:sp>
        <p:nvSpPr>
          <p:cNvPr id="14" name="TextBox 13"/>
          <p:cNvSpPr txBox="1"/>
          <p:nvPr/>
        </p:nvSpPr>
        <p:spPr>
          <a:xfrm>
            <a:off x="4562856" y="2148840"/>
            <a:ext cx="3108960" cy="228600"/>
          </a:xfrm>
          <a:prstGeom prst="rect">
            <a:avLst/>
          </a:prstGeom>
          <a:noFill/>
        </p:spPr>
        <p:txBody>
          <a:bodyPr wrap="square" lIns="0" tIns="0" rIns="0" bIns="0" anchor="ctr">
            <a:spAutoFit/>
          </a:bodyPr>
          <a:lstStyle/>
          <a:p>
            <a:pPr algn="l"/>
            <a:r>
              <a:rPr sz="1000" b="0" i="1">
                <a:solidFill>
                  <a:srgbClr val="5B6B82"/>
                </a:solidFill>
                <a:latin typeface="Calibri"/>
              </a:rPr>
              <a:t>Is the scan readable enough to trust?</a:t>
            </a:r>
          </a:p>
        </p:txBody>
      </p:sp>
      <p:sp>
        <p:nvSpPr>
          <p:cNvPr id="15" name="TextBox 14"/>
          <p:cNvSpPr txBox="1"/>
          <p:nvPr/>
        </p:nvSpPr>
        <p:spPr>
          <a:xfrm>
            <a:off x="4562856" y="2404872"/>
            <a:ext cx="3108960" cy="320040"/>
          </a:xfrm>
          <a:prstGeom prst="rect">
            <a:avLst/>
          </a:prstGeom>
          <a:noFill/>
        </p:spPr>
        <p:txBody>
          <a:bodyPr wrap="square" lIns="0" tIns="0" rIns="0" bIns="0" anchor="t">
            <a:spAutoFit/>
          </a:bodyPr>
          <a:lstStyle/>
          <a:p>
            <a:pPr algn="l"/>
            <a:r>
              <a:rPr sz="1000" b="1" i="0">
                <a:solidFill>
                  <a:srgbClr val="2563EB"/>
                </a:solidFill>
                <a:latin typeface="Calibri"/>
              </a:rPr>
              <a:t>Below 0.60 → stop now. No model is ever called.</a:t>
            </a:r>
          </a:p>
        </p:txBody>
      </p:sp>
      <p:cxnSp>
        <p:nvCxnSpPr>
          <p:cNvPr id="16" name="Connector 15"/>
          <p:cNvCxnSpPr/>
          <p:nvPr/>
        </p:nvCxnSpPr>
        <p:spPr>
          <a:xfrm>
            <a:off x="7900416" y="2212848"/>
            <a:ext cx="219456" cy="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119872" y="1554480"/>
            <a:ext cx="3566160" cy="131673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8348472" y="1737360"/>
            <a:ext cx="356616" cy="3566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3</a:t>
            </a:r>
          </a:p>
        </p:txBody>
      </p:sp>
      <p:sp>
        <p:nvSpPr>
          <p:cNvPr id="19" name="TextBox 18"/>
          <p:cNvSpPr txBox="1"/>
          <p:nvPr/>
        </p:nvSpPr>
        <p:spPr>
          <a:xfrm>
            <a:off x="8805672" y="1728216"/>
            <a:ext cx="2651760" cy="274320"/>
          </a:xfrm>
          <a:prstGeom prst="rect">
            <a:avLst/>
          </a:prstGeom>
          <a:noFill/>
        </p:spPr>
        <p:txBody>
          <a:bodyPr wrap="square" lIns="0" tIns="0" rIns="0" bIns="0" anchor="ctr">
            <a:spAutoFit/>
          </a:bodyPr>
          <a:lstStyle/>
          <a:p>
            <a:pPr algn="l"/>
            <a:r>
              <a:rPr sz="1250" b="1" i="0">
                <a:solidFill>
                  <a:srgbClr val="10243E"/>
                </a:solidFill>
                <a:latin typeface="Calibri"/>
              </a:rPr>
              <a:t>Confidence branch</a:t>
            </a:r>
          </a:p>
        </p:txBody>
      </p:sp>
      <p:sp>
        <p:nvSpPr>
          <p:cNvPr id="20" name="TextBox 19"/>
          <p:cNvSpPr txBox="1"/>
          <p:nvPr/>
        </p:nvSpPr>
        <p:spPr>
          <a:xfrm>
            <a:off x="8348472" y="2148840"/>
            <a:ext cx="3108960" cy="228600"/>
          </a:xfrm>
          <a:prstGeom prst="rect">
            <a:avLst/>
          </a:prstGeom>
          <a:noFill/>
        </p:spPr>
        <p:txBody>
          <a:bodyPr wrap="square" lIns="0" tIns="0" rIns="0" bIns="0" anchor="ctr">
            <a:spAutoFit/>
          </a:bodyPr>
          <a:lstStyle/>
          <a:p>
            <a:pPr algn="l"/>
            <a:r>
              <a:rPr sz="1000" b="0" i="1">
                <a:solidFill>
                  <a:srgbClr val="5B6B82"/>
                </a:solidFill>
                <a:latin typeface="Calibri"/>
              </a:rPr>
              <a:t>Is the classifier sure of the coverage?</a:t>
            </a:r>
          </a:p>
        </p:txBody>
      </p:sp>
      <p:sp>
        <p:nvSpPr>
          <p:cNvPr id="21" name="TextBox 20"/>
          <p:cNvSpPr txBox="1"/>
          <p:nvPr/>
        </p:nvSpPr>
        <p:spPr>
          <a:xfrm>
            <a:off x="8348472" y="2404872"/>
            <a:ext cx="3108960" cy="320040"/>
          </a:xfrm>
          <a:prstGeom prst="rect">
            <a:avLst/>
          </a:prstGeom>
          <a:noFill/>
        </p:spPr>
        <p:txBody>
          <a:bodyPr wrap="square" lIns="0" tIns="0" rIns="0" bIns="0" anchor="t">
            <a:spAutoFit/>
          </a:bodyPr>
          <a:lstStyle/>
          <a:p>
            <a:pPr algn="l"/>
            <a:r>
              <a:rPr sz="1000" b="1" i="0">
                <a:solidFill>
                  <a:srgbClr val="2563EB"/>
                </a:solidFill>
                <a:latin typeface="Calibri"/>
              </a:rPr>
              <a:t>At or above 0.50 → skip retrieval and save the work.</a:t>
            </a:r>
          </a:p>
        </p:txBody>
      </p:sp>
      <p:sp>
        <p:nvSpPr>
          <p:cNvPr id="22" name="Rounded Rectangle 21"/>
          <p:cNvSpPr/>
          <p:nvPr/>
        </p:nvSpPr>
        <p:spPr>
          <a:xfrm>
            <a:off x="548640" y="3054096"/>
            <a:ext cx="3566160" cy="131673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777240" y="3236976"/>
            <a:ext cx="356616" cy="3566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4</a:t>
            </a:r>
          </a:p>
        </p:txBody>
      </p:sp>
      <p:sp>
        <p:nvSpPr>
          <p:cNvPr id="24" name="TextBox 23"/>
          <p:cNvSpPr txBox="1"/>
          <p:nvPr/>
        </p:nvSpPr>
        <p:spPr>
          <a:xfrm>
            <a:off x="1234440" y="3227832"/>
            <a:ext cx="2651760" cy="274320"/>
          </a:xfrm>
          <a:prstGeom prst="rect">
            <a:avLst/>
          </a:prstGeom>
          <a:noFill/>
        </p:spPr>
        <p:txBody>
          <a:bodyPr wrap="square" lIns="0" tIns="0" rIns="0" bIns="0" anchor="ctr">
            <a:spAutoFit/>
          </a:bodyPr>
          <a:lstStyle/>
          <a:p>
            <a:pPr algn="l"/>
            <a:r>
              <a:rPr sz="1250" b="1" i="0">
                <a:solidFill>
                  <a:srgbClr val="10243E"/>
                </a:solidFill>
                <a:latin typeface="Calibri"/>
              </a:rPr>
              <a:t>Conditional retrieval</a:t>
            </a:r>
          </a:p>
        </p:txBody>
      </p:sp>
      <p:sp>
        <p:nvSpPr>
          <p:cNvPr id="25" name="TextBox 24"/>
          <p:cNvSpPr txBox="1"/>
          <p:nvPr/>
        </p:nvSpPr>
        <p:spPr>
          <a:xfrm>
            <a:off x="777240" y="3648456"/>
            <a:ext cx="3108960" cy="228600"/>
          </a:xfrm>
          <a:prstGeom prst="rect">
            <a:avLst/>
          </a:prstGeom>
          <a:noFill/>
        </p:spPr>
        <p:txBody>
          <a:bodyPr wrap="square" lIns="0" tIns="0" rIns="0" bIns="0" anchor="ctr">
            <a:spAutoFit/>
          </a:bodyPr>
          <a:lstStyle/>
          <a:p>
            <a:pPr algn="l"/>
            <a:r>
              <a:rPr sz="1000" b="0" i="1">
                <a:solidFill>
                  <a:srgbClr val="5B6B82"/>
                </a:solidFill>
                <a:latin typeface="Calibri"/>
              </a:rPr>
              <a:t>Do we need historical context?</a:t>
            </a:r>
          </a:p>
        </p:txBody>
      </p:sp>
      <p:sp>
        <p:nvSpPr>
          <p:cNvPr id="26" name="TextBox 25"/>
          <p:cNvSpPr txBox="1"/>
          <p:nvPr/>
        </p:nvSpPr>
        <p:spPr>
          <a:xfrm>
            <a:off x="777240" y="3904488"/>
            <a:ext cx="3108960" cy="320040"/>
          </a:xfrm>
          <a:prstGeom prst="rect">
            <a:avLst/>
          </a:prstGeom>
          <a:noFill/>
        </p:spPr>
        <p:txBody>
          <a:bodyPr wrap="square" lIns="0" tIns="0" rIns="0" bIns="0" anchor="t">
            <a:spAutoFit/>
          </a:bodyPr>
          <a:lstStyle/>
          <a:p>
            <a:pPr algn="l"/>
            <a:r>
              <a:rPr sz="1000" b="1" i="0">
                <a:solidFill>
                  <a:srgbClr val="2563EB"/>
                </a:solidFill>
                <a:latin typeface="Calibri"/>
              </a:rPr>
              <a:t>Only when unsure → fetch the 5 nearest past claims.</a:t>
            </a:r>
          </a:p>
        </p:txBody>
      </p:sp>
      <p:cxnSp>
        <p:nvCxnSpPr>
          <p:cNvPr id="27" name="Connector 26"/>
          <p:cNvCxnSpPr/>
          <p:nvPr/>
        </p:nvCxnSpPr>
        <p:spPr>
          <a:xfrm>
            <a:off x="4114800" y="3712464"/>
            <a:ext cx="219456" cy="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334256" y="3054096"/>
            <a:ext cx="3566160" cy="131673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4562856" y="3236976"/>
            <a:ext cx="356616" cy="3566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5</a:t>
            </a:r>
          </a:p>
        </p:txBody>
      </p:sp>
      <p:sp>
        <p:nvSpPr>
          <p:cNvPr id="30" name="TextBox 29"/>
          <p:cNvSpPr txBox="1"/>
          <p:nvPr/>
        </p:nvSpPr>
        <p:spPr>
          <a:xfrm>
            <a:off x="5020056" y="3227832"/>
            <a:ext cx="2651760" cy="274320"/>
          </a:xfrm>
          <a:prstGeom prst="rect">
            <a:avLst/>
          </a:prstGeom>
          <a:noFill/>
        </p:spPr>
        <p:txBody>
          <a:bodyPr wrap="square" lIns="0" tIns="0" rIns="0" bIns="0" anchor="ctr">
            <a:spAutoFit/>
          </a:bodyPr>
          <a:lstStyle/>
          <a:p>
            <a:pPr algn="l"/>
            <a:r>
              <a:rPr sz="1250" b="1" i="0">
                <a:solidFill>
                  <a:srgbClr val="10243E"/>
                </a:solidFill>
                <a:latin typeface="Calibri"/>
              </a:rPr>
              <a:t>Consistency &amp; anomaly</a:t>
            </a:r>
          </a:p>
        </p:txBody>
      </p:sp>
      <p:sp>
        <p:nvSpPr>
          <p:cNvPr id="31" name="TextBox 30"/>
          <p:cNvSpPr txBox="1"/>
          <p:nvPr/>
        </p:nvSpPr>
        <p:spPr>
          <a:xfrm>
            <a:off x="4562856" y="3648456"/>
            <a:ext cx="3108960" cy="228600"/>
          </a:xfrm>
          <a:prstGeom prst="rect">
            <a:avLst/>
          </a:prstGeom>
          <a:noFill/>
        </p:spPr>
        <p:txBody>
          <a:bodyPr wrap="square" lIns="0" tIns="0" rIns="0" bIns="0" anchor="ctr">
            <a:spAutoFit/>
          </a:bodyPr>
          <a:lstStyle/>
          <a:p>
            <a:pPr algn="l"/>
            <a:r>
              <a:rPr sz="1000" b="0" i="1">
                <a:solidFill>
                  <a:srgbClr val="5B6B82"/>
                </a:solidFill>
                <a:latin typeface="Calibri"/>
              </a:rPr>
              <a:t>Does the recorded coverage hold up?</a:t>
            </a:r>
          </a:p>
        </p:txBody>
      </p:sp>
      <p:sp>
        <p:nvSpPr>
          <p:cNvPr id="32" name="TextBox 31"/>
          <p:cNvSpPr txBox="1"/>
          <p:nvPr/>
        </p:nvSpPr>
        <p:spPr>
          <a:xfrm>
            <a:off x="4562856" y="3904488"/>
            <a:ext cx="3108960" cy="320040"/>
          </a:xfrm>
          <a:prstGeom prst="rect">
            <a:avLst/>
          </a:prstGeom>
          <a:noFill/>
        </p:spPr>
        <p:txBody>
          <a:bodyPr wrap="square" lIns="0" tIns="0" rIns="0" bIns="0" anchor="t">
            <a:spAutoFit/>
          </a:bodyPr>
          <a:lstStyle/>
          <a:p>
            <a:pPr algn="l"/>
            <a:r>
              <a:rPr sz="1000" b="1" i="0">
                <a:solidFill>
                  <a:srgbClr val="2563EB"/>
                </a:solidFill>
                <a:latin typeface="Calibri"/>
              </a:rPr>
              <a:t>Keyword mismatch → logged FLAG and +15 to the risk score.</a:t>
            </a:r>
          </a:p>
        </p:txBody>
      </p:sp>
      <p:cxnSp>
        <p:nvCxnSpPr>
          <p:cNvPr id="33" name="Connector 32"/>
          <p:cNvCxnSpPr/>
          <p:nvPr/>
        </p:nvCxnSpPr>
        <p:spPr>
          <a:xfrm>
            <a:off x="7900416" y="3712464"/>
            <a:ext cx="219456" cy="0"/>
          </a:xfrm>
          <a:prstGeom prst="line">
            <a:avLst/>
          </a:prstGeom>
          <a:ln w="19050">
            <a:solidFill>
              <a:srgbClr val="93B4F5"/>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119872" y="3054096"/>
            <a:ext cx="3566160" cy="131673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8348472" y="3236976"/>
            <a:ext cx="356616" cy="35661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Calibri"/>
              </a:rPr>
              <a:t>6</a:t>
            </a:r>
          </a:p>
        </p:txBody>
      </p:sp>
      <p:sp>
        <p:nvSpPr>
          <p:cNvPr id="36" name="TextBox 35"/>
          <p:cNvSpPr txBox="1"/>
          <p:nvPr/>
        </p:nvSpPr>
        <p:spPr>
          <a:xfrm>
            <a:off x="8805672" y="3227832"/>
            <a:ext cx="2651760" cy="274320"/>
          </a:xfrm>
          <a:prstGeom prst="rect">
            <a:avLst/>
          </a:prstGeom>
          <a:noFill/>
        </p:spPr>
        <p:txBody>
          <a:bodyPr wrap="square" lIns="0" tIns="0" rIns="0" bIns="0" anchor="ctr">
            <a:spAutoFit/>
          </a:bodyPr>
          <a:lstStyle/>
          <a:p>
            <a:pPr algn="l"/>
            <a:r>
              <a:rPr sz="1250" b="1" i="0">
                <a:solidFill>
                  <a:srgbClr val="10243E"/>
                </a:solidFill>
                <a:latin typeface="Calibri"/>
              </a:rPr>
              <a:t>Risk blend &amp; route</a:t>
            </a:r>
          </a:p>
        </p:txBody>
      </p:sp>
      <p:sp>
        <p:nvSpPr>
          <p:cNvPr id="37" name="TextBox 36"/>
          <p:cNvSpPr txBox="1"/>
          <p:nvPr/>
        </p:nvSpPr>
        <p:spPr>
          <a:xfrm>
            <a:off x="8348472" y="3648456"/>
            <a:ext cx="3108960" cy="228600"/>
          </a:xfrm>
          <a:prstGeom prst="rect">
            <a:avLst/>
          </a:prstGeom>
          <a:noFill/>
        </p:spPr>
        <p:txBody>
          <a:bodyPr wrap="square" lIns="0" tIns="0" rIns="0" bIns="0" anchor="ctr">
            <a:spAutoFit/>
          </a:bodyPr>
          <a:lstStyle/>
          <a:p>
            <a:pPr algn="l"/>
            <a:r>
              <a:rPr sz="1000" b="0" i="1">
                <a:solidFill>
                  <a:srgbClr val="5B6B82"/>
                </a:solidFill>
                <a:latin typeface="Calibri"/>
              </a:rPr>
              <a:t>Does this claim need a human?</a:t>
            </a:r>
          </a:p>
        </p:txBody>
      </p:sp>
      <p:sp>
        <p:nvSpPr>
          <p:cNvPr id="38" name="TextBox 37"/>
          <p:cNvSpPr txBox="1"/>
          <p:nvPr/>
        </p:nvSpPr>
        <p:spPr>
          <a:xfrm>
            <a:off x="8348472" y="3904488"/>
            <a:ext cx="3108960" cy="320040"/>
          </a:xfrm>
          <a:prstGeom prst="rect">
            <a:avLst/>
          </a:prstGeom>
          <a:noFill/>
        </p:spPr>
        <p:txBody>
          <a:bodyPr wrap="square" lIns="0" tIns="0" rIns="0" bIns="0" anchor="t">
            <a:spAutoFit/>
          </a:bodyPr>
          <a:lstStyle/>
          <a:p>
            <a:pPr algn="l"/>
            <a:r>
              <a:rPr sz="1000" b="1" i="0">
                <a:solidFill>
                  <a:srgbClr val="2563EB"/>
                </a:solidFill>
                <a:latin typeface="Calibri"/>
              </a:rPr>
              <a:t>At or above 40 → escalate. Otherwise auto-clear.</a:t>
            </a:r>
          </a:p>
        </p:txBody>
      </p:sp>
      <p:sp>
        <p:nvSpPr>
          <p:cNvPr id="39" name="TextBox 38"/>
          <p:cNvSpPr txBox="1"/>
          <p:nvPr/>
        </p:nvSpPr>
        <p:spPr>
          <a:xfrm>
            <a:off x="548640" y="4526280"/>
            <a:ext cx="3566160" cy="228600"/>
          </a:xfrm>
          <a:prstGeom prst="rect">
            <a:avLst/>
          </a:prstGeom>
          <a:noFill/>
        </p:spPr>
        <p:txBody>
          <a:bodyPr wrap="square" lIns="0" tIns="0" rIns="0" bIns="0" anchor="ctr">
            <a:spAutoFit/>
          </a:bodyPr>
          <a:lstStyle/>
          <a:p>
            <a:pPr algn="l"/>
            <a:r>
              <a:rPr sz="1000" b="1" i="0" spc="140">
                <a:solidFill>
                  <a:srgbClr val="5B6B82"/>
                </a:solidFill>
                <a:latin typeface="Calibri"/>
              </a:rPr>
              <a:t>WHERE A CLAIM CAN END UP</a:t>
            </a:r>
          </a:p>
        </p:txBody>
      </p:sp>
      <p:sp>
        <p:nvSpPr>
          <p:cNvPr id="40" name="Rounded Rectangle 39"/>
          <p:cNvSpPr/>
          <p:nvPr/>
        </p:nvSpPr>
        <p:spPr>
          <a:xfrm>
            <a:off x="548640" y="4846320"/>
            <a:ext cx="3566160" cy="49377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704088" y="4992624"/>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2" name="TextBox 41"/>
          <p:cNvSpPr txBox="1"/>
          <p:nvPr/>
        </p:nvSpPr>
        <p:spPr>
          <a:xfrm>
            <a:off x="1024128" y="4937760"/>
            <a:ext cx="2926080" cy="182880"/>
          </a:xfrm>
          <a:prstGeom prst="rect">
            <a:avLst/>
          </a:prstGeom>
          <a:noFill/>
        </p:spPr>
        <p:txBody>
          <a:bodyPr wrap="square" lIns="0" tIns="0" rIns="0" bIns="0" anchor="ctr">
            <a:spAutoFit/>
          </a:bodyPr>
          <a:lstStyle/>
          <a:p>
            <a:pPr algn="l"/>
            <a:r>
              <a:rPr sz="1050" b="1" i="0">
                <a:solidFill>
                  <a:srgbClr val="10243E"/>
                </a:solidFill>
                <a:latin typeface="Calibri"/>
              </a:rPr>
              <a:t>AUTO_CLEARED</a:t>
            </a:r>
          </a:p>
        </p:txBody>
      </p:sp>
      <p:sp>
        <p:nvSpPr>
          <p:cNvPr id="43" name="TextBox 42"/>
          <p:cNvSpPr txBox="1"/>
          <p:nvPr/>
        </p:nvSpPr>
        <p:spPr>
          <a:xfrm>
            <a:off x="1024128" y="5111496"/>
            <a:ext cx="2926080" cy="164592"/>
          </a:xfrm>
          <a:prstGeom prst="rect">
            <a:avLst/>
          </a:prstGeom>
          <a:noFill/>
        </p:spPr>
        <p:txBody>
          <a:bodyPr wrap="square" lIns="0" tIns="0" rIns="0" bIns="0" anchor="ctr">
            <a:spAutoFit/>
          </a:bodyPr>
          <a:lstStyle/>
          <a:p>
            <a:pPr algn="l"/>
            <a:r>
              <a:rPr sz="850" b="0" i="0">
                <a:solidFill>
                  <a:srgbClr val="5B6B82"/>
                </a:solidFill>
                <a:latin typeface="Calibri"/>
              </a:rPr>
              <a:t>Risk below the threshold — no reviewer time consumed</a:t>
            </a:r>
          </a:p>
        </p:txBody>
      </p:sp>
      <p:sp>
        <p:nvSpPr>
          <p:cNvPr id="44" name="Rounded Rectangle 43"/>
          <p:cNvSpPr/>
          <p:nvPr/>
        </p:nvSpPr>
        <p:spPr>
          <a:xfrm>
            <a:off x="548640" y="5413248"/>
            <a:ext cx="3566160" cy="49377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Oval 44"/>
          <p:cNvSpPr/>
          <p:nvPr/>
        </p:nvSpPr>
        <p:spPr>
          <a:xfrm>
            <a:off x="704088" y="5559552"/>
            <a:ext cx="201168" cy="20116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46" name="TextBox 45"/>
          <p:cNvSpPr txBox="1"/>
          <p:nvPr/>
        </p:nvSpPr>
        <p:spPr>
          <a:xfrm>
            <a:off x="1024128" y="5504688"/>
            <a:ext cx="2926080" cy="182880"/>
          </a:xfrm>
          <a:prstGeom prst="rect">
            <a:avLst/>
          </a:prstGeom>
          <a:noFill/>
        </p:spPr>
        <p:txBody>
          <a:bodyPr wrap="square" lIns="0" tIns="0" rIns="0" bIns="0" anchor="ctr">
            <a:spAutoFit/>
          </a:bodyPr>
          <a:lstStyle/>
          <a:p>
            <a:pPr algn="l"/>
            <a:r>
              <a:rPr sz="1050" b="1" i="0">
                <a:solidFill>
                  <a:srgbClr val="10243E"/>
                </a:solidFill>
                <a:latin typeface="Calibri"/>
              </a:rPr>
              <a:t>ESCALATED_HUMAN</a:t>
            </a:r>
          </a:p>
        </p:txBody>
      </p:sp>
      <p:sp>
        <p:nvSpPr>
          <p:cNvPr id="47" name="TextBox 46"/>
          <p:cNvSpPr txBox="1"/>
          <p:nvPr/>
        </p:nvSpPr>
        <p:spPr>
          <a:xfrm>
            <a:off x="1024128" y="5678424"/>
            <a:ext cx="2926080" cy="164592"/>
          </a:xfrm>
          <a:prstGeom prst="rect">
            <a:avLst/>
          </a:prstGeom>
          <a:noFill/>
        </p:spPr>
        <p:txBody>
          <a:bodyPr wrap="square" lIns="0" tIns="0" rIns="0" bIns="0" anchor="ctr">
            <a:spAutoFit/>
          </a:bodyPr>
          <a:lstStyle/>
          <a:p>
            <a:pPr algn="l"/>
            <a:r>
              <a:rPr sz="850" b="0" i="0">
                <a:solidFill>
                  <a:srgbClr val="5B6B82"/>
                </a:solidFill>
                <a:latin typeface="Calibri"/>
              </a:rPr>
              <a:t>Risk at or above the threshold — routed to an investigator</a:t>
            </a:r>
          </a:p>
        </p:txBody>
      </p:sp>
      <p:sp>
        <p:nvSpPr>
          <p:cNvPr id="48" name="Rounded Rectangle 47"/>
          <p:cNvSpPr/>
          <p:nvPr/>
        </p:nvSpPr>
        <p:spPr>
          <a:xfrm>
            <a:off x="548640" y="5980176"/>
            <a:ext cx="3566160" cy="493776"/>
          </a:xfrm>
          <a:prstGeom prst="roundRect">
            <a:avLst>
              <a:gd name="adj" fmla="val 8000"/>
            </a:avLst>
          </a:prstGeom>
          <a:solidFill>
            <a:srgbClr val="FFFFFF"/>
          </a:solidFill>
          <a:ln w="12700">
            <a:solidFill>
              <a:srgbClr val="E3EAF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Oval 48"/>
          <p:cNvSpPr/>
          <p:nvPr/>
        </p:nvSpPr>
        <p:spPr>
          <a:xfrm>
            <a:off x="704088" y="6126480"/>
            <a:ext cx="201168" cy="201168"/>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50" name="TextBox 49"/>
          <p:cNvSpPr txBox="1"/>
          <p:nvPr/>
        </p:nvSpPr>
        <p:spPr>
          <a:xfrm>
            <a:off x="1024128" y="6071616"/>
            <a:ext cx="2926080" cy="182880"/>
          </a:xfrm>
          <a:prstGeom prst="rect">
            <a:avLst/>
          </a:prstGeom>
          <a:noFill/>
        </p:spPr>
        <p:txBody>
          <a:bodyPr wrap="square" lIns="0" tIns="0" rIns="0" bIns="0" anchor="ctr">
            <a:spAutoFit/>
          </a:bodyPr>
          <a:lstStyle/>
          <a:p>
            <a:pPr algn="l"/>
            <a:r>
              <a:rPr sz="1050" b="1" i="0">
                <a:solidFill>
                  <a:srgbClr val="10243E"/>
                </a:solidFill>
                <a:latin typeface="Calibri"/>
              </a:rPr>
              <a:t>ESCALATED_OCR</a:t>
            </a:r>
          </a:p>
        </p:txBody>
      </p:sp>
      <p:sp>
        <p:nvSpPr>
          <p:cNvPr id="51" name="TextBox 50"/>
          <p:cNvSpPr txBox="1"/>
          <p:nvPr/>
        </p:nvSpPr>
        <p:spPr>
          <a:xfrm>
            <a:off x="1024128" y="6245352"/>
            <a:ext cx="2926080" cy="164592"/>
          </a:xfrm>
          <a:prstGeom prst="rect">
            <a:avLst/>
          </a:prstGeom>
          <a:noFill/>
        </p:spPr>
        <p:txBody>
          <a:bodyPr wrap="square" lIns="0" tIns="0" rIns="0" bIns="0" anchor="ctr">
            <a:spAutoFit/>
          </a:bodyPr>
          <a:lstStyle/>
          <a:p>
            <a:pPr algn="l"/>
            <a:r>
              <a:rPr sz="850" b="0" i="0">
                <a:solidFill>
                  <a:srgbClr val="5B6B82"/>
                </a:solidFill>
                <a:latin typeface="Calibri"/>
              </a:rPr>
              <a:t>Scan unreadable — stopped at step 2, re-upload requested</a:t>
            </a:r>
          </a:p>
        </p:txBody>
      </p:sp>
      <p:sp>
        <p:nvSpPr>
          <p:cNvPr id="52" name="Rounded Rectangle 51"/>
          <p:cNvSpPr/>
          <p:nvPr/>
        </p:nvSpPr>
        <p:spPr>
          <a:xfrm>
            <a:off x="4334256" y="4617720"/>
            <a:ext cx="7309104" cy="1828800"/>
          </a:xfrm>
          <a:prstGeom prst="roundRect">
            <a:avLst>
              <a:gd name="adj" fmla="val 8000"/>
            </a:avLst>
          </a:prstGeom>
          <a:solidFill>
            <a:srgbClr val="1B3557"/>
          </a:solidFill>
          <a:ln w="12700">
            <a:solidFill>
              <a:srgbClr val="2E4E7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4654296" y="4809744"/>
            <a:ext cx="6669024" cy="228600"/>
          </a:xfrm>
          <a:prstGeom prst="rect">
            <a:avLst/>
          </a:prstGeom>
          <a:noFill/>
        </p:spPr>
        <p:txBody>
          <a:bodyPr wrap="square" lIns="0" tIns="0" rIns="0" bIns="0" anchor="ctr">
            <a:spAutoFit/>
          </a:bodyPr>
          <a:lstStyle/>
          <a:p>
            <a:pPr algn="l"/>
            <a:r>
              <a:rPr sz="1000" b="1" i="0" spc="140">
                <a:solidFill>
                  <a:srgbClr val="93B4F5"/>
                </a:solidFill>
                <a:latin typeface="Calibri"/>
              </a:rPr>
              <a:t>EVERY RUN RETURNS THE SAME AUDITABLE OBJECT</a:t>
            </a:r>
          </a:p>
        </p:txBody>
      </p:sp>
      <p:sp>
        <p:nvSpPr>
          <p:cNvPr id="54" name="TextBox 53"/>
          <p:cNvSpPr txBox="1"/>
          <p:nvPr/>
        </p:nvSpPr>
        <p:spPr>
          <a:xfrm>
            <a:off x="4654296" y="5138928"/>
            <a:ext cx="3200400" cy="1280160"/>
          </a:xfrm>
          <a:prstGeom prst="rect">
            <a:avLst/>
          </a:prstGeom>
          <a:noFill/>
        </p:spPr>
        <p:txBody>
          <a:bodyPr wrap="square" lIns="0" tIns="0" rIns="0" bIns="0" anchor="t">
            <a:spAutoFit/>
          </a:bodyPr>
          <a:lstStyle/>
          <a:p>
            <a:pPr algn="l"/>
            <a:r>
              <a:rPr sz="1000" b="1" i="0">
                <a:solidFill>
                  <a:srgbClr val="FFFFFF"/>
                </a:solidFill>
                <a:latin typeface="Calibri"/>
              </a:rPr>
              <a:t>status</a:t>
            </a:r>
            <a:r>
              <a:rPr sz="1000" b="0" i="0">
                <a:solidFill>
                  <a:srgbClr val="CADCFC"/>
                </a:solidFill>
                <a:latin typeface="Calibri"/>
              </a:rPr>
              <a:t>  —  one of the three terminal states</a:t>
            </a:r>
          </a:p>
          <a:p>
            <a:pPr algn="l">
              <a:spcBef>
                <a:spcPts val="700"/>
              </a:spcBef>
            </a:pPr>
            <a:r>
              <a:rPr sz="1000" b="1" i="0">
                <a:solidFill>
                  <a:srgbClr val="FFFFFF"/>
                </a:solidFill>
                <a:latin typeface="Calibri"/>
              </a:rPr>
              <a:t>risk_score + signals</a:t>
            </a:r>
            <a:r>
              <a:rPr sz="1000" b="0" i="0">
                <a:solidFill>
                  <a:srgbClr val="CADCFC"/>
                </a:solidFill>
                <a:latin typeface="Calibri"/>
              </a:rPr>
              <a:t>  —  the evidence behind it</a:t>
            </a:r>
          </a:p>
          <a:p>
            <a:pPr algn="l">
              <a:spcBef>
                <a:spcPts val="700"/>
              </a:spcBef>
            </a:pPr>
            <a:r>
              <a:rPr sz="1000" b="1" i="0">
                <a:solidFill>
                  <a:srgbClr val="FFFFFF"/>
                </a:solidFill>
                <a:latin typeface="Calibri"/>
              </a:rPr>
              <a:t>similar_claims</a:t>
            </a:r>
            <a:r>
              <a:rPr sz="1000" b="0" i="0">
                <a:solidFill>
                  <a:srgbClr val="CADCFC"/>
                </a:solidFill>
                <a:latin typeface="Calibri"/>
              </a:rPr>
              <a:t>  —  populated only if step 4 fired</a:t>
            </a:r>
          </a:p>
        </p:txBody>
      </p:sp>
      <p:sp>
        <p:nvSpPr>
          <p:cNvPr id="55" name="TextBox 54"/>
          <p:cNvSpPr txBox="1"/>
          <p:nvPr/>
        </p:nvSpPr>
        <p:spPr>
          <a:xfrm>
            <a:off x="8174736" y="5138928"/>
            <a:ext cx="3108960" cy="1280160"/>
          </a:xfrm>
          <a:prstGeom prst="rect">
            <a:avLst/>
          </a:prstGeom>
          <a:noFill/>
        </p:spPr>
        <p:txBody>
          <a:bodyPr wrap="square" lIns="0" tIns="0" rIns="0" bIns="0" anchor="t">
            <a:spAutoFit/>
          </a:bodyPr>
          <a:lstStyle/>
          <a:p>
            <a:pPr algn="l"/>
            <a:r>
              <a:rPr sz="1000" b="1" i="0">
                <a:solidFill>
                  <a:srgbClr val="FFFFFF"/>
                </a:solidFill>
                <a:latin typeface="Calibri"/>
              </a:rPr>
              <a:t>explanation</a:t>
            </a:r>
            <a:r>
              <a:rPr sz="1000" b="0" i="0">
                <a:solidFill>
                  <a:srgbClr val="CADCFC"/>
                </a:solidFill>
                <a:latin typeface="Calibri"/>
              </a:rPr>
              <a:t>  —  plus its source: llm or rules</a:t>
            </a:r>
          </a:p>
          <a:p>
            <a:pPr algn="l">
              <a:spcBef>
                <a:spcPts val="700"/>
              </a:spcBef>
            </a:pPr>
            <a:r>
              <a:rPr sz="1000" b="1" i="0">
                <a:solidFill>
                  <a:srgbClr val="FFFFFF"/>
                </a:solidFill>
                <a:latin typeface="Calibri"/>
              </a:rPr>
              <a:t>tools_called</a:t>
            </a:r>
            <a:r>
              <a:rPr sz="1000" b="0" i="0">
                <a:solidFill>
                  <a:srgbClr val="CADCFC"/>
                </a:solidFill>
                <a:latin typeface="Calibri"/>
              </a:rPr>
              <a:t>  —  exactly what the agent invoked</a:t>
            </a:r>
          </a:p>
          <a:p>
            <a:pPr algn="l">
              <a:spcBef>
                <a:spcPts val="700"/>
              </a:spcBef>
            </a:pPr>
            <a:r>
              <a:rPr sz="1000" b="1" i="0">
                <a:solidFill>
                  <a:srgbClr val="FFFFFF"/>
                </a:solidFill>
                <a:latin typeface="Calibri"/>
              </a:rPr>
              <a:t>trace</a:t>
            </a:r>
            <a:r>
              <a:rPr sz="1000" b="0" i="0">
                <a:solidFill>
                  <a:srgbClr val="CADCFC"/>
                </a:solidFill>
                <a:latin typeface="Calibri"/>
              </a:rPr>
              <a:t>  —  step, decision and reason, in order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4 · GENERATIVE AI</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Generative AI explains decisions — it never makes them</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16</a:t>
            </a:r>
            <a:endParaRPr lang="en-US" sz="1100" dirty="0"/>
          </a:p>
        </p:txBody>
      </p:sp>
      <p:sp>
        <p:nvSpPr>
          <p:cNvPr id="5" name="Shape 3"/>
          <p:cNvSpPr/>
          <p:nvPr/>
        </p:nvSpPr>
        <p:spPr>
          <a:xfrm>
            <a:off x="548640" y="1737360"/>
            <a:ext cx="3840480" cy="1508760"/>
          </a:xfrm>
          <a:prstGeom prst="roundRect">
            <a:avLst>
              <a:gd name="adj" fmla="val 6061"/>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txBox="1"/>
          <p:nvPr/>
        </p:nvSpPr>
        <p:spPr>
          <a:xfrm>
            <a:off x="777240" y="1847088"/>
            <a:ext cx="338328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DETERMINISTIC SIGNALS</a:t>
            </a:r>
            <a:endParaRPr lang="en-US" sz="1100" dirty="0"/>
          </a:p>
        </p:txBody>
      </p:sp>
      <p:sp>
        <p:nvSpPr>
          <p:cNvPr id="7" name="Text 5"/>
          <p:cNvSpPr txBox="1"/>
          <p:nvPr/>
        </p:nvSpPr>
        <p:spPr>
          <a:xfrm>
            <a:off x="777240" y="2194560"/>
            <a:ext cx="3383280" cy="91440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amount unusually high (z = 7.04)</a:t>
            </a:r>
            <a:endParaRPr lang="en-US" sz="1400" dirty="0"/>
          </a:p>
          <a:p>
            <a:pPr marL="0" indent="0">
              <a:buNone/>
            </a:pPr>
            <a:r>
              <a:rPr lang="en-US" sz="1400" dirty="0">
                <a:solidFill>
                  <a:srgbClr val="10243E"/>
                </a:solidFill>
                <a:latin typeface="Calibri" pitchFamily="34" charset="0"/>
                <a:ea typeface="Calibri" pitchFamily="34" charset="-122"/>
                <a:cs typeface="Calibri" pitchFamily="34" charset="-120"/>
              </a:rPr>
              <a:t>text suggests VS but coded VF</a:t>
            </a:r>
            <a:endParaRPr lang="en-US" sz="1400" dirty="0"/>
          </a:p>
        </p:txBody>
      </p:sp>
      <p:sp>
        <p:nvSpPr>
          <p:cNvPr id="8" name="Shape 6"/>
          <p:cNvSpPr/>
          <p:nvPr/>
        </p:nvSpPr>
        <p:spPr>
          <a:xfrm>
            <a:off x="4434840" y="2487168"/>
            <a:ext cx="457200" cy="0"/>
          </a:xfrm>
          <a:prstGeom prst="line">
            <a:avLst/>
          </a:prstGeom>
          <a:noFill/>
          <a:ln w="22225">
            <a:solidFill>
              <a:srgbClr val="2563EB"/>
            </a:solidFill>
            <a:prstDash val="solid"/>
            <a:tailEnd type="triangle"/>
          </a:ln>
        </p:spPr>
      </p:sp>
      <p:sp>
        <p:nvSpPr>
          <p:cNvPr id="9" name="Shape 7"/>
          <p:cNvSpPr/>
          <p:nvPr/>
        </p:nvSpPr>
        <p:spPr>
          <a:xfrm>
            <a:off x="4937760" y="1737360"/>
            <a:ext cx="2926080" cy="1508760"/>
          </a:xfrm>
          <a:prstGeom prst="roundRect">
            <a:avLst>
              <a:gd name="adj" fmla="val 6061"/>
            </a:avLst>
          </a:prstGeom>
          <a:solidFill>
            <a:srgbClr val="10243E"/>
          </a:solidFill>
          <a:ln w="12700">
            <a:solidFill>
              <a:srgbClr val="10243E"/>
            </a:solidFill>
            <a:prstDash val="solid"/>
          </a:ln>
        </p:spPr>
      </p:sp>
      <p:sp>
        <p:nvSpPr>
          <p:cNvPr id="10" name="Text 8"/>
          <p:cNvSpPr txBox="1"/>
          <p:nvPr/>
        </p:nvSpPr>
        <p:spPr>
          <a:xfrm>
            <a:off x="5120640" y="1965960"/>
            <a:ext cx="256032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Ollama · llama3.2:1b</a:t>
            </a:r>
            <a:endParaRPr lang="en-US" sz="1800" dirty="0"/>
          </a:p>
        </p:txBody>
      </p:sp>
      <p:sp>
        <p:nvSpPr>
          <p:cNvPr id="11" name="Text 9"/>
          <p:cNvSpPr txBox="1"/>
          <p:nvPr/>
        </p:nvSpPr>
        <p:spPr>
          <a:xfrm>
            <a:off x="5120640" y="2423160"/>
            <a:ext cx="2560320" cy="32004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small model, runs locally</a:t>
            </a:r>
            <a:endParaRPr lang="en-US" sz="1300" dirty="0"/>
          </a:p>
        </p:txBody>
      </p:sp>
      <p:sp>
        <p:nvSpPr>
          <p:cNvPr id="12" name="Shape 10"/>
          <p:cNvSpPr/>
          <p:nvPr/>
        </p:nvSpPr>
        <p:spPr>
          <a:xfrm>
            <a:off x="7909560" y="2487168"/>
            <a:ext cx="457200" cy="0"/>
          </a:xfrm>
          <a:prstGeom prst="line">
            <a:avLst/>
          </a:prstGeom>
          <a:noFill/>
          <a:ln w="22225">
            <a:solidFill>
              <a:srgbClr val="2563EB"/>
            </a:solidFill>
            <a:prstDash val="solid"/>
            <a:tailEnd type="triangle"/>
          </a:ln>
        </p:spPr>
      </p:sp>
      <p:sp>
        <p:nvSpPr>
          <p:cNvPr id="13" name="Shape 11"/>
          <p:cNvSpPr/>
          <p:nvPr/>
        </p:nvSpPr>
        <p:spPr>
          <a:xfrm>
            <a:off x="8412480" y="1737360"/>
            <a:ext cx="3227832" cy="1508760"/>
          </a:xfrm>
          <a:prstGeom prst="roundRect">
            <a:avLst>
              <a:gd name="adj" fmla="val 6061"/>
            </a:avLst>
          </a:prstGeom>
          <a:solidFill>
            <a:srgbClr val="DCE8FB"/>
          </a:solidFill>
          <a:ln w="9525">
            <a:solidFill>
              <a:srgbClr val="DCE8FB"/>
            </a:solidFill>
            <a:prstDash val="solid"/>
          </a:ln>
        </p:spPr>
      </p:sp>
      <p:sp>
        <p:nvSpPr>
          <p:cNvPr id="14" name="Text 12"/>
          <p:cNvSpPr txBox="1"/>
          <p:nvPr/>
        </p:nvSpPr>
        <p:spPr>
          <a:xfrm>
            <a:off x="8641080" y="1847088"/>
            <a:ext cx="2834640" cy="274320"/>
          </a:xfrm>
          <a:prstGeom prst="rect">
            <a:avLst/>
          </a:prstGeom>
          <a:noFill/>
          <a:ln/>
        </p:spPr>
        <p:txBody>
          <a:bodyPr wrap="square" lIns="0" tIns="0" rIns="0" bIns="0" rtlCol="0" anchor="ctr"/>
          <a:lstStyle/>
          <a:p>
            <a:pPr marL="0" indent="0">
              <a:buNone/>
            </a:pPr>
            <a:r>
              <a:rPr lang="en-US" sz="1100" b="1" kern="0" spc="200" dirty="0">
                <a:solidFill>
                  <a:srgbClr val="2563EB"/>
                </a:solidFill>
                <a:latin typeface="Calibri" pitchFamily="34" charset="0"/>
                <a:ea typeface="Calibri" pitchFamily="34" charset="-122"/>
                <a:cs typeface="Calibri" pitchFamily="34" charset="-120"/>
              </a:rPr>
              <a:t>ONE PLAIN SENTENCE</a:t>
            </a:r>
            <a:endParaRPr lang="en-US" sz="1100" dirty="0"/>
          </a:p>
        </p:txBody>
      </p:sp>
      <p:sp>
        <p:nvSpPr>
          <p:cNvPr id="15" name="Text 13"/>
          <p:cNvSpPr txBox="1"/>
          <p:nvPr/>
        </p:nvSpPr>
        <p:spPr>
          <a:xfrm>
            <a:off x="8641080" y="2194560"/>
            <a:ext cx="2834640" cy="914400"/>
          </a:xfrm>
          <a:prstGeom prst="rect">
            <a:avLst/>
          </a:prstGeom>
          <a:noFill/>
          <a:ln/>
        </p:spPr>
        <p:txBody>
          <a:bodyPr wrap="square" lIns="0" tIns="0" rIns="0" bIns="0" rtlCol="0" anchor="t"/>
          <a:lstStyle/>
          <a:p>
            <a:pPr marL="0" indent="0">
              <a:buNone/>
            </a:pPr>
            <a:r>
              <a:rPr lang="en-US" sz="1400" dirty="0">
                <a:solidFill>
                  <a:srgbClr val="10243E"/>
                </a:solidFill>
                <a:latin typeface="Calibri" pitchFamily="34" charset="0"/>
                <a:ea typeface="Calibri" pitchFamily="34" charset="-122"/>
                <a:cs typeface="Calibri" pitchFamily="34" charset="-120"/>
              </a:rPr>
              <a:t>A reason the human reviewer can read and act on.</a:t>
            </a:r>
            <a:endParaRPr lang="en-US" sz="1400" dirty="0"/>
          </a:p>
        </p:txBody>
      </p:sp>
      <p:sp>
        <p:nvSpPr>
          <p:cNvPr id="16" name="Shape 14"/>
          <p:cNvSpPr/>
          <p:nvPr/>
        </p:nvSpPr>
        <p:spPr>
          <a:xfrm>
            <a:off x="548640" y="3520440"/>
            <a:ext cx="3566160" cy="2606040"/>
          </a:xfrm>
          <a:prstGeom prst="roundRect">
            <a:avLst>
              <a:gd name="adj" fmla="val 3509"/>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7" name="Text 15"/>
          <p:cNvSpPr txBox="1"/>
          <p:nvPr/>
        </p:nvSpPr>
        <p:spPr>
          <a:xfrm>
            <a:off x="777240" y="3657600"/>
            <a:ext cx="3108960" cy="365760"/>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Where it is used</a:t>
            </a:r>
            <a:endParaRPr lang="en-US" sz="1700" dirty="0"/>
          </a:p>
        </p:txBody>
      </p:sp>
      <p:sp>
        <p:nvSpPr>
          <p:cNvPr id="18" name="Text 16"/>
          <p:cNvSpPr txBox="1"/>
          <p:nvPr/>
        </p:nvSpPr>
        <p:spPr>
          <a:xfrm>
            <a:off x="777240" y="4114800"/>
            <a:ext cx="315468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Reviewer explanation for every scored claim</a:t>
            </a:r>
            <a:endParaRPr lang="en-US" sz="1500" dirty="0"/>
          </a:p>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Sample claim-form text for the OCR demo</a:t>
            </a:r>
            <a:endParaRPr lang="en-US" sz="1500" dirty="0"/>
          </a:p>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Nowhere else — it makes no decisions</a:t>
            </a:r>
            <a:endParaRPr lang="en-US" sz="1500" dirty="0"/>
          </a:p>
        </p:txBody>
      </p:sp>
      <p:sp>
        <p:nvSpPr>
          <p:cNvPr id="19" name="Shape 17"/>
          <p:cNvSpPr/>
          <p:nvPr/>
        </p:nvSpPr>
        <p:spPr>
          <a:xfrm>
            <a:off x="4311396" y="3520440"/>
            <a:ext cx="3566160" cy="2606040"/>
          </a:xfrm>
          <a:prstGeom prst="roundRect">
            <a:avLst>
              <a:gd name="adj" fmla="val 3509"/>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0" name="Text 18"/>
          <p:cNvSpPr txBox="1"/>
          <p:nvPr/>
        </p:nvSpPr>
        <p:spPr>
          <a:xfrm>
            <a:off x="4539996" y="3657600"/>
            <a:ext cx="3108960" cy="365760"/>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Guardrails</a:t>
            </a:r>
            <a:endParaRPr lang="en-US" sz="1700" dirty="0"/>
          </a:p>
        </p:txBody>
      </p:sp>
      <p:sp>
        <p:nvSpPr>
          <p:cNvPr id="21" name="Text 19"/>
          <p:cNvSpPr txBox="1"/>
          <p:nvPr/>
        </p:nvSpPr>
        <p:spPr>
          <a:xfrm>
            <a:off x="4539996" y="4114800"/>
            <a:ext cx="315468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Prompt says: use ONLY the signals given</a:t>
            </a:r>
            <a:endParaRPr lang="en-US" sz="1500" dirty="0"/>
          </a:p>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One short sentence, no invented facts</a:t>
            </a:r>
            <a:endParaRPr lang="en-US" sz="1500" dirty="0"/>
          </a:p>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Status and risk are fixed before the LLM is called</a:t>
            </a:r>
            <a:endParaRPr lang="en-US" sz="1500" dirty="0"/>
          </a:p>
        </p:txBody>
      </p:sp>
      <p:sp>
        <p:nvSpPr>
          <p:cNvPr id="22" name="Shape 20"/>
          <p:cNvSpPr/>
          <p:nvPr/>
        </p:nvSpPr>
        <p:spPr>
          <a:xfrm>
            <a:off x="8074152" y="3520440"/>
            <a:ext cx="3566160" cy="2606040"/>
          </a:xfrm>
          <a:prstGeom prst="roundRect">
            <a:avLst>
              <a:gd name="adj" fmla="val 3509"/>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3" name="Text 21"/>
          <p:cNvSpPr txBox="1"/>
          <p:nvPr/>
        </p:nvSpPr>
        <p:spPr>
          <a:xfrm>
            <a:off x="8302752" y="3657600"/>
            <a:ext cx="3108960" cy="365760"/>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How we kept it efficient</a:t>
            </a:r>
            <a:endParaRPr lang="en-US" sz="1700" dirty="0"/>
          </a:p>
        </p:txBody>
      </p:sp>
      <p:sp>
        <p:nvSpPr>
          <p:cNvPr id="24" name="Text 22"/>
          <p:cNvSpPr txBox="1"/>
          <p:nvPr/>
        </p:nvSpPr>
        <p:spPr>
          <a:xfrm>
            <a:off x="8302752" y="4114800"/>
            <a:ext cx="315468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Small 1B model on the local machine: no API cost, data stays in-house</a:t>
            </a:r>
            <a:endParaRPr lang="en-US" sz="1500" dirty="0"/>
          </a:p>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Called once per scored claim, after the decision</a:t>
            </a:r>
            <a:endParaRPr lang="en-US" sz="1500" dirty="0"/>
          </a:p>
          <a:p>
            <a:pPr marL="342900" indent="-342900">
              <a:spcAft>
                <a:spcPts val="600"/>
              </a:spcAft>
              <a:buSzPct val="100000"/>
              <a:buChar char="•"/>
            </a:pPr>
            <a:r>
              <a:rPr lang="en-US" sz="1500" dirty="0">
                <a:solidFill>
                  <a:srgbClr val="10243E"/>
                </a:solidFill>
                <a:latin typeface="Calibri" pitchFamily="34" charset="0"/>
                <a:ea typeface="Calibri" pitchFamily="34" charset="-122"/>
                <a:cs typeface="Calibri" pitchFamily="34" charset="-120"/>
              </a:rPr>
              <a:t>30 s timeout; rule-based text if Ollama is off</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5 · CHALLENGES &amp; LEARNINGS</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Challenges we hit, and how the design responded</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17</a:t>
            </a:r>
            <a:endParaRPr lang="en-US" sz="1100" dirty="0"/>
          </a:p>
        </p:txBody>
      </p:sp>
      <p:sp>
        <p:nvSpPr>
          <p:cNvPr id="5" name="Shape 3"/>
          <p:cNvSpPr/>
          <p:nvPr/>
        </p:nvSpPr>
        <p:spPr>
          <a:xfrm>
            <a:off x="548640" y="1737360"/>
            <a:ext cx="5468112" cy="1353312"/>
          </a:xfrm>
          <a:prstGeom prst="roundRect">
            <a:avLst>
              <a:gd name="adj" fmla="val 675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txBox="1"/>
          <p:nvPr/>
        </p:nvSpPr>
        <p:spPr>
          <a:xfrm>
            <a:off x="777240" y="1847088"/>
            <a:ext cx="5029200" cy="329184"/>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Data quality</a:t>
            </a:r>
            <a:endParaRPr lang="en-US" sz="1700" dirty="0"/>
          </a:p>
        </p:txBody>
      </p:sp>
      <p:sp>
        <p:nvSpPr>
          <p:cNvPr id="7" name="Text 5"/>
          <p:cNvSpPr txBox="1"/>
          <p:nvPr/>
        </p:nvSpPr>
        <p:spPr>
          <a:xfrm>
            <a:off x="777240" y="2194560"/>
            <a:ext cx="50292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Unreliable ClaimNum, 834 duplicates, no spaces in text</a:t>
            </a:r>
            <a:endParaRPr lang="en-US" sz="1400" dirty="0"/>
          </a:p>
        </p:txBody>
      </p:sp>
      <p:sp>
        <p:nvSpPr>
          <p:cNvPr id="8" name="Text 6"/>
          <p:cNvSpPr txBox="1"/>
          <p:nvPr/>
        </p:nvSpPr>
        <p:spPr>
          <a:xfrm>
            <a:off x="777240" y="2532888"/>
            <a:ext cx="5029200" cy="457200"/>
          </a:xfrm>
          <a:prstGeom prst="rect">
            <a:avLst/>
          </a:prstGeom>
          <a:noFill/>
          <a:ln/>
        </p:spPr>
        <p:txBody>
          <a:bodyPr wrap="square" lIns="0" tIns="0" rIns="0" bIns="0" rtlCol="0" anchor="t"/>
          <a:lstStyle/>
          <a:p>
            <a:pPr marL="0" indent="0">
              <a:buNone/>
            </a:pPr>
            <a:r>
              <a:rPr lang="en-US" sz="1400" b="1" dirty="0">
                <a:solidFill>
                  <a:srgbClr val="10243E"/>
                </a:solidFill>
                <a:latin typeface="Calibri" pitchFamily="34" charset="0"/>
                <a:ea typeface="Calibri" pitchFamily="34" charset="-122"/>
                <a:cs typeface="Calibri" pitchFamily="34" charset="-120"/>
              </a:rPr>
              <a:t>Response: </a:t>
            </a:r>
            <a:r>
              <a:rPr lang="en-US" sz="1400" dirty="0">
                <a:solidFill>
                  <a:srgbClr val="10243E"/>
                </a:solidFill>
                <a:latin typeface="Calibri" pitchFamily="34" charset="0"/>
                <a:ea typeface="Calibri" pitchFamily="34" charset="-122"/>
                <a:cs typeface="Calibri" pitchFamily="34" charset="-120"/>
              </a:rPr>
              <a:t>Dedupe on content; grouped split; character n-grams</a:t>
            </a:r>
            <a:endParaRPr lang="en-US" sz="1400" dirty="0"/>
          </a:p>
        </p:txBody>
      </p:sp>
      <p:sp>
        <p:nvSpPr>
          <p:cNvPr id="9" name="Shape 7"/>
          <p:cNvSpPr/>
          <p:nvPr/>
        </p:nvSpPr>
        <p:spPr>
          <a:xfrm>
            <a:off x="6172200" y="1737360"/>
            <a:ext cx="5468112" cy="1353312"/>
          </a:xfrm>
          <a:prstGeom prst="roundRect">
            <a:avLst>
              <a:gd name="adj" fmla="val 675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0" name="Text 8"/>
          <p:cNvSpPr txBox="1"/>
          <p:nvPr/>
        </p:nvSpPr>
        <p:spPr>
          <a:xfrm>
            <a:off x="6400800" y="1847088"/>
            <a:ext cx="5029200" cy="329184"/>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Class imbalance</a:t>
            </a:r>
            <a:endParaRPr lang="en-US" sz="1700" dirty="0"/>
          </a:p>
        </p:txBody>
      </p:sp>
      <p:sp>
        <p:nvSpPr>
          <p:cNvPr id="11" name="Text 9"/>
          <p:cNvSpPr txBox="1"/>
          <p:nvPr/>
        </p:nvSpPr>
        <p:spPr>
          <a:xfrm>
            <a:off x="6400800" y="2194560"/>
            <a:ext cx="50292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10 rare codes; only 44 “Other” claims</a:t>
            </a:r>
            <a:endParaRPr lang="en-US" sz="1400" dirty="0"/>
          </a:p>
        </p:txBody>
      </p:sp>
      <p:sp>
        <p:nvSpPr>
          <p:cNvPr id="12" name="Text 10"/>
          <p:cNvSpPr txBox="1"/>
          <p:nvPr/>
        </p:nvSpPr>
        <p:spPr>
          <a:xfrm>
            <a:off x="6400800" y="2532888"/>
            <a:ext cx="5029200" cy="457200"/>
          </a:xfrm>
          <a:prstGeom prst="rect">
            <a:avLst/>
          </a:prstGeom>
          <a:noFill/>
          <a:ln/>
        </p:spPr>
        <p:txBody>
          <a:bodyPr wrap="square" lIns="0" tIns="0" rIns="0" bIns="0" rtlCol="0" anchor="t"/>
          <a:lstStyle/>
          <a:p>
            <a:pPr marL="0" indent="0">
              <a:buNone/>
            </a:pPr>
            <a:r>
              <a:rPr lang="en-US" sz="1400" b="1" dirty="0">
                <a:solidFill>
                  <a:srgbClr val="10243E"/>
                </a:solidFill>
                <a:latin typeface="Calibri" pitchFamily="34" charset="0"/>
                <a:ea typeface="Calibri" pitchFamily="34" charset="-122"/>
                <a:cs typeface="Calibri" pitchFamily="34" charset="-120"/>
              </a:rPr>
              <a:t>Response: </a:t>
            </a:r>
            <a:r>
              <a:rPr lang="en-US" sz="1400" dirty="0">
                <a:solidFill>
                  <a:srgbClr val="10243E"/>
                </a:solidFill>
                <a:latin typeface="Calibri" pitchFamily="34" charset="0"/>
                <a:ea typeface="Calibri" pitchFamily="34" charset="-122"/>
                <a:cs typeface="Calibri" pitchFamily="34" charset="-120"/>
              </a:rPr>
              <a:t>Merged into Other; report macro F1 (0.66), not just accuracy</a:t>
            </a:r>
            <a:endParaRPr lang="en-US" sz="1400" dirty="0"/>
          </a:p>
        </p:txBody>
      </p:sp>
      <p:sp>
        <p:nvSpPr>
          <p:cNvPr id="13" name="Shape 11"/>
          <p:cNvSpPr/>
          <p:nvPr/>
        </p:nvSpPr>
        <p:spPr>
          <a:xfrm>
            <a:off x="548640" y="3218688"/>
            <a:ext cx="5468112" cy="1353312"/>
          </a:xfrm>
          <a:prstGeom prst="roundRect">
            <a:avLst>
              <a:gd name="adj" fmla="val 675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4" name="Text 12"/>
          <p:cNvSpPr txBox="1"/>
          <p:nvPr/>
        </p:nvSpPr>
        <p:spPr>
          <a:xfrm>
            <a:off x="777240" y="3328416"/>
            <a:ext cx="5029200" cy="329184"/>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Coverage ambiguity</a:t>
            </a:r>
            <a:endParaRPr lang="en-US" sz="1700" dirty="0"/>
          </a:p>
        </p:txBody>
      </p:sp>
      <p:sp>
        <p:nvSpPr>
          <p:cNvPr id="15" name="Text 13"/>
          <p:cNvSpPr txBox="1"/>
          <p:nvPr/>
        </p:nvSpPr>
        <p:spPr>
          <a:xfrm>
            <a:off x="777240" y="3675888"/>
            <a:ext cx="50292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Similar wording can map to different coverages</a:t>
            </a:r>
            <a:endParaRPr lang="en-US" sz="1400" dirty="0"/>
          </a:p>
        </p:txBody>
      </p:sp>
      <p:sp>
        <p:nvSpPr>
          <p:cNvPr id="16" name="Text 14"/>
          <p:cNvSpPr txBox="1"/>
          <p:nvPr/>
        </p:nvSpPr>
        <p:spPr>
          <a:xfrm>
            <a:off x="777240" y="4014216"/>
            <a:ext cx="5029200" cy="457200"/>
          </a:xfrm>
          <a:prstGeom prst="rect">
            <a:avLst/>
          </a:prstGeom>
          <a:noFill/>
          <a:ln/>
        </p:spPr>
        <p:txBody>
          <a:bodyPr wrap="square" lIns="0" tIns="0" rIns="0" bIns="0" rtlCol="0" anchor="t"/>
          <a:lstStyle/>
          <a:p>
            <a:pPr marL="0" indent="0">
              <a:buNone/>
            </a:pPr>
            <a:r>
              <a:rPr lang="en-US" sz="1400" b="1" dirty="0">
                <a:solidFill>
                  <a:srgbClr val="10243E"/>
                </a:solidFill>
                <a:latin typeface="Calibri" pitchFamily="34" charset="0"/>
                <a:ea typeface="Calibri" pitchFamily="34" charset="-122"/>
                <a:cs typeface="Calibri" pitchFamily="34" charset="-120"/>
              </a:rPr>
              <a:t>Response: </a:t>
            </a:r>
            <a:r>
              <a:rPr lang="en-US" sz="1400" dirty="0">
                <a:solidFill>
                  <a:srgbClr val="10243E"/>
                </a:solidFill>
                <a:latin typeface="Calibri" pitchFamily="34" charset="0"/>
                <a:ea typeface="Calibri" pitchFamily="34" charset="-122"/>
                <a:cs typeface="Calibri" pitchFamily="34" charset="-120"/>
              </a:rPr>
              <a:t>Show neighbouring claims and their coverage as evidence</a:t>
            </a:r>
            <a:endParaRPr lang="en-US" sz="1400" dirty="0"/>
          </a:p>
        </p:txBody>
      </p:sp>
      <p:sp>
        <p:nvSpPr>
          <p:cNvPr id="17" name="Shape 15"/>
          <p:cNvSpPr/>
          <p:nvPr/>
        </p:nvSpPr>
        <p:spPr>
          <a:xfrm>
            <a:off x="6172200" y="3218688"/>
            <a:ext cx="5468112" cy="1353312"/>
          </a:xfrm>
          <a:prstGeom prst="roundRect">
            <a:avLst>
              <a:gd name="adj" fmla="val 675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8" name="Text 16"/>
          <p:cNvSpPr txBox="1"/>
          <p:nvPr/>
        </p:nvSpPr>
        <p:spPr>
          <a:xfrm>
            <a:off x="6400800" y="3328416"/>
            <a:ext cx="5029200" cy="329184"/>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OCR variability</a:t>
            </a:r>
            <a:endParaRPr lang="en-US" sz="1700" dirty="0"/>
          </a:p>
        </p:txBody>
      </p:sp>
      <p:sp>
        <p:nvSpPr>
          <p:cNvPr id="19" name="Text 17"/>
          <p:cNvSpPr txBox="1"/>
          <p:nvPr/>
        </p:nvSpPr>
        <p:spPr>
          <a:xfrm>
            <a:off x="6400800" y="3675888"/>
            <a:ext cx="50292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Scan quality changes what the model sees</a:t>
            </a:r>
            <a:endParaRPr lang="en-US" sz="1400" dirty="0"/>
          </a:p>
        </p:txBody>
      </p:sp>
      <p:sp>
        <p:nvSpPr>
          <p:cNvPr id="20" name="Text 18"/>
          <p:cNvSpPr txBox="1"/>
          <p:nvPr/>
        </p:nvSpPr>
        <p:spPr>
          <a:xfrm>
            <a:off x="6400800" y="4014216"/>
            <a:ext cx="5029200" cy="457200"/>
          </a:xfrm>
          <a:prstGeom prst="rect">
            <a:avLst/>
          </a:prstGeom>
          <a:noFill/>
          <a:ln/>
        </p:spPr>
        <p:txBody>
          <a:bodyPr wrap="square" lIns="0" tIns="0" rIns="0" bIns="0" rtlCol="0" anchor="t"/>
          <a:lstStyle/>
          <a:p>
            <a:pPr marL="0" indent="0">
              <a:buNone/>
            </a:pPr>
            <a:r>
              <a:rPr lang="en-US" sz="1400" b="1" dirty="0">
                <a:solidFill>
                  <a:srgbClr val="10243E"/>
                </a:solidFill>
                <a:latin typeface="Calibri" pitchFamily="34" charset="0"/>
                <a:ea typeface="Calibri" pitchFamily="34" charset="-122"/>
                <a:cs typeface="Calibri" pitchFamily="34" charset="-120"/>
              </a:rPr>
              <a:t>Response: </a:t>
            </a:r>
            <a:r>
              <a:rPr lang="en-US" sz="1400" dirty="0">
                <a:solidFill>
                  <a:srgbClr val="10243E"/>
                </a:solidFill>
                <a:latin typeface="Calibri" pitchFamily="34" charset="0"/>
                <a:ea typeface="Calibri" pitchFamily="34" charset="-122"/>
                <a:cs typeface="Calibri" pitchFamily="34" charset="-120"/>
              </a:rPr>
              <a:t>Quality gate: stop early and request a clearer document</a:t>
            </a:r>
            <a:endParaRPr lang="en-US" sz="1400" dirty="0"/>
          </a:p>
        </p:txBody>
      </p:sp>
      <p:sp>
        <p:nvSpPr>
          <p:cNvPr id="21" name="Shape 19"/>
          <p:cNvSpPr/>
          <p:nvPr/>
        </p:nvSpPr>
        <p:spPr>
          <a:xfrm>
            <a:off x="548640" y="4700016"/>
            <a:ext cx="5468112" cy="1353312"/>
          </a:xfrm>
          <a:prstGeom prst="roundRect">
            <a:avLst>
              <a:gd name="adj" fmla="val 675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2" name="Text 20"/>
          <p:cNvSpPr txBox="1"/>
          <p:nvPr/>
        </p:nvSpPr>
        <p:spPr>
          <a:xfrm>
            <a:off x="777240" y="4809744"/>
            <a:ext cx="5029200" cy="329184"/>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Confidence calibration</a:t>
            </a:r>
            <a:endParaRPr lang="en-US" sz="1700" dirty="0"/>
          </a:p>
        </p:txBody>
      </p:sp>
      <p:sp>
        <p:nvSpPr>
          <p:cNvPr id="23" name="Text 21"/>
          <p:cNvSpPr txBox="1"/>
          <p:nvPr/>
        </p:nvSpPr>
        <p:spPr>
          <a:xfrm>
            <a:off x="777240" y="5157216"/>
            <a:ext cx="50292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A correct class can still carry moderate confidence</a:t>
            </a:r>
            <a:endParaRPr lang="en-US" sz="1400" dirty="0"/>
          </a:p>
        </p:txBody>
      </p:sp>
      <p:sp>
        <p:nvSpPr>
          <p:cNvPr id="24" name="Text 22"/>
          <p:cNvSpPr txBox="1"/>
          <p:nvPr/>
        </p:nvSpPr>
        <p:spPr>
          <a:xfrm>
            <a:off x="777240" y="5495544"/>
            <a:ext cx="5029200" cy="457200"/>
          </a:xfrm>
          <a:prstGeom prst="rect">
            <a:avLst/>
          </a:prstGeom>
          <a:noFill/>
          <a:ln/>
        </p:spPr>
        <p:txBody>
          <a:bodyPr wrap="square" lIns="0" tIns="0" rIns="0" bIns="0" rtlCol="0" anchor="t"/>
          <a:lstStyle/>
          <a:p>
            <a:pPr marL="0" indent="0">
              <a:buNone/>
            </a:pPr>
            <a:r>
              <a:rPr lang="en-US" sz="1400" b="1" dirty="0">
                <a:solidFill>
                  <a:srgbClr val="10243E"/>
                </a:solidFill>
                <a:latin typeface="Calibri" pitchFamily="34" charset="0"/>
                <a:ea typeface="Calibri" pitchFamily="34" charset="-122"/>
                <a:cs typeface="Calibri" pitchFamily="34" charset="-120"/>
              </a:rPr>
              <a:t>Response: </a:t>
            </a:r>
            <a:r>
              <a:rPr lang="en-US" sz="1400" dirty="0">
                <a:solidFill>
                  <a:srgbClr val="10243E"/>
                </a:solidFill>
                <a:latin typeface="Calibri" pitchFamily="34" charset="0"/>
                <a:ea typeface="Calibri" pitchFamily="34" charset="-122"/>
                <a:cs typeface="Calibri" pitchFamily="34" charset="-120"/>
              </a:rPr>
              <a:t>Retrieve context when confidence is below 0.5</a:t>
            </a:r>
            <a:endParaRPr lang="en-US" sz="1400" dirty="0"/>
          </a:p>
        </p:txBody>
      </p:sp>
      <p:sp>
        <p:nvSpPr>
          <p:cNvPr id="25" name="Shape 23"/>
          <p:cNvSpPr/>
          <p:nvPr/>
        </p:nvSpPr>
        <p:spPr>
          <a:xfrm>
            <a:off x="6172200" y="4700016"/>
            <a:ext cx="5468112" cy="1353312"/>
          </a:xfrm>
          <a:prstGeom prst="roundRect">
            <a:avLst>
              <a:gd name="adj" fmla="val 6757"/>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Text 24"/>
          <p:cNvSpPr txBox="1"/>
          <p:nvPr/>
        </p:nvSpPr>
        <p:spPr>
          <a:xfrm>
            <a:off x="6400800" y="4809744"/>
            <a:ext cx="5029200" cy="329184"/>
          </a:xfrm>
          <a:prstGeom prst="rect">
            <a:avLst/>
          </a:prstGeom>
          <a:noFill/>
          <a:ln/>
        </p:spPr>
        <p:txBody>
          <a:bodyPr wrap="square" lIns="0" tIns="0" rIns="0" bIns="0" rtlCol="0" anchor="ctr"/>
          <a:lstStyle/>
          <a:p>
            <a:pPr marL="0" indent="0">
              <a:buNone/>
            </a:pPr>
            <a:r>
              <a:rPr lang="en-US" sz="1700" b="1" dirty="0">
                <a:solidFill>
                  <a:srgbClr val="2563EB"/>
                </a:solidFill>
                <a:latin typeface="Calibri" pitchFamily="34" charset="0"/>
                <a:ea typeface="Calibri" pitchFamily="34" charset="-122"/>
                <a:cs typeface="Calibri" pitchFamily="34" charset="-120"/>
              </a:rPr>
              <a:t>Integration complexity</a:t>
            </a:r>
            <a:endParaRPr lang="en-US" sz="1700" dirty="0"/>
          </a:p>
        </p:txBody>
      </p:sp>
      <p:sp>
        <p:nvSpPr>
          <p:cNvPr id="27" name="Text 25"/>
          <p:cNvSpPr txBox="1"/>
          <p:nvPr/>
        </p:nvSpPr>
        <p:spPr>
          <a:xfrm>
            <a:off x="6400800" y="5157216"/>
            <a:ext cx="5029200" cy="320040"/>
          </a:xfrm>
          <a:prstGeom prst="rect">
            <a:avLst/>
          </a:prstGeom>
          <a:noFill/>
          <a:ln/>
        </p:spPr>
        <p:txBody>
          <a:bodyPr wrap="square" lIns="0" tIns="0" rIns="0" bIns="0" rtlCol="0" anchor="ctr"/>
          <a:lstStyle/>
          <a:p>
            <a:pPr marL="0" indent="0">
              <a:buNone/>
            </a:pPr>
            <a:r>
              <a:rPr lang="en-US" sz="1400" dirty="0">
                <a:solidFill>
                  <a:srgbClr val="5B6B82"/>
                </a:solidFill>
                <a:latin typeface="Calibri" pitchFamily="34" charset="0"/>
                <a:ea typeface="Calibri" pitchFamily="34" charset="-122"/>
                <a:cs typeface="Calibri" pitchFamily="34" charset="-120"/>
              </a:rPr>
              <a:t>Model, retrieval, risk, agent and UI had to agree</a:t>
            </a:r>
            <a:endParaRPr lang="en-US" sz="1400" dirty="0"/>
          </a:p>
        </p:txBody>
      </p:sp>
      <p:sp>
        <p:nvSpPr>
          <p:cNvPr id="28" name="Text 26"/>
          <p:cNvSpPr txBox="1"/>
          <p:nvPr/>
        </p:nvSpPr>
        <p:spPr>
          <a:xfrm>
            <a:off x="6400800" y="5495544"/>
            <a:ext cx="5029200" cy="457200"/>
          </a:xfrm>
          <a:prstGeom prst="rect">
            <a:avLst/>
          </a:prstGeom>
          <a:noFill/>
          <a:ln/>
        </p:spPr>
        <p:txBody>
          <a:bodyPr wrap="square" lIns="0" tIns="0" rIns="0" bIns="0" rtlCol="0" anchor="t"/>
          <a:lstStyle/>
          <a:p>
            <a:pPr marL="0" indent="0">
              <a:buNone/>
            </a:pPr>
            <a:r>
              <a:rPr lang="en-US" sz="1400" b="1" dirty="0">
                <a:solidFill>
                  <a:srgbClr val="10243E"/>
                </a:solidFill>
                <a:latin typeface="Calibri" pitchFamily="34" charset="0"/>
                <a:ea typeface="Calibri" pitchFamily="34" charset="-122"/>
                <a:cs typeface="Calibri" pitchFamily="34" charset="-120"/>
              </a:rPr>
              <a:t>Response: </a:t>
            </a:r>
            <a:r>
              <a:rPr lang="en-US" sz="1400" dirty="0">
                <a:solidFill>
                  <a:srgbClr val="10243E"/>
                </a:solidFill>
                <a:latin typeface="Calibri" pitchFamily="34" charset="0"/>
                <a:ea typeface="Calibri" pitchFamily="34" charset="-122"/>
                <a:cs typeface="Calibri" pitchFamily="34" charset="-120"/>
              </a:rPr>
              <a:t>One inference service, typed API contracts, 10 tests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5 · CHALLENGES &amp; LEARNINGS</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What we learned: six lessons from building it</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18</a:t>
            </a:r>
            <a:endParaRPr lang="en-US" sz="1100" dirty="0"/>
          </a:p>
        </p:txBody>
      </p:sp>
      <p:sp>
        <p:nvSpPr>
          <p:cNvPr id="5" name="Shape 3"/>
          <p:cNvSpPr/>
          <p:nvPr/>
        </p:nvSpPr>
        <p:spPr>
          <a:xfrm>
            <a:off x="548640" y="1737360"/>
            <a:ext cx="3566160" cy="2011680"/>
          </a:xfrm>
          <a:prstGeom prst="roundRect">
            <a:avLst>
              <a:gd name="adj" fmla="val 454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Shape 4"/>
          <p:cNvSpPr/>
          <p:nvPr/>
        </p:nvSpPr>
        <p:spPr>
          <a:xfrm>
            <a:off x="777240" y="1965960"/>
            <a:ext cx="566928" cy="566928"/>
          </a:xfrm>
          <a:prstGeom prst="ellipse">
            <a:avLst/>
          </a:prstGeom>
          <a:solidFill>
            <a:srgbClr val="2563EB"/>
          </a:solidFill>
          <a:ln w="12700">
            <a:solidFill>
              <a:srgbClr val="2563EB"/>
            </a:solidFill>
            <a:prstDash val="solid"/>
          </a:ln>
        </p:spPr>
      </p:sp>
      <p:pic>
        <p:nvPicPr>
          <p:cNvPr id="7" name="Image 0" descr="preencoded.png"/>
          <p:cNvPicPr>
            <a:picLocks noChangeAspect="1"/>
          </p:cNvPicPr>
          <p:nvPr/>
        </p:nvPicPr>
        <p:blipFill>
          <a:blip r:embed="rId3"/>
          <a:stretch>
            <a:fillRect/>
          </a:stretch>
        </p:blipFill>
        <p:spPr>
          <a:xfrm>
            <a:off x="918972" y="2107692"/>
            <a:ext cx="283464" cy="283464"/>
          </a:xfrm>
          <a:prstGeom prst="rect">
            <a:avLst/>
          </a:prstGeom>
        </p:spPr>
      </p:pic>
      <p:sp>
        <p:nvSpPr>
          <p:cNvPr id="8" name="Text 5"/>
          <p:cNvSpPr txBox="1"/>
          <p:nvPr/>
        </p:nvSpPr>
        <p:spPr>
          <a:xfrm>
            <a:off x="1508760" y="1965960"/>
            <a:ext cx="2468880" cy="566928"/>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NLP modelling</a:t>
            </a:r>
            <a:endParaRPr lang="en-US" sz="1800" dirty="0"/>
          </a:p>
        </p:txBody>
      </p:sp>
      <p:sp>
        <p:nvSpPr>
          <p:cNvPr id="9" name="Text 6"/>
          <p:cNvSpPr txBox="1"/>
          <p:nvPr/>
        </p:nvSpPr>
        <p:spPr>
          <a:xfrm>
            <a:off x="777240" y="2697480"/>
            <a:ext cx="3108960" cy="96012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Character n-grams work well on short, compact, inconsistently formatted descriptions.</a:t>
            </a:r>
            <a:endParaRPr lang="en-US" sz="1400" dirty="0"/>
          </a:p>
        </p:txBody>
      </p:sp>
      <p:sp>
        <p:nvSpPr>
          <p:cNvPr id="10" name="Shape 7"/>
          <p:cNvSpPr/>
          <p:nvPr/>
        </p:nvSpPr>
        <p:spPr>
          <a:xfrm>
            <a:off x="4311396" y="1737360"/>
            <a:ext cx="3566160" cy="2011680"/>
          </a:xfrm>
          <a:prstGeom prst="roundRect">
            <a:avLst>
              <a:gd name="adj" fmla="val 454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1" name="Shape 8"/>
          <p:cNvSpPr/>
          <p:nvPr/>
        </p:nvSpPr>
        <p:spPr>
          <a:xfrm>
            <a:off x="4539996" y="1965960"/>
            <a:ext cx="566928" cy="566928"/>
          </a:xfrm>
          <a:prstGeom prst="ellipse">
            <a:avLst/>
          </a:prstGeom>
          <a:solidFill>
            <a:srgbClr val="2563EB"/>
          </a:solidFill>
          <a:ln w="12700">
            <a:solidFill>
              <a:srgbClr val="2563EB"/>
            </a:solidFill>
            <a:prstDash val="solid"/>
          </a:ln>
        </p:spPr>
      </p:sp>
      <p:pic>
        <p:nvPicPr>
          <p:cNvPr id="12" name="Image 1" descr="preencoded.png"/>
          <p:cNvPicPr>
            <a:picLocks noChangeAspect="1"/>
          </p:cNvPicPr>
          <p:nvPr/>
        </p:nvPicPr>
        <p:blipFill>
          <a:blip r:embed="rId4"/>
          <a:stretch>
            <a:fillRect/>
          </a:stretch>
        </p:blipFill>
        <p:spPr>
          <a:xfrm>
            <a:off x="4681728" y="2107692"/>
            <a:ext cx="283464" cy="283464"/>
          </a:xfrm>
          <a:prstGeom prst="rect">
            <a:avLst/>
          </a:prstGeom>
        </p:spPr>
      </p:pic>
      <p:sp>
        <p:nvSpPr>
          <p:cNvPr id="13" name="Text 9"/>
          <p:cNvSpPr txBox="1"/>
          <p:nvPr/>
        </p:nvSpPr>
        <p:spPr>
          <a:xfrm>
            <a:off x="5271516" y="1965960"/>
            <a:ext cx="2468880" cy="566928"/>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Leakage prevention</a:t>
            </a:r>
            <a:endParaRPr lang="en-US" sz="1800" dirty="0"/>
          </a:p>
        </p:txBody>
      </p:sp>
      <p:sp>
        <p:nvSpPr>
          <p:cNvPr id="14" name="Text 10"/>
          <p:cNvSpPr txBox="1"/>
          <p:nvPr/>
        </p:nvSpPr>
        <p:spPr>
          <a:xfrm>
            <a:off x="4539996" y="2697480"/>
            <a:ext cx="3108960" cy="96012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Grouped splitting is essential when descriptions repeat.</a:t>
            </a:r>
            <a:endParaRPr lang="en-US" sz="1400" dirty="0"/>
          </a:p>
        </p:txBody>
      </p:sp>
      <p:sp>
        <p:nvSpPr>
          <p:cNvPr id="15" name="Shape 11"/>
          <p:cNvSpPr/>
          <p:nvPr/>
        </p:nvSpPr>
        <p:spPr>
          <a:xfrm>
            <a:off x="8074152" y="1737360"/>
            <a:ext cx="3566160" cy="2011680"/>
          </a:xfrm>
          <a:prstGeom prst="roundRect">
            <a:avLst>
              <a:gd name="adj" fmla="val 454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6" name="Shape 12"/>
          <p:cNvSpPr/>
          <p:nvPr/>
        </p:nvSpPr>
        <p:spPr>
          <a:xfrm>
            <a:off x="8302752" y="1965960"/>
            <a:ext cx="566928" cy="566928"/>
          </a:xfrm>
          <a:prstGeom prst="ellipse">
            <a:avLst/>
          </a:prstGeom>
          <a:solidFill>
            <a:srgbClr val="2563EB"/>
          </a:solidFill>
          <a:ln w="12700">
            <a:solidFill>
              <a:srgbClr val="2563EB"/>
            </a:solidFill>
            <a:prstDash val="solid"/>
          </a:ln>
        </p:spPr>
      </p:sp>
      <p:pic>
        <p:nvPicPr>
          <p:cNvPr id="17" name="Image 2" descr="preencoded.png"/>
          <p:cNvPicPr>
            <a:picLocks noChangeAspect="1"/>
          </p:cNvPicPr>
          <p:nvPr/>
        </p:nvPicPr>
        <p:blipFill>
          <a:blip r:embed="rId5"/>
          <a:stretch>
            <a:fillRect/>
          </a:stretch>
        </p:blipFill>
        <p:spPr>
          <a:xfrm>
            <a:off x="8444484" y="2107692"/>
            <a:ext cx="283464" cy="283464"/>
          </a:xfrm>
          <a:prstGeom prst="rect">
            <a:avLst/>
          </a:prstGeom>
        </p:spPr>
      </p:pic>
      <p:sp>
        <p:nvSpPr>
          <p:cNvPr id="18" name="Text 13"/>
          <p:cNvSpPr txBox="1"/>
          <p:nvPr/>
        </p:nvSpPr>
        <p:spPr>
          <a:xfrm>
            <a:off x="9034272" y="1965960"/>
            <a:ext cx="2468880" cy="566928"/>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Retrieval value</a:t>
            </a:r>
            <a:endParaRPr lang="en-US" sz="1800" dirty="0"/>
          </a:p>
        </p:txBody>
      </p:sp>
      <p:sp>
        <p:nvSpPr>
          <p:cNvPr id="19" name="Text 14"/>
          <p:cNvSpPr txBox="1"/>
          <p:nvPr/>
        </p:nvSpPr>
        <p:spPr>
          <a:xfrm>
            <a:off x="8302752" y="2697480"/>
            <a:ext cx="3108960" cy="96012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Historical neighbours add evidence and benchmarks beyond a class label.</a:t>
            </a:r>
            <a:endParaRPr lang="en-US" sz="1400" dirty="0"/>
          </a:p>
        </p:txBody>
      </p:sp>
      <p:sp>
        <p:nvSpPr>
          <p:cNvPr id="20" name="Shape 15"/>
          <p:cNvSpPr/>
          <p:nvPr/>
        </p:nvSpPr>
        <p:spPr>
          <a:xfrm>
            <a:off x="548640" y="3931920"/>
            <a:ext cx="3566160" cy="2011680"/>
          </a:xfrm>
          <a:prstGeom prst="roundRect">
            <a:avLst>
              <a:gd name="adj" fmla="val 454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1" name="Shape 16"/>
          <p:cNvSpPr/>
          <p:nvPr/>
        </p:nvSpPr>
        <p:spPr>
          <a:xfrm>
            <a:off x="777240" y="4160520"/>
            <a:ext cx="566928" cy="566928"/>
          </a:xfrm>
          <a:prstGeom prst="ellipse">
            <a:avLst/>
          </a:prstGeom>
          <a:solidFill>
            <a:srgbClr val="2563EB"/>
          </a:solidFill>
          <a:ln w="12700">
            <a:solidFill>
              <a:srgbClr val="2563EB"/>
            </a:solidFill>
            <a:prstDash val="solid"/>
          </a:ln>
        </p:spPr>
      </p:sp>
      <p:pic>
        <p:nvPicPr>
          <p:cNvPr id="22" name="Image 3" descr="preencoded.png"/>
          <p:cNvPicPr>
            <a:picLocks noChangeAspect="1"/>
          </p:cNvPicPr>
          <p:nvPr/>
        </p:nvPicPr>
        <p:blipFill>
          <a:blip r:embed="rId6"/>
          <a:stretch>
            <a:fillRect/>
          </a:stretch>
        </p:blipFill>
        <p:spPr>
          <a:xfrm>
            <a:off x="918972" y="4302252"/>
            <a:ext cx="283464" cy="283464"/>
          </a:xfrm>
          <a:prstGeom prst="rect">
            <a:avLst/>
          </a:prstGeom>
        </p:spPr>
      </p:pic>
      <p:sp>
        <p:nvSpPr>
          <p:cNvPr id="23" name="Text 17"/>
          <p:cNvSpPr txBox="1"/>
          <p:nvPr/>
        </p:nvSpPr>
        <p:spPr>
          <a:xfrm>
            <a:off x="1508760" y="4160520"/>
            <a:ext cx="2468880" cy="566928"/>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Explainable risk</a:t>
            </a:r>
            <a:endParaRPr lang="en-US" sz="1800" dirty="0"/>
          </a:p>
        </p:txBody>
      </p:sp>
      <p:sp>
        <p:nvSpPr>
          <p:cNvPr id="24" name="Text 18"/>
          <p:cNvSpPr txBox="1"/>
          <p:nvPr/>
        </p:nvSpPr>
        <p:spPr>
          <a:xfrm>
            <a:off x="777240" y="4892040"/>
            <a:ext cx="3108960" cy="96012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Weighted signals make routing easy to inspect and explain.</a:t>
            </a:r>
            <a:endParaRPr lang="en-US" sz="1400" dirty="0"/>
          </a:p>
        </p:txBody>
      </p:sp>
      <p:sp>
        <p:nvSpPr>
          <p:cNvPr id="25" name="Shape 19"/>
          <p:cNvSpPr/>
          <p:nvPr/>
        </p:nvSpPr>
        <p:spPr>
          <a:xfrm>
            <a:off x="4311396" y="3931920"/>
            <a:ext cx="3566160" cy="2011680"/>
          </a:xfrm>
          <a:prstGeom prst="roundRect">
            <a:avLst>
              <a:gd name="adj" fmla="val 454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Shape 20"/>
          <p:cNvSpPr/>
          <p:nvPr/>
        </p:nvSpPr>
        <p:spPr>
          <a:xfrm>
            <a:off x="4539996" y="4160520"/>
            <a:ext cx="566928" cy="566928"/>
          </a:xfrm>
          <a:prstGeom prst="ellipse">
            <a:avLst/>
          </a:prstGeom>
          <a:solidFill>
            <a:srgbClr val="2563EB"/>
          </a:solidFill>
          <a:ln w="12700">
            <a:solidFill>
              <a:srgbClr val="2563EB"/>
            </a:solidFill>
            <a:prstDash val="solid"/>
          </a:ln>
        </p:spPr>
      </p:sp>
      <p:pic>
        <p:nvPicPr>
          <p:cNvPr id="27" name="Image 4" descr="preencoded.png"/>
          <p:cNvPicPr>
            <a:picLocks noChangeAspect="1"/>
          </p:cNvPicPr>
          <p:nvPr/>
        </p:nvPicPr>
        <p:blipFill>
          <a:blip r:embed="rId7"/>
          <a:stretch>
            <a:fillRect/>
          </a:stretch>
        </p:blipFill>
        <p:spPr>
          <a:xfrm>
            <a:off x="4681728" y="4302252"/>
            <a:ext cx="283464" cy="283464"/>
          </a:xfrm>
          <a:prstGeom prst="rect">
            <a:avLst/>
          </a:prstGeom>
        </p:spPr>
      </p:pic>
      <p:sp>
        <p:nvSpPr>
          <p:cNvPr id="28" name="Text 21"/>
          <p:cNvSpPr txBox="1"/>
          <p:nvPr/>
        </p:nvSpPr>
        <p:spPr>
          <a:xfrm>
            <a:off x="5271516" y="4160520"/>
            <a:ext cx="2468880" cy="566928"/>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Agent orchestration</a:t>
            </a:r>
            <a:endParaRPr lang="en-US" sz="1800" dirty="0"/>
          </a:p>
        </p:txBody>
      </p:sp>
      <p:sp>
        <p:nvSpPr>
          <p:cNvPr id="29" name="Text 22"/>
          <p:cNvSpPr txBox="1"/>
          <p:nvPr/>
        </p:nvSpPr>
        <p:spPr>
          <a:xfrm>
            <a:off x="4539996" y="4892040"/>
            <a:ext cx="3108960" cy="96012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Agentic value comes from conditional control flow, not from chaining tools.</a:t>
            </a:r>
            <a:endParaRPr lang="en-US" sz="1400" dirty="0"/>
          </a:p>
        </p:txBody>
      </p:sp>
      <p:sp>
        <p:nvSpPr>
          <p:cNvPr id="30" name="Shape 23"/>
          <p:cNvSpPr/>
          <p:nvPr/>
        </p:nvSpPr>
        <p:spPr>
          <a:xfrm>
            <a:off x="8074152" y="3931920"/>
            <a:ext cx="3566160" cy="2011680"/>
          </a:xfrm>
          <a:prstGeom prst="roundRect">
            <a:avLst>
              <a:gd name="adj" fmla="val 4545"/>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1" name="Shape 24"/>
          <p:cNvSpPr/>
          <p:nvPr/>
        </p:nvSpPr>
        <p:spPr>
          <a:xfrm>
            <a:off x="8302752" y="4160520"/>
            <a:ext cx="566928" cy="566928"/>
          </a:xfrm>
          <a:prstGeom prst="ellipse">
            <a:avLst/>
          </a:prstGeom>
          <a:solidFill>
            <a:srgbClr val="2563EB"/>
          </a:solidFill>
          <a:ln w="12700">
            <a:solidFill>
              <a:srgbClr val="2563EB"/>
            </a:solidFill>
            <a:prstDash val="solid"/>
          </a:ln>
        </p:spPr>
      </p:sp>
      <p:pic>
        <p:nvPicPr>
          <p:cNvPr id="32" name="Image 5" descr="preencoded.png"/>
          <p:cNvPicPr>
            <a:picLocks noChangeAspect="1"/>
          </p:cNvPicPr>
          <p:nvPr/>
        </p:nvPicPr>
        <p:blipFill>
          <a:blip r:embed="rId8"/>
          <a:stretch>
            <a:fillRect/>
          </a:stretch>
        </p:blipFill>
        <p:spPr>
          <a:xfrm>
            <a:off x="8444484" y="4302252"/>
            <a:ext cx="283464" cy="283464"/>
          </a:xfrm>
          <a:prstGeom prst="rect">
            <a:avLst/>
          </a:prstGeom>
        </p:spPr>
      </p:pic>
      <p:sp>
        <p:nvSpPr>
          <p:cNvPr id="33" name="Text 25"/>
          <p:cNvSpPr txBox="1"/>
          <p:nvPr/>
        </p:nvSpPr>
        <p:spPr>
          <a:xfrm>
            <a:off x="9034272" y="4160520"/>
            <a:ext cx="2468880" cy="566928"/>
          </a:xfrm>
          <a:prstGeom prst="rect">
            <a:avLst/>
          </a:prstGeom>
          <a:noFill/>
          <a:ln/>
        </p:spPr>
        <p:txBody>
          <a:bodyPr wrap="square" lIns="0" tIns="0" rIns="0" bIns="0" rtlCol="0" anchor="ctr"/>
          <a:lstStyle/>
          <a:p>
            <a:pPr marL="0" indent="0">
              <a:buNone/>
            </a:pPr>
            <a:r>
              <a:rPr lang="en-US" sz="1800" b="1" dirty="0">
                <a:solidFill>
                  <a:srgbClr val="10243E"/>
                </a:solidFill>
                <a:latin typeface="Calibri" pitchFamily="34" charset="0"/>
                <a:ea typeface="Calibri" pitchFamily="34" charset="-122"/>
                <a:cs typeface="Calibri" pitchFamily="34" charset="-120"/>
              </a:rPr>
              <a:t>Production thinking</a:t>
            </a:r>
            <a:endParaRPr lang="en-US" sz="1800" dirty="0"/>
          </a:p>
        </p:txBody>
      </p:sp>
      <p:sp>
        <p:nvSpPr>
          <p:cNvPr id="34" name="Text 26"/>
          <p:cNvSpPr txBox="1"/>
          <p:nvPr/>
        </p:nvSpPr>
        <p:spPr>
          <a:xfrm>
            <a:off x="8302752" y="4892040"/>
            <a:ext cx="3108960" cy="960120"/>
          </a:xfrm>
          <a:prstGeom prst="rect">
            <a:avLst/>
          </a:prstGeom>
          <a:noFill/>
          <a:ln/>
        </p:spPr>
        <p:txBody>
          <a:bodyPr wrap="square" lIns="0" tIns="0" rIns="0" bIns="0" rtlCol="0" anchor="t"/>
          <a:lstStyle/>
          <a:p>
            <a:pPr marL="0" indent="0">
              <a:buNone/>
            </a:pPr>
            <a:r>
              <a:rPr lang="en-US" sz="1400" dirty="0">
                <a:solidFill>
                  <a:srgbClr val="5B6B82"/>
                </a:solidFill>
                <a:latin typeface="Calibri" pitchFamily="34" charset="0"/>
                <a:ea typeface="Calibri" pitchFamily="34" charset="-122"/>
                <a:cs typeface="Calibri" pitchFamily="34" charset="-120"/>
              </a:rPr>
              <a:t>Separating training, inference, API and UI makes it reusable.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6 · FUTURE SCOPE</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If we had one more day — and what comes after</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19</a:t>
            </a:r>
            <a:endParaRPr lang="en-US" sz="1100" dirty="0"/>
          </a:p>
        </p:txBody>
      </p:sp>
      <p:sp>
        <p:nvSpPr>
          <p:cNvPr id="5" name="Shape 3"/>
          <p:cNvSpPr/>
          <p:nvPr/>
        </p:nvSpPr>
        <p:spPr>
          <a:xfrm>
            <a:off x="548640" y="1737360"/>
            <a:ext cx="3566160" cy="4389120"/>
          </a:xfrm>
          <a:prstGeom prst="roundRect">
            <a:avLst>
              <a:gd name="adj" fmla="val 256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Shape 4"/>
          <p:cNvSpPr/>
          <p:nvPr/>
        </p:nvSpPr>
        <p:spPr>
          <a:xfrm>
            <a:off x="777240" y="1965960"/>
            <a:ext cx="1554480" cy="347472"/>
          </a:xfrm>
          <a:prstGeom prst="roundRect">
            <a:avLst>
              <a:gd name="adj" fmla="val 50000"/>
            </a:avLst>
          </a:prstGeom>
          <a:solidFill>
            <a:srgbClr val="2563EB"/>
          </a:solidFill>
          <a:ln w="12700">
            <a:solidFill>
              <a:srgbClr val="2563EB"/>
            </a:solidFill>
            <a:prstDash val="solid"/>
          </a:ln>
        </p:spPr>
      </p:sp>
      <p:sp>
        <p:nvSpPr>
          <p:cNvPr id="7" name="Text 5"/>
          <p:cNvSpPr txBox="1"/>
          <p:nvPr/>
        </p:nvSpPr>
        <p:spPr>
          <a:xfrm>
            <a:off x="777240" y="1965960"/>
            <a:ext cx="1554480" cy="347472"/>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ONE MORE DAY</a:t>
            </a:r>
            <a:endParaRPr lang="en-US" sz="1200" dirty="0"/>
          </a:p>
        </p:txBody>
      </p:sp>
      <p:sp>
        <p:nvSpPr>
          <p:cNvPr id="8" name="Text 6"/>
          <p:cNvSpPr txBox="1"/>
          <p:nvPr/>
        </p:nvSpPr>
        <p:spPr>
          <a:xfrm>
            <a:off x="777240" y="2514600"/>
            <a:ext cx="3108960" cy="457200"/>
          </a:xfrm>
          <a:prstGeom prst="rect">
            <a:avLst/>
          </a:prstGeom>
          <a:noFill/>
          <a:ln/>
        </p:spPr>
        <p:txBody>
          <a:bodyPr wrap="square" lIns="0" tIns="0" rIns="0" bIns="0" rtlCol="0" anchor="ctr"/>
          <a:lstStyle/>
          <a:p>
            <a:pPr marL="0" indent="0">
              <a:buNone/>
            </a:pPr>
            <a:r>
              <a:rPr lang="en-US" sz="2200" b="1" dirty="0">
                <a:solidFill>
                  <a:srgbClr val="10243E"/>
                </a:solidFill>
                <a:latin typeface="Calibri" pitchFamily="34" charset="0"/>
                <a:ea typeface="Calibri" pitchFamily="34" charset="-122"/>
                <a:cs typeface="Calibri" pitchFamily="34" charset="-120"/>
              </a:rPr>
              <a:t>Quick wins</a:t>
            </a:r>
            <a:endParaRPr lang="en-US" sz="2200" dirty="0"/>
          </a:p>
        </p:txBody>
      </p:sp>
      <p:sp>
        <p:nvSpPr>
          <p:cNvPr id="9" name="Text 7"/>
          <p:cNvSpPr/>
          <p:nvPr/>
        </p:nvSpPr>
        <p:spPr>
          <a:xfrm>
            <a:off x="777240" y="3200400"/>
            <a:ext cx="365760" cy="365760"/>
          </a:xfrm>
          <a:prstGeom prst="ellipse">
            <a:avLst/>
          </a:prstGeom>
          <a:solidFill>
            <a:srgbClr val="2563EB"/>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325880" y="312724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Calibrate classifier confidence</a:t>
            </a:r>
            <a:endParaRPr lang="en-US" sz="1500" dirty="0"/>
          </a:p>
        </p:txBody>
      </p:sp>
      <p:sp>
        <p:nvSpPr>
          <p:cNvPr id="11" name="Text 9"/>
          <p:cNvSpPr/>
          <p:nvPr/>
        </p:nvSpPr>
        <p:spPr>
          <a:xfrm>
            <a:off x="777240" y="4160520"/>
            <a:ext cx="365760" cy="365760"/>
          </a:xfrm>
          <a:prstGeom prst="ellipse">
            <a:avLst/>
          </a:prstGeom>
          <a:solidFill>
            <a:srgbClr val="2563EB"/>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25880" y="408736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Add word segmentation for spaceless descriptions</a:t>
            </a:r>
            <a:endParaRPr lang="en-US" sz="1500" dirty="0"/>
          </a:p>
        </p:txBody>
      </p:sp>
      <p:sp>
        <p:nvSpPr>
          <p:cNvPr id="13" name="Text 11"/>
          <p:cNvSpPr/>
          <p:nvPr/>
        </p:nvSpPr>
        <p:spPr>
          <a:xfrm>
            <a:off x="777240" y="5120640"/>
            <a:ext cx="365760" cy="365760"/>
          </a:xfrm>
          <a:prstGeom prst="ellipse">
            <a:avLst/>
          </a:prstGeom>
          <a:solidFill>
            <a:srgbClr val="2563EB"/>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25880" y="504748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Tune risk weights and thresholds on labelled outcomes</a:t>
            </a:r>
            <a:endParaRPr lang="en-US" sz="1500" dirty="0"/>
          </a:p>
        </p:txBody>
      </p:sp>
      <p:sp>
        <p:nvSpPr>
          <p:cNvPr id="15" name="Shape 13"/>
          <p:cNvSpPr/>
          <p:nvPr/>
        </p:nvSpPr>
        <p:spPr>
          <a:xfrm>
            <a:off x="4311396" y="1737360"/>
            <a:ext cx="3566160" cy="4389120"/>
          </a:xfrm>
          <a:prstGeom prst="roundRect">
            <a:avLst>
              <a:gd name="adj" fmla="val 256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6" name="Shape 14"/>
          <p:cNvSpPr/>
          <p:nvPr/>
        </p:nvSpPr>
        <p:spPr>
          <a:xfrm>
            <a:off x="4539996" y="1965960"/>
            <a:ext cx="1554480" cy="347472"/>
          </a:xfrm>
          <a:prstGeom prst="roundRect">
            <a:avLst>
              <a:gd name="adj" fmla="val 50000"/>
            </a:avLst>
          </a:prstGeom>
          <a:solidFill>
            <a:srgbClr val="3B6FD8"/>
          </a:solidFill>
          <a:ln w="12700">
            <a:solidFill>
              <a:srgbClr val="3B6FD8"/>
            </a:solidFill>
            <a:prstDash val="solid"/>
          </a:ln>
        </p:spPr>
      </p:sp>
      <p:sp>
        <p:nvSpPr>
          <p:cNvPr id="17" name="Text 15"/>
          <p:cNvSpPr txBox="1"/>
          <p:nvPr/>
        </p:nvSpPr>
        <p:spPr>
          <a:xfrm>
            <a:off x="4539996" y="1965960"/>
            <a:ext cx="1554480" cy="347472"/>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NEXT</a:t>
            </a:r>
            <a:endParaRPr lang="en-US" sz="1200" dirty="0"/>
          </a:p>
        </p:txBody>
      </p:sp>
      <p:sp>
        <p:nvSpPr>
          <p:cNvPr id="18" name="Text 16"/>
          <p:cNvSpPr txBox="1"/>
          <p:nvPr/>
        </p:nvSpPr>
        <p:spPr>
          <a:xfrm>
            <a:off x="4539996" y="2514600"/>
            <a:ext cx="3108960" cy="457200"/>
          </a:xfrm>
          <a:prstGeom prst="rect">
            <a:avLst/>
          </a:prstGeom>
          <a:noFill/>
          <a:ln/>
        </p:spPr>
        <p:txBody>
          <a:bodyPr wrap="square" lIns="0" tIns="0" rIns="0" bIns="0" rtlCol="0" anchor="ctr"/>
          <a:lstStyle/>
          <a:p>
            <a:pPr marL="0" indent="0">
              <a:buNone/>
            </a:pPr>
            <a:r>
              <a:rPr lang="en-US" sz="2200" b="1" dirty="0">
                <a:solidFill>
                  <a:srgbClr val="10243E"/>
                </a:solidFill>
                <a:latin typeface="Calibri" pitchFamily="34" charset="0"/>
                <a:ea typeface="Calibri" pitchFamily="34" charset="-122"/>
                <a:cs typeface="Calibri" pitchFamily="34" charset="-120"/>
              </a:rPr>
              <a:t>Improve the model</a:t>
            </a:r>
            <a:endParaRPr lang="en-US" sz="2200" dirty="0"/>
          </a:p>
        </p:txBody>
      </p:sp>
      <p:sp>
        <p:nvSpPr>
          <p:cNvPr id="19" name="Text 17"/>
          <p:cNvSpPr/>
          <p:nvPr/>
        </p:nvSpPr>
        <p:spPr>
          <a:xfrm>
            <a:off x="4539996" y="3200400"/>
            <a:ext cx="365760" cy="365760"/>
          </a:xfrm>
          <a:prstGeom prst="ellipse">
            <a:avLst/>
          </a:prstGeom>
          <a:solidFill>
            <a:srgbClr val="3B6FD8"/>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8"/>
          <p:cNvSpPr txBox="1"/>
          <p:nvPr/>
        </p:nvSpPr>
        <p:spPr>
          <a:xfrm>
            <a:off x="5088636" y="312724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Real OCR pipeline for scans</a:t>
            </a:r>
            <a:endParaRPr lang="en-US" sz="1500" dirty="0"/>
          </a:p>
        </p:txBody>
      </p:sp>
      <p:sp>
        <p:nvSpPr>
          <p:cNvPr id="21" name="Text 19"/>
          <p:cNvSpPr/>
          <p:nvPr/>
        </p:nvSpPr>
        <p:spPr>
          <a:xfrm>
            <a:off x="4539996" y="4160520"/>
            <a:ext cx="365760" cy="365760"/>
          </a:xfrm>
          <a:prstGeom prst="ellipse">
            <a:avLst/>
          </a:prstGeom>
          <a:solidFill>
            <a:srgbClr val="3B6FD8"/>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txBox="1"/>
          <p:nvPr/>
        </p:nvSpPr>
        <p:spPr>
          <a:xfrm>
            <a:off x="5088636" y="408736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Transformer / BERT embeddings</a:t>
            </a:r>
            <a:endParaRPr lang="en-US" sz="1500" dirty="0"/>
          </a:p>
        </p:txBody>
      </p:sp>
      <p:sp>
        <p:nvSpPr>
          <p:cNvPr id="23" name="Text 21"/>
          <p:cNvSpPr/>
          <p:nvPr/>
        </p:nvSpPr>
        <p:spPr>
          <a:xfrm>
            <a:off x="4539996" y="5120640"/>
            <a:ext cx="365760" cy="365760"/>
          </a:xfrm>
          <a:prstGeom prst="ellipse">
            <a:avLst/>
          </a:prstGeom>
          <a:solidFill>
            <a:srgbClr val="3B6FD8"/>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5088636" y="504748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Expanded coverage taxonomy</a:t>
            </a:r>
            <a:endParaRPr lang="en-US" sz="1500" dirty="0"/>
          </a:p>
        </p:txBody>
      </p:sp>
      <p:sp>
        <p:nvSpPr>
          <p:cNvPr id="25" name="Shape 23"/>
          <p:cNvSpPr/>
          <p:nvPr/>
        </p:nvSpPr>
        <p:spPr>
          <a:xfrm>
            <a:off x="8074152" y="1737360"/>
            <a:ext cx="3566160" cy="4389120"/>
          </a:xfrm>
          <a:prstGeom prst="roundRect">
            <a:avLst>
              <a:gd name="adj" fmla="val 2564"/>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Shape 24"/>
          <p:cNvSpPr/>
          <p:nvPr/>
        </p:nvSpPr>
        <p:spPr>
          <a:xfrm>
            <a:off x="8302752" y="1965960"/>
            <a:ext cx="1554480" cy="347472"/>
          </a:xfrm>
          <a:prstGeom prst="roundRect">
            <a:avLst>
              <a:gd name="adj" fmla="val 50000"/>
            </a:avLst>
          </a:prstGeom>
          <a:solidFill>
            <a:srgbClr val="10243E"/>
          </a:solidFill>
          <a:ln w="12700">
            <a:solidFill>
              <a:srgbClr val="10243E"/>
            </a:solidFill>
            <a:prstDash val="solid"/>
          </a:ln>
        </p:spPr>
      </p:sp>
      <p:sp>
        <p:nvSpPr>
          <p:cNvPr id="27" name="Text 25"/>
          <p:cNvSpPr txBox="1"/>
          <p:nvPr/>
        </p:nvSpPr>
        <p:spPr>
          <a:xfrm>
            <a:off x="8302752" y="1965960"/>
            <a:ext cx="1554480" cy="347472"/>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AT SCALE</a:t>
            </a:r>
            <a:endParaRPr lang="en-US" sz="1200" dirty="0"/>
          </a:p>
        </p:txBody>
      </p:sp>
      <p:sp>
        <p:nvSpPr>
          <p:cNvPr id="28" name="Text 26"/>
          <p:cNvSpPr txBox="1"/>
          <p:nvPr/>
        </p:nvSpPr>
        <p:spPr>
          <a:xfrm>
            <a:off x="8302752" y="2514600"/>
            <a:ext cx="3108960" cy="457200"/>
          </a:xfrm>
          <a:prstGeom prst="rect">
            <a:avLst/>
          </a:prstGeom>
          <a:noFill/>
          <a:ln/>
        </p:spPr>
        <p:txBody>
          <a:bodyPr wrap="square" lIns="0" tIns="0" rIns="0" bIns="0" rtlCol="0" anchor="ctr"/>
          <a:lstStyle/>
          <a:p>
            <a:pPr marL="0" indent="0">
              <a:buNone/>
            </a:pPr>
            <a:r>
              <a:rPr lang="en-US" sz="2200" b="1" dirty="0">
                <a:solidFill>
                  <a:srgbClr val="10243E"/>
                </a:solidFill>
                <a:latin typeface="Calibri" pitchFamily="34" charset="0"/>
                <a:ea typeface="Calibri" pitchFamily="34" charset="-122"/>
                <a:cs typeface="Calibri" pitchFamily="34" charset="-120"/>
              </a:rPr>
              <a:t>Industrialize</a:t>
            </a:r>
            <a:endParaRPr lang="en-US" sz="2200" dirty="0"/>
          </a:p>
        </p:txBody>
      </p:sp>
      <p:sp>
        <p:nvSpPr>
          <p:cNvPr id="29" name="Text 27"/>
          <p:cNvSpPr/>
          <p:nvPr/>
        </p:nvSpPr>
        <p:spPr>
          <a:xfrm>
            <a:off x="8302752" y="3200400"/>
            <a:ext cx="365760" cy="365760"/>
          </a:xfrm>
          <a:prstGeom prst="ellipse">
            <a:avLst/>
          </a:prstGeom>
          <a:solidFill>
            <a:srgbClr val="10243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0" name="Text 28"/>
          <p:cNvSpPr txBox="1"/>
          <p:nvPr/>
        </p:nvSpPr>
        <p:spPr>
          <a:xfrm>
            <a:off x="8851392" y="312724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Cloud deployment with monitoring</a:t>
            </a:r>
            <a:endParaRPr lang="en-US" sz="1500" dirty="0"/>
          </a:p>
        </p:txBody>
      </p:sp>
      <p:sp>
        <p:nvSpPr>
          <p:cNvPr id="31" name="Text 29"/>
          <p:cNvSpPr/>
          <p:nvPr/>
        </p:nvSpPr>
        <p:spPr>
          <a:xfrm>
            <a:off x="8302752" y="4160520"/>
            <a:ext cx="365760" cy="365760"/>
          </a:xfrm>
          <a:prstGeom prst="ellipse">
            <a:avLst/>
          </a:prstGeom>
          <a:solidFill>
            <a:srgbClr val="10243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8851392" y="408736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Authentication and audit trail</a:t>
            </a:r>
            <a:endParaRPr lang="en-US" sz="1500" dirty="0"/>
          </a:p>
        </p:txBody>
      </p:sp>
      <p:sp>
        <p:nvSpPr>
          <p:cNvPr id="33" name="Text 31"/>
          <p:cNvSpPr/>
          <p:nvPr/>
        </p:nvSpPr>
        <p:spPr>
          <a:xfrm>
            <a:off x="8302752" y="5120640"/>
            <a:ext cx="365760" cy="365760"/>
          </a:xfrm>
          <a:prstGeom prst="ellipse">
            <a:avLst/>
          </a:prstGeom>
          <a:solidFill>
            <a:srgbClr val="10243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4" name="Text 32"/>
          <p:cNvSpPr txBox="1"/>
          <p:nvPr/>
        </p:nvSpPr>
        <p:spPr>
          <a:xfrm>
            <a:off x="8851392" y="5047488"/>
            <a:ext cx="2606040" cy="822960"/>
          </a:xfrm>
          <a:prstGeom prst="rect">
            <a:avLst/>
          </a:prstGeom>
          <a:noFill/>
          <a:ln/>
        </p:spPr>
        <p:txBody>
          <a:bodyPr wrap="square" lIns="0" tIns="0" rIns="0" bIns="0" rtlCol="0" anchor="t"/>
          <a:lstStyle/>
          <a:p>
            <a:pPr marL="0" indent="0">
              <a:buNone/>
            </a:pPr>
            <a:r>
              <a:rPr lang="en-US" sz="1500" dirty="0">
                <a:solidFill>
                  <a:srgbClr val="10243E"/>
                </a:solidFill>
                <a:latin typeface="Calibri" pitchFamily="34" charset="0"/>
                <a:ea typeface="Calibri" pitchFamily="34" charset="-122"/>
                <a:cs typeface="Calibri" pitchFamily="34" charset="-120"/>
              </a:rPr>
              <a:t>Human feedback loop and claims-platform integration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10243E"/>
        </a:solidFill>
        <a:effectLst/>
      </p:bgPr>
    </p:bg>
    <p:spTree>
      <p:nvGrpSpPr>
        <p:cNvPr id="1" name=""/>
        <p:cNvGrpSpPr/>
        <p:nvPr/>
      </p:nvGrpSpPr>
      <p:grpSpPr>
        <a:xfrm>
          <a:off x="0" y="0"/>
          <a:ext cx="0" cy="0"/>
          <a:chOff x="0" y="0"/>
          <a:chExt cx="0" cy="0"/>
        </a:xfrm>
      </p:grpSpPr>
      <p:sp>
        <p:nvSpPr>
          <p:cNvPr id="2" name="Text 0"/>
          <p:cNvSpPr txBox="1"/>
          <p:nvPr/>
        </p:nvSpPr>
        <p:spPr>
          <a:xfrm>
            <a:off x="731520" y="548640"/>
            <a:ext cx="5486400" cy="274320"/>
          </a:xfrm>
          <a:prstGeom prst="rect">
            <a:avLst/>
          </a:prstGeom>
          <a:noFill/>
          <a:ln/>
        </p:spPr>
        <p:txBody>
          <a:bodyPr wrap="square" lIns="0" tIns="0" rIns="0" bIns="0" rtlCol="0" anchor="ctr"/>
          <a:lstStyle/>
          <a:p>
            <a:pPr marL="0" indent="0">
              <a:buNone/>
            </a:pPr>
            <a:r>
              <a:rPr lang="en-US" sz="1200" b="1" kern="0" spc="300" dirty="0">
                <a:solidFill>
                  <a:srgbClr val="93B4F5"/>
                </a:solidFill>
                <a:latin typeface="Calibri" pitchFamily="34" charset="0"/>
                <a:ea typeface="Calibri" pitchFamily="34" charset="-122"/>
                <a:cs typeface="Calibri" pitchFamily="34" charset="-120"/>
              </a:rPr>
              <a:t>7 · CONCLUSION</a:t>
            </a:r>
            <a:endParaRPr lang="en-US" sz="1200" dirty="0"/>
          </a:p>
        </p:txBody>
      </p:sp>
      <p:sp>
        <p:nvSpPr>
          <p:cNvPr id="3" name="Text 1"/>
          <p:cNvSpPr txBox="1"/>
          <p:nvPr/>
        </p:nvSpPr>
        <p:spPr>
          <a:xfrm>
            <a:off x="731520" y="1371600"/>
            <a:ext cx="5486400" cy="310896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Trustworthy claims AI needs models, evidence, transparent logic — and humans.</a:t>
            </a:r>
            <a:endParaRPr lang="en-US" sz="3800" dirty="0"/>
          </a:p>
        </p:txBody>
      </p:sp>
      <p:sp>
        <p:nvSpPr>
          <p:cNvPr id="4" name="Text 2"/>
          <p:cNvSpPr txBox="1"/>
          <p:nvPr/>
        </p:nvSpPr>
        <p:spPr>
          <a:xfrm>
            <a:off x="731520" y="4937760"/>
            <a:ext cx="5486400" cy="731520"/>
          </a:xfrm>
          <a:prstGeom prst="rect">
            <a:avLst/>
          </a:prstGeom>
          <a:noFill/>
          <a:ln/>
        </p:spPr>
        <p:txBody>
          <a:bodyPr wrap="square" lIns="0" tIns="0" rIns="0" bIns="0" rtlCol="0" anchor="t"/>
          <a:lstStyle/>
          <a:p>
            <a:pPr marL="0" indent="0">
              <a:buNone/>
            </a:pPr>
            <a:r>
              <a:rPr lang="en-US" sz="1800" dirty="0">
                <a:solidFill>
                  <a:srgbClr val="93B4F5"/>
                </a:solidFill>
                <a:latin typeface="Calibri" pitchFamily="34" charset="0"/>
                <a:ea typeface="Calibri" pitchFamily="34" charset="-122"/>
                <a:cs typeface="Calibri" pitchFamily="34" charset="-120"/>
              </a:rPr>
              <a:t>AI-assisted. Explainable. Scalable. Human-controlled.</a:t>
            </a:r>
            <a:endParaRPr lang="en-US" sz="1800" dirty="0"/>
          </a:p>
        </p:txBody>
      </p:sp>
      <p:sp>
        <p:nvSpPr>
          <p:cNvPr id="5" name="Shape 3"/>
          <p:cNvSpPr/>
          <p:nvPr/>
        </p:nvSpPr>
        <p:spPr>
          <a:xfrm>
            <a:off x="6949440" y="1371600"/>
            <a:ext cx="4690872" cy="1508760"/>
          </a:xfrm>
          <a:prstGeom prst="roundRect">
            <a:avLst>
              <a:gd name="adj" fmla="val 7273"/>
            </a:avLst>
          </a:prstGeom>
          <a:solidFill>
            <a:srgbClr val="1B3557"/>
          </a:solidFill>
          <a:ln w="12700">
            <a:solidFill>
              <a:srgbClr val="2E4E7C"/>
            </a:solidFill>
            <a:prstDash val="solid"/>
          </a:ln>
        </p:spPr>
      </p:sp>
      <p:sp>
        <p:nvSpPr>
          <p:cNvPr id="6" name="Text 4"/>
          <p:cNvSpPr/>
          <p:nvPr/>
        </p:nvSpPr>
        <p:spPr>
          <a:xfrm>
            <a:off x="7178040" y="160020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863840" y="1572768"/>
            <a:ext cx="356616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One workflow</a:t>
            </a:r>
            <a:endParaRPr lang="en-US" sz="2000" dirty="0"/>
          </a:p>
        </p:txBody>
      </p:sp>
      <p:sp>
        <p:nvSpPr>
          <p:cNvPr id="8" name="Text 6"/>
          <p:cNvSpPr txBox="1"/>
          <p:nvPr/>
        </p:nvSpPr>
        <p:spPr>
          <a:xfrm>
            <a:off x="7863840" y="2011680"/>
            <a:ext cx="3566160"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Intake, prediction, retrieval, risk and routing in a single, testable flow.</a:t>
            </a:r>
            <a:endParaRPr lang="en-US" sz="1400" dirty="0"/>
          </a:p>
        </p:txBody>
      </p:sp>
      <p:sp>
        <p:nvSpPr>
          <p:cNvPr id="9" name="Shape 7"/>
          <p:cNvSpPr/>
          <p:nvPr/>
        </p:nvSpPr>
        <p:spPr>
          <a:xfrm>
            <a:off x="6949440" y="3063240"/>
            <a:ext cx="4690872" cy="1508760"/>
          </a:xfrm>
          <a:prstGeom prst="roundRect">
            <a:avLst>
              <a:gd name="adj" fmla="val 7273"/>
            </a:avLst>
          </a:prstGeom>
          <a:solidFill>
            <a:srgbClr val="1B3557"/>
          </a:solidFill>
          <a:ln w="12700">
            <a:solidFill>
              <a:srgbClr val="2E4E7C"/>
            </a:solidFill>
            <a:prstDash val="solid"/>
          </a:ln>
        </p:spPr>
      </p:sp>
      <p:sp>
        <p:nvSpPr>
          <p:cNvPr id="10" name="Text 8"/>
          <p:cNvSpPr/>
          <p:nvPr/>
        </p:nvSpPr>
        <p:spPr>
          <a:xfrm>
            <a:off x="7178040" y="329184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7863840" y="3264408"/>
            <a:ext cx="356616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Explainable by design</a:t>
            </a:r>
            <a:endParaRPr lang="en-US" sz="2000" dirty="0"/>
          </a:p>
        </p:txBody>
      </p:sp>
      <p:sp>
        <p:nvSpPr>
          <p:cNvPr id="12" name="Text 10"/>
          <p:cNvSpPr txBox="1"/>
          <p:nvPr/>
        </p:nvSpPr>
        <p:spPr>
          <a:xfrm>
            <a:off x="7863840" y="3703320"/>
            <a:ext cx="3566160"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Every status has a rule-based reason; the LLM only puts it in plain words.</a:t>
            </a:r>
            <a:endParaRPr lang="en-US" sz="1400" dirty="0"/>
          </a:p>
        </p:txBody>
      </p:sp>
      <p:sp>
        <p:nvSpPr>
          <p:cNvPr id="13" name="Shape 11"/>
          <p:cNvSpPr/>
          <p:nvPr/>
        </p:nvSpPr>
        <p:spPr>
          <a:xfrm>
            <a:off x="6949440" y="4754880"/>
            <a:ext cx="4690872" cy="1508760"/>
          </a:xfrm>
          <a:prstGeom prst="roundRect">
            <a:avLst>
              <a:gd name="adj" fmla="val 7273"/>
            </a:avLst>
          </a:prstGeom>
          <a:solidFill>
            <a:srgbClr val="1B3557"/>
          </a:solidFill>
          <a:ln w="12700">
            <a:solidFill>
              <a:srgbClr val="2E4E7C"/>
            </a:solidFill>
            <a:prstDash val="solid"/>
          </a:ln>
        </p:spPr>
      </p:sp>
      <p:sp>
        <p:nvSpPr>
          <p:cNvPr id="14" name="Text 12"/>
          <p:cNvSpPr/>
          <p:nvPr/>
        </p:nvSpPr>
        <p:spPr>
          <a:xfrm>
            <a:off x="7178040" y="4983480"/>
            <a:ext cx="457200" cy="457200"/>
          </a:xfrm>
          <a:prstGeom prst="ellipse">
            <a:avLst/>
          </a:prstGeom>
          <a:solidFill>
            <a:srgbClr val="2563EB"/>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7863840" y="4956048"/>
            <a:ext cx="3566160" cy="3657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Humans stay in control</a:t>
            </a:r>
            <a:endParaRPr lang="en-US" sz="2000" dirty="0"/>
          </a:p>
        </p:txBody>
      </p:sp>
      <p:sp>
        <p:nvSpPr>
          <p:cNvPr id="16" name="Text 14"/>
          <p:cNvSpPr txBox="1"/>
          <p:nvPr/>
        </p:nvSpPr>
        <p:spPr>
          <a:xfrm>
            <a:off x="7863840" y="5394960"/>
            <a:ext cx="3566160" cy="77724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The system prioritises review; assessors make the final call.</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5F8FC"/>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200" b="1" kern="0" spc="300" dirty="0">
                <a:solidFill>
                  <a:srgbClr val="2563EB"/>
                </a:solidFill>
                <a:latin typeface="Calibri" pitchFamily="34" charset="0"/>
                <a:ea typeface="Calibri" pitchFamily="34" charset="-122"/>
                <a:cs typeface="Calibri" pitchFamily="34" charset="-120"/>
              </a:rPr>
              <a:t>8 · DEMO</a:t>
            </a:r>
            <a:endParaRPr lang="en-US" sz="1200" dirty="0"/>
          </a:p>
        </p:txBody>
      </p:sp>
      <p:sp>
        <p:nvSpPr>
          <p:cNvPr id="3" name="Text 1"/>
          <p:cNvSpPr txBox="1"/>
          <p:nvPr/>
        </p:nvSpPr>
        <p:spPr>
          <a:xfrm>
            <a:off x="548640" y="640080"/>
            <a:ext cx="11064240" cy="914400"/>
          </a:xfrm>
          <a:prstGeom prst="rect">
            <a:avLst/>
          </a:prstGeom>
          <a:noFill/>
          <a:ln/>
        </p:spPr>
        <p:txBody>
          <a:bodyPr wrap="square" lIns="0" tIns="0" rIns="0" bIns="0" rtlCol="0" anchor="t"/>
          <a:lstStyle/>
          <a:p>
            <a:pPr marL="0" indent="0">
              <a:buNone/>
            </a:pPr>
            <a:r>
              <a:rPr lang="en-US" sz="3000" b="1" dirty="0">
                <a:solidFill>
                  <a:srgbClr val="10243E"/>
                </a:solidFill>
                <a:latin typeface="Calibri" pitchFamily="34" charset="0"/>
                <a:ea typeface="Calibri" pitchFamily="34" charset="-122"/>
                <a:cs typeface="Calibri" pitchFamily="34" charset="-120"/>
              </a:rPr>
              <a:t>Live demo: from uploaded claim to routing decision</a:t>
            </a:r>
            <a:endParaRPr lang="en-US" sz="3000" dirty="0"/>
          </a:p>
        </p:txBody>
      </p:sp>
      <p:sp>
        <p:nvSpPr>
          <p:cNvPr id="4" name="Text 2"/>
          <p:cNvSpPr txBox="1"/>
          <p:nvPr/>
        </p:nvSpPr>
        <p:spPr>
          <a:xfrm>
            <a:off x="11155680" y="6419088"/>
            <a:ext cx="484632" cy="274320"/>
          </a:xfrm>
          <a:prstGeom prst="rect">
            <a:avLst/>
          </a:prstGeom>
          <a:noFill/>
          <a:ln/>
        </p:spPr>
        <p:txBody>
          <a:bodyPr wrap="square" lIns="0" tIns="0" rIns="0" bIns="0" rtlCol="0" anchor="ctr"/>
          <a:lstStyle/>
          <a:p>
            <a:pPr marL="0" indent="0" algn="r">
              <a:buNone/>
            </a:pPr>
            <a:r>
              <a:rPr lang="en-US" sz="1100" dirty="0">
                <a:solidFill>
                  <a:srgbClr val="5B6B82"/>
                </a:solidFill>
                <a:latin typeface="Calibri" pitchFamily="34" charset="0"/>
                <a:ea typeface="Calibri" pitchFamily="34" charset="-122"/>
                <a:cs typeface="Calibri" pitchFamily="34" charset="-120"/>
              </a:rPr>
              <a:t>21</a:t>
            </a:r>
            <a:endParaRPr lang="en-US" sz="1100" dirty="0"/>
          </a:p>
        </p:txBody>
      </p:sp>
      <p:sp>
        <p:nvSpPr>
          <p:cNvPr id="5" name="Shape 3"/>
          <p:cNvSpPr/>
          <p:nvPr/>
        </p:nvSpPr>
        <p:spPr>
          <a:xfrm>
            <a:off x="548640" y="1737360"/>
            <a:ext cx="1691640" cy="1463040"/>
          </a:xfrm>
          <a:prstGeom prst="roundRect">
            <a:avLst>
              <a:gd name="adj" fmla="val 625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6" name="Text 4"/>
          <p:cNvSpPr/>
          <p:nvPr/>
        </p:nvSpPr>
        <p:spPr>
          <a:xfrm>
            <a:off x="1184148" y="187452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594360" y="2395728"/>
            <a:ext cx="1600200" cy="320040"/>
          </a:xfrm>
          <a:prstGeom prst="rect">
            <a:avLst/>
          </a:prstGeom>
          <a:noFill/>
          <a:ln/>
        </p:spPr>
        <p:txBody>
          <a:bodyPr wrap="square" lIns="0" tIns="0" rIns="0" bIns="0" rtlCol="0" anchor="ctr"/>
          <a:lstStyle/>
          <a:p>
            <a:pPr marL="0" indent="0" algn="ctr">
              <a:buNone/>
            </a:pPr>
            <a:r>
              <a:rPr lang="en-US" sz="1500" b="1" dirty="0">
                <a:solidFill>
                  <a:srgbClr val="10243E"/>
                </a:solidFill>
                <a:latin typeface="Calibri" pitchFamily="34" charset="0"/>
                <a:ea typeface="Calibri" pitchFamily="34" charset="-122"/>
                <a:cs typeface="Calibri" pitchFamily="34" charset="-120"/>
              </a:rPr>
              <a:t>Upload PDF</a:t>
            </a:r>
            <a:endParaRPr lang="en-US" sz="1500" dirty="0"/>
          </a:p>
        </p:txBody>
      </p:sp>
      <p:sp>
        <p:nvSpPr>
          <p:cNvPr id="8" name="Text 6"/>
          <p:cNvSpPr txBox="1"/>
          <p:nvPr/>
        </p:nvSpPr>
        <p:spPr>
          <a:xfrm>
            <a:off x="594360" y="2724912"/>
            <a:ext cx="1600200" cy="32004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Claim form</a:t>
            </a:r>
            <a:endParaRPr lang="en-US" sz="1200" dirty="0"/>
          </a:p>
        </p:txBody>
      </p:sp>
      <p:sp>
        <p:nvSpPr>
          <p:cNvPr id="9" name="Shape 7"/>
          <p:cNvSpPr/>
          <p:nvPr/>
        </p:nvSpPr>
        <p:spPr>
          <a:xfrm>
            <a:off x="2249424" y="2468880"/>
            <a:ext cx="170078" cy="0"/>
          </a:xfrm>
          <a:prstGeom prst="line">
            <a:avLst/>
          </a:prstGeom>
          <a:noFill/>
          <a:ln w="22225">
            <a:solidFill>
              <a:srgbClr val="2563EB"/>
            </a:solidFill>
            <a:prstDash val="solid"/>
            <a:tailEnd type="triangle"/>
          </a:ln>
        </p:spPr>
      </p:sp>
      <p:sp>
        <p:nvSpPr>
          <p:cNvPr id="10" name="Shape 8"/>
          <p:cNvSpPr/>
          <p:nvPr/>
        </p:nvSpPr>
        <p:spPr>
          <a:xfrm>
            <a:off x="2428646" y="1737360"/>
            <a:ext cx="1691640" cy="1463040"/>
          </a:xfrm>
          <a:prstGeom prst="roundRect">
            <a:avLst>
              <a:gd name="adj" fmla="val 625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1" name="Text 9"/>
          <p:cNvSpPr/>
          <p:nvPr/>
        </p:nvSpPr>
        <p:spPr>
          <a:xfrm>
            <a:off x="3064154" y="187452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2474366" y="2395728"/>
            <a:ext cx="1600200" cy="320040"/>
          </a:xfrm>
          <a:prstGeom prst="rect">
            <a:avLst/>
          </a:prstGeom>
          <a:noFill/>
          <a:ln/>
        </p:spPr>
        <p:txBody>
          <a:bodyPr wrap="square" lIns="0" tIns="0" rIns="0" bIns="0" rtlCol="0" anchor="ctr"/>
          <a:lstStyle/>
          <a:p>
            <a:pPr marL="0" indent="0" algn="ctr">
              <a:buNone/>
            </a:pPr>
            <a:r>
              <a:rPr lang="en-US" sz="1500" b="1" dirty="0">
                <a:solidFill>
                  <a:srgbClr val="10243E"/>
                </a:solidFill>
                <a:latin typeface="Calibri" pitchFamily="34" charset="0"/>
                <a:ea typeface="Calibri" pitchFamily="34" charset="-122"/>
                <a:cs typeface="Calibri" pitchFamily="34" charset="-120"/>
              </a:rPr>
              <a:t>Extract text</a:t>
            </a:r>
            <a:endParaRPr lang="en-US" sz="1500" dirty="0"/>
          </a:p>
        </p:txBody>
      </p:sp>
      <p:sp>
        <p:nvSpPr>
          <p:cNvPr id="13" name="Text 11"/>
          <p:cNvSpPr txBox="1"/>
          <p:nvPr/>
        </p:nvSpPr>
        <p:spPr>
          <a:xfrm>
            <a:off x="2474366" y="2724912"/>
            <a:ext cx="1600200" cy="32004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PDF / OCR</a:t>
            </a:r>
            <a:endParaRPr lang="en-US" sz="1200" dirty="0"/>
          </a:p>
        </p:txBody>
      </p:sp>
      <p:sp>
        <p:nvSpPr>
          <p:cNvPr id="14" name="Shape 12"/>
          <p:cNvSpPr/>
          <p:nvPr/>
        </p:nvSpPr>
        <p:spPr>
          <a:xfrm>
            <a:off x="4129430" y="2468880"/>
            <a:ext cx="170078" cy="0"/>
          </a:xfrm>
          <a:prstGeom prst="line">
            <a:avLst/>
          </a:prstGeom>
          <a:noFill/>
          <a:ln w="22225">
            <a:solidFill>
              <a:srgbClr val="2563EB"/>
            </a:solidFill>
            <a:prstDash val="solid"/>
            <a:tailEnd type="triangle"/>
          </a:ln>
        </p:spPr>
      </p:sp>
      <p:sp>
        <p:nvSpPr>
          <p:cNvPr id="15" name="Shape 13"/>
          <p:cNvSpPr/>
          <p:nvPr/>
        </p:nvSpPr>
        <p:spPr>
          <a:xfrm>
            <a:off x="4308653" y="1737360"/>
            <a:ext cx="1691640" cy="1463040"/>
          </a:xfrm>
          <a:prstGeom prst="roundRect">
            <a:avLst>
              <a:gd name="adj" fmla="val 625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16" name="Text 14"/>
          <p:cNvSpPr/>
          <p:nvPr/>
        </p:nvSpPr>
        <p:spPr>
          <a:xfrm>
            <a:off x="4944161" y="187452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4354373" y="2395728"/>
            <a:ext cx="1600200" cy="320040"/>
          </a:xfrm>
          <a:prstGeom prst="rect">
            <a:avLst/>
          </a:prstGeom>
          <a:noFill/>
          <a:ln/>
        </p:spPr>
        <p:txBody>
          <a:bodyPr wrap="square" lIns="0" tIns="0" rIns="0" bIns="0" rtlCol="0" anchor="ctr"/>
          <a:lstStyle/>
          <a:p>
            <a:pPr marL="0" indent="0" algn="ctr">
              <a:buNone/>
            </a:pPr>
            <a:r>
              <a:rPr lang="en-US" sz="1500" b="1" dirty="0">
                <a:solidFill>
                  <a:srgbClr val="10243E"/>
                </a:solidFill>
                <a:latin typeface="Calibri" pitchFamily="34" charset="0"/>
                <a:ea typeface="Calibri" pitchFamily="34" charset="-122"/>
                <a:cs typeface="Calibri" pitchFamily="34" charset="-120"/>
              </a:rPr>
              <a:t>Predict</a:t>
            </a:r>
            <a:endParaRPr lang="en-US" sz="1500" dirty="0"/>
          </a:p>
        </p:txBody>
      </p:sp>
      <p:sp>
        <p:nvSpPr>
          <p:cNvPr id="18" name="Text 16"/>
          <p:cNvSpPr txBox="1"/>
          <p:nvPr/>
        </p:nvSpPr>
        <p:spPr>
          <a:xfrm>
            <a:off x="4354373" y="2724912"/>
            <a:ext cx="1600200" cy="32004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Coverage</a:t>
            </a:r>
            <a:endParaRPr lang="en-US" sz="1200" dirty="0"/>
          </a:p>
        </p:txBody>
      </p:sp>
      <p:sp>
        <p:nvSpPr>
          <p:cNvPr id="19" name="Shape 17"/>
          <p:cNvSpPr/>
          <p:nvPr/>
        </p:nvSpPr>
        <p:spPr>
          <a:xfrm>
            <a:off x="6009437" y="2468880"/>
            <a:ext cx="170078" cy="0"/>
          </a:xfrm>
          <a:prstGeom prst="line">
            <a:avLst/>
          </a:prstGeom>
          <a:noFill/>
          <a:ln w="22225">
            <a:solidFill>
              <a:srgbClr val="2563EB"/>
            </a:solidFill>
            <a:prstDash val="solid"/>
            <a:tailEnd type="triangle"/>
          </a:ln>
        </p:spPr>
      </p:sp>
      <p:sp>
        <p:nvSpPr>
          <p:cNvPr id="20" name="Shape 18"/>
          <p:cNvSpPr/>
          <p:nvPr/>
        </p:nvSpPr>
        <p:spPr>
          <a:xfrm>
            <a:off x="6188659" y="1737360"/>
            <a:ext cx="1691640" cy="1463040"/>
          </a:xfrm>
          <a:prstGeom prst="roundRect">
            <a:avLst>
              <a:gd name="adj" fmla="val 625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1" name="Text 19"/>
          <p:cNvSpPr/>
          <p:nvPr/>
        </p:nvSpPr>
        <p:spPr>
          <a:xfrm>
            <a:off x="6824167" y="187452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234379" y="2395728"/>
            <a:ext cx="1600200" cy="320040"/>
          </a:xfrm>
          <a:prstGeom prst="rect">
            <a:avLst/>
          </a:prstGeom>
          <a:noFill/>
          <a:ln/>
        </p:spPr>
        <p:txBody>
          <a:bodyPr wrap="square" lIns="0" tIns="0" rIns="0" bIns="0" rtlCol="0" anchor="ctr"/>
          <a:lstStyle/>
          <a:p>
            <a:pPr marL="0" indent="0" algn="ctr">
              <a:buNone/>
            </a:pPr>
            <a:r>
              <a:rPr lang="en-US" sz="1500" b="1" dirty="0">
                <a:solidFill>
                  <a:srgbClr val="10243E"/>
                </a:solidFill>
                <a:latin typeface="Calibri" pitchFamily="34" charset="0"/>
                <a:ea typeface="Calibri" pitchFamily="34" charset="-122"/>
                <a:cs typeface="Calibri" pitchFamily="34" charset="-120"/>
              </a:rPr>
              <a:t>Retrieve</a:t>
            </a:r>
            <a:endParaRPr lang="en-US" sz="1500" dirty="0"/>
          </a:p>
        </p:txBody>
      </p:sp>
      <p:sp>
        <p:nvSpPr>
          <p:cNvPr id="23" name="Text 21"/>
          <p:cNvSpPr txBox="1"/>
          <p:nvPr/>
        </p:nvSpPr>
        <p:spPr>
          <a:xfrm>
            <a:off x="6234379" y="2724912"/>
            <a:ext cx="1600200" cy="32004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Historical peers</a:t>
            </a:r>
            <a:endParaRPr lang="en-US" sz="1200" dirty="0"/>
          </a:p>
        </p:txBody>
      </p:sp>
      <p:sp>
        <p:nvSpPr>
          <p:cNvPr id="24" name="Shape 22"/>
          <p:cNvSpPr/>
          <p:nvPr/>
        </p:nvSpPr>
        <p:spPr>
          <a:xfrm>
            <a:off x="7889443" y="2468880"/>
            <a:ext cx="170078" cy="0"/>
          </a:xfrm>
          <a:prstGeom prst="line">
            <a:avLst/>
          </a:prstGeom>
          <a:noFill/>
          <a:ln w="22225">
            <a:solidFill>
              <a:srgbClr val="2563EB"/>
            </a:solidFill>
            <a:prstDash val="solid"/>
            <a:tailEnd type="triangle"/>
          </a:ln>
        </p:spPr>
      </p:sp>
      <p:sp>
        <p:nvSpPr>
          <p:cNvPr id="25" name="Shape 23"/>
          <p:cNvSpPr/>
          <p:nvPr/>
        </p:nvSpPr>
        <p:spPr>
          <a:xfrm>
            <a:off x="8068666" y="1737360"/>
            <a:ext cx="1691640" cy="1463040"/>
          </a:xfrm>
          <a:prstGeom prst="roundRect">
            <a:avLst>
              <a:gd name="adj" fmla="val 625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26" name="Text 24"/>
          <p:cNvSpPr/>
          <p:nvPr/>
        </p:nvSpPr>
        <p:spPr>
          <a:xfrm>
            <a:off x="8704174" y="187452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8114386" y="2395728"/>
            <a:ext cx="1600200" cy="320040"/>
          </a:xfrm>
          <a:prstGeom prst="rect">
            <a:avLst/>
          </a:prstGeom>
          <a:noFill/>
          <a:ln/>
        </p:spPr>
        <p:txBody>
          <a:bodyPr wrap="square" lIns="0" tIns="0" rIns="0" bIns="0" rtlCol="0" anchor="ctr"/>
          <a:lstStyle/>
          <a:p>
            <a:pPr marL="0" indent="0" algn="ctr">
              <a:buNone/>
            </a:pPr>
            <a:r>
              <a:rPr lang="en-US" sz="1500" b="1" dirty="0">
                <a:solidFill>
                  <a:srgbClr val="10243E"/>
                </a:solidFill>
                <a:latin typeface="Calibri" pitchFamily="34" charset="0"/>
                <a:ea typeface="Calibri" pitchFamily="34" charset="-122"/>
                <a:cs typeface="Calibri" pitchFamily="34" charset="-120"/>
              </a:rPr>
              <a:t>Score</a:t>
            </a:r>
            <a:endParaRPr lang="en-US" sz="1500" dirty="0"/>
          </a:p>
        </p:txBody>
      </p:sp>
      <p:sp>
        <p:nvSpPr>
          <p:cNvPr id="28" name="Text 26"/>
          <p:cNvSpPr txBox="1"/>
          <p:nvPr/>
        </p:nvSpPr>
        <p:spPr>
          <a:xfrm>
            <a:off x="8114386" y="2724912"/>
            <a:ext cx="1600200" cy="32004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Review priority</a:t>
            </a:r>
            <a:endParaRPr lang="en-US" sz="1200" dirty="0"/>
          </a:p>
        </p:txBody>
      </p:sp>
      <p:sp>
        <p:nvSpPr>
          <p:cNvPr id="29" name="Shape 27"/>
          <p:cNvSpPr/>
          <p:nvPr/>
        </p:nvSpPr>
        <p:spPr>
          <a:xfrm>
            <a:off x="9769450" y="2468880"/>
            <a:ext cx="170078" cy="0"/>
          </a:xfrm>
          <a:prstGeom prst="line">
            <a:avLst/>
          </a:prstGeom>
          <a:noFill/>
          <a:ln w="22225">
            <a:solidFill>
              <a:srgbClr val="2563EB"/>
            </a:solidFill>
            <a:prstDash val="solid"/>
            <a:tailEnd type="triangle"/>
          </a:ln>
        </p:spPr>
      </p:sp>
      <p:sp>
        <p:nvSpPr>
          <p:cNvPr id="30" name="Shape 28"/>
          <p:cNvSpPr/>
          <p:nvPr/>
        </p:nvSpPr>
        <p:spPr>
          <a:xfrm>
            <a:off x="9948672" y="1737360"/>
            <a:ext cx="1691640" cy="1463040"/>
          </a:xfrm>
          <a:prstGeom prst="roundRect">
            <a:avLst>
              <a:gd name="adj" fmla="val 6250"/>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1" name="Text 29"/>
          <p:cNvSpPr/>
          <p:nvPr/>
        </p:nvSpPr>
        <p:spPr>
          <a:xfrm>
            <a:off x="10584180" y="1874520"/>
            <a:ext cx="420624" cy="420624"/>
          </a:xfrm>
          <a:prstGeom prst="ellipse">
            <a:avLst/>
          </a:prstGeom>
          <a:solidFill>
            <a:srgbClr val="2563EB"/>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9994392" y="2395728"/>
            <a:ext cx="1600200" cy="320040"/>
          </a:xfrm>
          <a:prstGeom prst="rect">
            <a:avLst/>
          </a:prstGeom>
          <a:noFill/>
          <a:ln/>
        </p:spPr>
        <p:txBody>
          <a:bodyPr wrap="square" lIns="0" tIns="0" rIns="0" bIns="0" rtlCol="0" anchor="ctr"/>
          <a:lstStyle/>
          <a:p>
            <a:pPr marL="0" indent="0" algn="ctr">
              <a:buNone/>
            </a:pPr>
            <a:r>
              <a:rPr lang="en-US" sz="1500" b="1" dirty="0">
                <a:solidFill>
                  <a:srgbClr val="10243E"/>
                </a:solidFill>
                <a:latin typeface="Calibri" pitchFamily="34" charset="0"/>
                <a:ea typeface="Calibri" pitchFamily="34" charset="-122"/>
                <a:cs typeface="Calibri" pitchFamily="34" charset="-120"/>
              </a:rPr>
              <a:t>Route</a:t>
            </a:r>
            <a:endParaRPr lang="en-US" sz="1500" dirty="0"/>
          </a:p>
        </p:txBody>
      </p:sp>
      <p:sp>
        <p:nvSpPr>
          <p:cNvPr id="33" name="Text 31"/>
          <p:cNvSpPr txBox="1"/>
          <p:nvPr/>
        </p:nvSpPr>
        <p:spPr>
          <a:xfrm>
            <a:off x="9994392" y="2724912"/>
            <a:ext cx="1600200" cy="320040"/>
          </a:xfrm>
          <a:prstGeom prst="rect">
            <a:avLst/>
          </a:prstGeom>
          <a:noFill/>
          <a:ln/>
        </p:spPr>
        <p:txBody>
          <a:bodyPr wrap="square" lIns="0" tIns="0" rIns="0" bIns="0" rtlCol="0" anchor="ctr"/>
          <a:lstStyle/>
          <a:p>
            <a:pPr marL="0" indent="0" algn="ctr">
              <a:buNone/>
            </a:pPr>
            <a:r>
              <a:rPr lang="en-US" sz="1200" dirty="0">
                <a:solidFill>
                  <a:srgbClr val="5B6B82"/>
                </a:solidFill>
                <a:latin typeface="Calibri" pitchFamily="34" charset="0"/>
                <a:ea typeface="Calibri" pitchFamily="34" charset="-122"/>
                <a:cs typeface="Calibri" pitchFamily="34" charset="-120"/>
              </a:rPr>
              <a:t>Agent decision</a:t>
            </a:r>
            <a:endParaRPr lang="en-US" sz="1200" dirty="0"/>
          </a:p>
        </p:txBody>
      </p:sp>
      <p:sp>
        <p:nvSpPr>
          <p:cNvPr id="34" name="Shape 32"/>
          <p:cNvSpPr/>
          <p:nvPr/>
        </p:nvSpPr>
        <p:spPr>
          <a:xfrm>
            <a:off x="548640" y="3520440"/>
            <a:ext cx="5468112" cy="1737360"/>
          </a:xfrm>
          <a:prstGeom prst="roundRect">
            <a:avLst>
              <a:gd name="adj" fmla="val 5263"/>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35" name="Shape 33"/>
          <p:cNvSpPr/>
          <p:nvPr/>
        </p:nvSpPr>
        <p:spPr>
          <a:xfrm>
            <a:off x="777240" y="3730752"/>
            <a:ext cx="256032" cy="256032"/>
          </a:xfrm>
          <a:prstGeom prst="ellipse">
            <a:avLst/>
          </a:prstGeom>
          <a:solidFill>
            <a:srgbClr val="16A34A"/>
          </a:solidFill>
          <a:ln w="12700">
            <a:solidFill>
              <a:srgbClr val="16A34A"/>
            </a:solidFill>
            <a:prstDash val="solid"/>
          </a:ln>
        </p:spPr>
      </p:sp>
      <p:sp>
        <p:nvSpPr>
          <p:cNvPr id="36" name="Text 34"/>
          <p:cNvSpPr txBox="1"/>
          <p:nvPr/>
        </p:nvSpPr>
        <p:spPr>
          <a:xfrm>
            <a:off x="1143000" y="3703320"/>
            <a:ext cx="2743200" cy="310896"/>
          </a:xfrm>
          <a:prstGeom prst="rect">
            <a:avLst/>
          </a:prstGeom>
          <a:noFill/>
          <a:ln/>
        </p:spPr>
        <p:txBody>
          <a:bodyPr wrap="square" lIns="0" tIns="0" rIns="0" bIns="0" rtlCol="0" anchor="ctr"/>
          <a:lstStyle/>
          <a:p>
            <a:pPr marL="0" indent="0">
              <a:buNone/>
            </a:pPr>
            <a:r>
              <a:rPr lang="en-US" sz="1200" b="1" kern="0" spc="200" dirty="0">
                <a:solidFill>
                  <a:srgbClr val="5B6B82"/>
                </a:solidFill>
                <a:latin typeface="Calibri" pitchFamily="34" charset="0"/>
                <a:ea typeface="Calibri" pitchFamily="34" charset="-122"/>
                <a:cs typeface="Calibri" pitchFamily="34" charset="-120"/>
              </a:rPr>
              <a:t>SCENARIO 1</a:t>
            </a:r>
            <a:endParaRPr lang="en-US" sz="1200" dirty="0"/>
          </a:p>
        </p:txBody>
      </p:sp>
      <p:sp>
        <p:nvSpPr>
          <p:cNvPr id="37" name="Text 35"/>
          <p:cNvSpPr txBox="1"/>
          <p:nvPr/>
        </p:nvSpPr>
        <p:spPr>
          <a:xfrm>
            <a:off x="777240" y="4114800"/>
            <a:ext cx="5029200" cy="365760"/>
          </a:xfrm>
          <a:prstGeom prst="rect">
            <a:avLst/>
          </a:prstGeom>
          <a:noFill/>
          <a:ln/>
        </p:spPr>
        <p:txBody>
          <a:bodyPr wrap="square" lIns="0" tIns="0" rIns="0" bIns="0" rtlCol="0" anchor="ctr"/>
          <a:lstStyle/>
          <a:p>
            <a:pPr marL="0" indent="0">
              <a:buNone/>
            </a:pPr>
            <a:r>
              <a:rPr lang="en-US" sz="1900" b="1" dirty="0">
                <a:solidFill>
                  <a:srgbClr val="10243E"/>
                </a:solidFill>
                <a:latin typeface="Calibri" pitchFamily="34" charset="0"/>
                <a:ea typeface="Calibri" pitchFamily="34" charset="-122"/>
                <a:cs typeface="Calibri" pitchFamily="34" charset="-120"/>
              </a:rPr>
              <a:t>Low-priority water claim</a:t>
            </a:r>
            <a:endParaRPr lang="en-US" sz="1900" dirty="0"/>
          </a:p>
        </p:txBody>
      </p:sp>
      <p:sp>
        <p:nvSpPr>
          <p:cNvPr id="38" name="Text 36"/>
          <p:cNvSpPr txBox="1"/>
          <p:nvPr/>
        </p:nvSpPr>
        <p:spPr>
          <a:xfrm>
            <a:off x="777240" y="4526280"/>
            <a:ext cx="5029200" cy="640080"/>
          </a:xfrm>
          <a:prstGeom prst="rect">
            <a:avLst/>
          </a:prstGeom>
          <a:noFill/>
          <a:ln/>
        </p:spPr>
        <p:txBody>
          <a:bodyPr wrap="square" lIns="0" tIns="0" rIns="0" bIns="0" rtlCol="0" anchor="t"/>
          <a:lstStyle/>
          <a:p>
            <a:pPr marL="0" indent="0">
              <a:buNone/>
            </a:pPr>
            <a:r>
              <a:rPr lang="en-US" sz="1600" dirty="0">
                <a:solidFill>
                  <a:srgbClr val="5B6B82"/>
                </a:solidFill>
                <a:latin typeface="Calibri" pitchFamily="34" charset="0"/>
                <a:ea typeface="Calibri" pitchFamily="34" charset="-122"/>
                <a:cs typeface="Calibri" pitchFamily="34" charset="-120"/>
              </a:rPr>
              <a:t>PDF extraction → VS recommendation → similar claims → PROCEED</a:t>
            </a:r>
            <a:endParaRPr lang="en-US" sz="1600" dirty="0"/>
          </a:p>
        </p:txBody>
      </p:sp>
      <p:sp>
        <p:nvSpPr>
          <p:cNvPr id="39" name="Shape 37"/>
          <p:cNvSpPr/>
          <p:nvPr/>
        </p:nvSpPr>
        <p:spPr>
          <a:xfrm>
            <a:off x="6172200" y="3520440"/>
            <a:ext cx="5468112" cy="1737360"/>
          </a:xfrm>
          <a:prstGeom prst="roundRect">
            <a:avLst>
              <a:gd name="adj" fmla="val 5263"/>
            </a:avLst>
          </a:prstGeom>
          <a:solidFill>
            <a:srgbClr val="FFFFFF"/>
          </a:solidFill>
          <a:ln w="9525">
            <a:solidFill>
              <a:srgbClr val="E3EAF5"/>
            </a:solidFill>
            <a:prstDash val="solid"/>
          </a:ln>
          <a:effectLst>
            <a:outerShdw blurRad="101600" dist="25400" dir="5400000" algn="bl" rotWithShape="0">
              <a:srgbClr val="0F172A">
                <a:alpha val="10000"/>
              </a:srgbClr>
            </a:outerShdw>
          </a:effectLst>
        </p:spPr>
      </p:sp>
      <p:sp>
        <p:nvSpPr>
          <p:cNvPr id="40" name="Shape 38"/>
          <p:cNvSpPr/>
          <p:nvPr/>
        </p:nvSpPr>
        <p:spPr>
          <a:xfrm>
            <a:off x="6400800" y="3730752"/>
            <a:ext cx="256032" cy="256032"/>
          </a:xfrm>
          <a:prstGeom prst="ellipse">
            <a:avLst/>
          </a:prstGeom>
          <a:solidFill>
            <a:srgbClr val="DC2626"/>
          </a:solidFill>
          <a:ln w="12700">
            <a:solidFill>
              <a:srgbClr val="DC2626"/>
            </a:solidFill>
            <a:prstDash val="solid"/>
          </a:ln>
        </p:spPr>
      </p:sp>
      <p:sp>
        <p:nvSpPr>
          <p:cNvPr id="41" name="Text 39"/>
          <p:cNvSpPr txBox="1"/>
          <p:nvPr/>
        </p:nvSpPr>
        <p:spPr>
          <a:xfrm>
            <a:off x="6766560" y="3703320"/>
            <a:ext cx="2743200" cy="310896"/>
          </a:xfrm>
          <a:prstGeom prst="rect">
            <a:avLst/>
          </a:prstGeom>
          <a:noFill/>
          <a:ln/>
        </p:spPr>
        <p:txBody>
          <a:bodyPr wrap="square" lIns="0" tIns="0" rIns="0" bIns="0" rtlCol="0" anchor="ctr"/>
          <a:lstStyle/>
          <a:p>
            <a:pPr marL="0" indent="0">
              <a:buNone/>
            </a:pPr>
            <a:r>
              <a:rPr lang="en-US" sz="1200" b="1" kern="0" spc="200" dirty="0">
                <a:solidFill>
                  <a:srgbClr val="5B6B82"/>
                </a:solidFill>
                <a:latin typeface="Calibri" pitchFamily="34" charset="0"/>
                <a:ea typeface="Calibri" pitchFamily="34" charset="-122"/>
                <a:cs typeface="Calibri" pitchFamily="34" charset="-120"/>
              </a:rPr>
              <a:t>SCENARIO 2</a:t>
            </a:r>
            <a:endParaRPr lang="en-US" sz="1200" dirty="0"/>
          </a:p>
        </p:txBody>
      </p:sp>
      <p:sp>
        <p:nvSpPr>
          <p:cNvPr id="42" name="Text 40"/>
          <p:cNvSpPr txBox="1"/>
          <p:nvPr/>
        </p:nvSpPr>
        <p:spPr>
          <a:xfrm>
            <a:off x="6400800" y="4114800"/>
            <a:ext cx="5029200" cy="365760"/>
          </a:xfrm>
          <a:prstGeom prst="rect">
            <a:avLst/>
          </a:prstGeom>
          <a:noFill/>
          <a:ln/>
        </p:spPr>
        <p:txBody>
          <a:bodyPr wrap="square" lIns="0" tIns="0" rIns="0" bIns="0" rtlCol="0" anchor="ctr"/>
          <a:lstStyle/>
          <a:p>
            <a:pPr marL="0" indent="0">
              <a:buNone/>
            </a:pPr>
            <a:r>
              <a:rPr lang="en-US" sz="1900" b="1" dirty="0">
                <a:solidFill>
                  <a:srgbClr val="10243E"/>
                </a:solidFill>
                <a:latin typeface="Calibri" pitchFamily="34" charset="0"/>
                <a:ea typeface="Calibri" pitchFamily="34" charset="-122"/>
                <a:cs typeface="Calibri" pitchFamily="34" charset="-120"/>
              </a:rPr>
              <a:t>High-priority mismatch claim</a:t>
            </a:r>
            <a:endParaRPr lang="en-US" sz="1900" dirty="0"/>
          </a:p>
        </p:txBody>
      </p:sp>
      <p:sp>
        <p:nvSpPr>
          <p:cNvPr id="43" name="Text 41"/>
          <p:cNvSpPr txBox="1"/>
          <p:nvPr/>
        </p:nvSpPr>
        <p:spPr>
          <a:xfrm>
            <a:off x="6400800" y="4526280"/>
            <a:ext cx="5029200" cy="640080"/>
          </a:xfrm>
          <a:prstGeom prst="rect">
            <a:avLst/>
          </a:prstGeom>
          <a:noFill/>
          <a:ln/>
        </p:spPr>
        <p:txBody>
          <a:bodyPr wrap="square" lIns="0" tIns="0" rIns="0" bIns="0" rtlCol="0" anchor="t"/>
          <a:lstStyle/>
          <a:p>
            <a:pPr marL="0" indent="0">
              <a:buNone/>
            </a:pPr>
            <a:r>
              <a:rPr lang="en-US" sz="1600" dirty="0">
                <a:solidFill>
                  <a:srgbClr val="5B6B82"/>
                </a:solidFill>
                <a:latin typeface="Calibri" pitchFamily="34" charset="0"/>
                <a:ea typeface="Calibri" pitchFamily="34" charset="-122"/>
                <a:cs typeface="Calibri" pitchFamily="34" charset="-120"/>
              </a:rPr>
              <a:t>$50M amount + water text coded VF → HIGH-PRIORITY REVIEW</a:t>
            </a:r>
            <a:endParaRPr lang="en-US" sz="1600" dirty="0"/>
          </a:p>
        </p:txBody>
      </p:sp>
      <p:sp>
        <p:nvSpPr>
          <p:cNvPr id="44" name="Shape 42"/>
          <p:cNvSpPr/>
          <p:nvPr/>
        </p:nvSpPr>
        <p:spPr>
          <a:xfrm>
            <a:off x="548640" y="5486400"/>
            <a:ext cx="11091672" cy="685800"/>
          </a:xfrm>
          <a:prstGeom prst="roundRect">
            <a:avLst>
              <a:gd name="adj" fmla="val 13333"/>
            </a:avLst>
          </a:prstGeom>
          <a:solidFill>
            <a:srgbClr val="10243E"/>
          </a:solidFill>
          <a:ln w="9525">
            <a:solidFill>
              <a:srgbClr val="10243E"/>
            </a:solidFill>
            <a:prstDash val="solid"/>
          </a:ln>
        </p:spPr>
      </p:sp>
      <p:sp>
        <p:nvSpPr>
          <p:cNvPr id="45" name="Text 43"/>
          <p:cNvSpPr txBox="1"/>
          <p:nvPr/>
        </p:nvSpPr>
        <p:spPr>
          <a:xfrm>
            <a:off x="548640" y="5486400"/>
            <a:ext cx="11091672" cy="6858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AI-assisted. Explainable. Scalable. Human-controlled.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Insurance Claim Assessment System</dc:title>
  <dc:subject>PptxGenJS Presentation</dc:subject>
  <dc:creator>Bhanu Prakash, Balusu</dc:creator>
  <cp:lastModifiedBy>Bhanu Prakash, Balusu</cp:lastModifiedBy>
  <cp:revision>4</cp:revision>
  <dcterms:created xsi:type="dcterms:W3CDTF">2026-09-21T04:42:22Z</dcterms:created>
  <dcterms:modified xsi:type="dcterms:W3CDTF">2026-09-21T04:52:40Z</dcterms:modified>
</cp:coreProperties>
</file>